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1" Type="http://schemas.openxmlformats.org/officeDocument/2006/relationships/hyperlink" TargetMode="External" Target="https://httpwg.org/"/><Relationship Id="rId12" Type="http://schemas.openxmlformats.org/officeDocument/2006/relationships/image" Target="../media/image12.png"/><Relationship Id="rId13" Type="http://schemas.openxmlformats.org/officeDocument/2006/relationships/hyperlink" TargetMode="External" Target="https://datatracker.ietf.org/doc/draft-ietf-httpbis-no-vary-search/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6" Type="http://schemas.openxmlformats.org/officeDocument/2006/relationships/image" Target="../media/image16.png"/><Relationship Id="rId17" Type="http://schemas.openxmlformats.org/officeDocument/2006/relationships/hyperlink" TargetMode="External" Target="https://lists.w3.org/Archives/Public/ietf-http-wg/"/><Relationship Id="rId18" Type="http://schemas.openxmlformats.org/officeDocument/2006/relationships/image" Target="../media/image18.png"/><Relationship Id="rId19" Type="http://schemas.openxmlformats.org/officeDocument/2006/relationships/hyperlink" TargetMode="External" Target="https://httpwg.org/"/><Relationship Id="rId20" Type="http://schemas.openxmlformats.org/officeDocument/2006/relationships/image" Target="../media/image20.png"/><Relationship Id="rId21" Type="http://schemas.openxmlformats.org/officeDocument/2006/relationships/hyperlink" TargetMode="External" Target="https://github.com/httpwg/http-extensions/labels/no-vary-search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Relationship Id="rId24" Type="http://schemas.openxmlformats.org/officeDocument/2006/relationships/image" Target="../media/image24.png"/><Relationship Id="rId25" Type="http://schemas.openxmlformats.org/officeDocument/2006/relationships/hyperlink" TargetMode="External" Target="https://datatracker.ietf.org/drafts/current/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Relationship Id="rId30" Type="http://schemas.openxmlformats.org/officeDocument/2006/relationships/image" Target="../media/image30.png"/><Relationship Id="rId31" Type="http://schemas.openxmlformats.org/officeDocument/2006/relationships/hyperlink" TargetMode="External" Target="https://trustee.ietf.org/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Relationship Id="rId46" Type="http://schemas.openxmlformats.org/officeDocument/2006/relationships/image" Target="../media/image46.png"/><Relationship Id="rId47" Type="http://schemas.openxmlformats.org/officeDocument/2006/relationships/hyperlink" TargetMode="External" Target="https://url.spec.whatwg.org/#concept-urlencoded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Relationship Id="rId72" Type="http://schemas.openxmlformats.org/officeDocument/2006/relationships/image" Target="../media/image72.png"/><Relationship Id="rId73" Type="http://schemas.openxmlformats.org/officeDocument/2006/relationships/hyperlink" TargetMode="External" Target="https://fetch.spec.whatwg.org/#concept-response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Relationship Id="rId76" Type="http://schemas.openxmlformats.org/officeDocument/2006/relationships/image" Target="../media/image76.png"/><Relationship Id="rId77" Type="http://schemas.openxmlformats.org/officeDocument/2006/relationships/hyperlink" TargetMode="External" Target="https://fetch.spec.whatwg.org/#concept-header-list-get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Relationship Id="rId90" Type="http://schemas.openxmlformats.org/officeDocument/2006/relationships/image" Target="../media/image90.png"/><Relationship Id="rId91" Type="http://schemas.openxmlformats.org/officeDocument/2006/relationships/hyperlink" TargetMode="External" Target="https://infra.spec.whatwg.org/#isomorphic-encode"/><Relationship Id="rId92" Type="http://schemas.openxmlformats.org/officeDocument/2006/relationships/image" Target="../media/image92.png"/><Relationship Id="rId93" Type="http://schemas.openxmlformats.org/officeDocument/2006/relationships/hyperlink" TargetMode="External" Target="https://url.spec.whatwg.org/#percent-decode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Relationship Id="rId96" Type="http://schemas.openxmlformats.org/officeDocument/2006/relationships/image" Target="../media/image96.png"/><Relationship Id="rId97" Type="http://schemas.openxmlformats.org/officeDocument/2006/relationships/hyperlink" TargetMode="External" Target="https://encoding.spec.whatwg.org/#utf-8-decode-without-bom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Relationship Id="rId101" Type="http://schemas.openxmlformats.org/officeDocument/2006/relationships/hyperlink" TargetMode="External" Target="https://url.spec.whatwg.org/#concept-urlencoded"/><Relationship Id="rId98" Type="http://schemas.openxmlformats.org/officeDocument/2006/relationships/image" Target="../media/image98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Relationship Id="rId104" Type="http://schemas.openxmlformats.org/officeDocument/2006/relationships/image" Target="../media/image104.png"/><Relationship Id="rId105" Type="http://schemas.openxmlformats.org/officeDocument/2006/relationships/hyperlink" TargetMode="External" Target="https://example.com/?&#233;"/><Relationship Id="rId106" Type="http://schemas.openxmlformats.org/officeDocument/2006/relationships/image" Target="../media/image106.png"/><Relationship Id="rId107" Type="http://schemas.openxmlformats.org/officeDocument/2006/relationships/hyperlink" TargetMode="External" Target="https://example.com/?&#233;+&#27671;=2"/><Relationship Id="rId108" Type="http://schemas.openxmlformats.org/officeDocument/2006/relationships/image" Target="../media/image108.png"/><Relationship Id="rId109" Type="http://schemas.openxmlformats.org/officeDocument/2006/relationships/hyperlink" TargetMode="External" Target="https://example.com/?%C3%A9%20&#27671;=3"/><Relationship Id="rId110" Type="http://schemas.openxmlformats.org/officeDocument/2006/relationships/image" Target="../media/image110.png"/><Relationship Id="rId111" Type="http://schemas.openxmlformats.org/officeDocument/2006/relationships/hyperlink" TargetMode="External" Target="https://example.com/?%C3%A9+%E6%B0%97=4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Relationship Id="rId114" Type="http://schemas.openxmlformats.org/officeDocument/2006/relationships/image" Target="../media/image114.png"/><Relationship Id="rId115" Type="http://schemas.openxmlformats.org/officeDocument/2006/relationships/hyperlink" TargetMode="External" Target="https://url.spec.whatwg.org/#concept-urlencoded-parser"/><Relationship Id="rId116" Type="http://schemas.openxmlformats.org/officeDocument/2006/relationships/image" Target="../media/image116.png"/><Relationship Id="rId117" Type="http://schemas.openxmlformats.org/officeDocument/2006/relationships/hyperlink" TargetMode="External" Target="https://url.spec.whatwg.org/#concept-ur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Relationship Id="rId122" Type="http://schemas.openxmlformats.org/officeDocument/2006/relationships/image" Target="../media/image122.png"/><Relationship Id="rId123" Type="http://schemas.openxmlformats.org/officeDocument/2006/relationships/hyperlink" TargetMode="External" Target="https://url.spec.whatwg.org/#concept-urlencoded-parser"/><Relationship Id="rId124" Type="http://schemas.openxmlformats.org/officeDocument/2006/relationships/image" Target="../media/image124.png"/><Relationship Id="rId125" Type="http://schemas.openxmlformats.org/officeDocument/2006/relationships/hyperlink" TargetMode="External" Target="https://example.com/a"/><Relationship Id="rId126" Type="http://schemas.openxmlformats.org/officeDocument/2006/relationships/image" Target="../media/image126.png"/><Relationship Id="rId127" Type="http://schemas.openxmlformats.org/officeDocument/2006/relationships/hyperlink" TargetMode="External" Target="https://example.com/a"/><Relationship Id="rId128" Type="http://schemas.openxmlformats.org/officeDocument/2006/relationships/image" Target="../media/image128.png"/><Relationship Id="rId129" Type="http://schemas.openxmlformats.org/officeDocument/2006/relationships/hyperlink" TargetMode="External" Target="https://example.com/foo?a=b&amp;&amp;&amp;c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Relationship Id="rId132" Type="http://schemas.openxmlformats.org/officeDocument/2006/relationships/image" Target="../media/image132.png"/><Relationship Id="rId133" Type="http://schemas.openxmlformats.org/officeDocument/2006/relationships/hyperlink" TargetMode="External" Target="https://example.com/foo?a=b&amp;c"/><Relationship Id="rId134" Type="http://schemas.openxmlformats.org/officeDocument/2006/relationships/image" Target="../media/image134.png"/><Relationship Id="rId135" Type="http://schemas.openxmlformats.org/officeDocument/2006/relationships/hyperlink" TargetMode="External" Target="https://url.spec.whatwg.org/#concept-urlencoded-parser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Relationship Id="rId138" Type="http://schemas.openxmlformats.org/officeDocument/2006/relationships/image" Target="../media/image138.png"/><Relationship Id="rId139" Type="http://schemas.openxmlformats.org/officeDocument/2006/relationships/hyperlink" TargetMode="External" Target="https://infra.spec.whatwg.org/#isomorphic-encode"/><Relationship Id="rId140" Type="http://schemas.openxmlformats.org/officeDocument/2006/relationships/image" Target="../media/image140.png"/><Relationship Id="rId141" Type="http://schemas.openxmlformats.org/officeDocument/2006/relationships/hyperlink" TargetMode="External" Target="https://url.spec.whatwg.org/#concept-urlencoded-parser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Relationship Id="rId144" Type="http://schemas.openxmlformats.org/officeDocument/2006/relationships/image" Target="../media/image144.png"/><Relationship Id="rId145" Type="http://schemas.openxmlformats.org/officeDocument/2006/relationships/hyperlink" TargetMode="External" Target="https://infra.spec.whatwg.org/#isomorphic-encode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Relationship Id="rId150" Type="http://schemas.openxmlformats.org/officeDocument/2006/relationships/image" Target="../media/image150.png"/><Relationship Id="rId151" Type="http://schemas.openxmlformats.org/officeDocument/2006/relationships/hyperlink" TargetMode="External" Target="https://infra.spec.whatwg.org/#code-unit-less-than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Relationship Id="rId158" Type="http://schemas.openxmlformats.org/officeDocument/2006/relationships/image" Target="../media/image158.png"/><Relationship Id="rId159" Type="http://schemas.openxmlformats.org/officeDocument/2006/relationships/hyperlink" TargetMode="External" Target="https://example.com"/><Relationship Id="rId160" Type="http://schemas.openxmlformats.org/officeDocument/2006/relationships/image" Target="../media/image160.png"/><Relationship Id="rId161" Type="http://schemas.openxmlformats.org/officeDocument/2006/relationships/hyperlink" TargetMode="External" Target="https://example.com/"/><Relationship Id="rId162" Type="http://schemas.openxmlformats.org/officeDocument/2006/relationships/image" Target="../media/image162.png"/><Relationship Id="rId163" Type="http://schemas.openxmlformats.org/officeDocument/2006/relationships/hyperlink" TargetMode="External" Target="https://example.com/?a=x"/><Relationship Id="rId164" Type="http://schemas.openxmlformats.org/officeDocument/2006/relationships/image" Target="../media/image164.png"/><Relationship Id="rId165" Type="http://schemas.openxmlformats.org/officeDocument/2006/relationships/hyperlink" TargetMode="External" Target="https://example.com/?%61=%78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Relationship Id="rId168" Type="http://schemas.openxmlformats.org/officeDocument/2006/relationships/image" Target="../media/image168.png"/><Relationship Id="rId169" Type="http://schemas.openxmlformats.org/officeDocument/2006/relationships/hyperlink" TargetMode="External" Target="https://example.com/?a=&#233;"/><Relationship Id="rId170" Type="http://schemas.openxmlformats.org/officeDocument/2006/relationships/image" Target="../media/image170.png"/><Relationship Id="rId171" Type="http://schemas.openxmlformats.org/officeDocument/2006/relationships/hyperlink" TargetMode="External" Target="https://example.com/?a=%C3%A9"/><Relationship Id="rId172" Type="http://schemas.openxmlformats.org/officeDocument/2006/relationships/image" Target="../media/image172.png"/><Relationship Id="rId173" Type="http://schemas.openxmlformats.org/officeDocument/2006/relationships/hyperlink" TargetMode="External" Target="https://example.com/?a=%f6"/><Relationship Id="rId174" Type="http://schemas.openxmlformats.org/officeDocument/2006/relationships/image" Target="../media/image174.png"/><Relationship Id="rId175" Type="http://schemas.openxmlformats.org/officeDocument/2006/relationships/hyperlink" TargetMode="External" Target="https://example.com/?a=%ef%bf%bd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Relationship Id="rId178" Type="http://schemas.openxmlformats.org/officeDocument/2006/relationships/image" Target="../media/image178.png"/><Relationship Id="rId179" Type="http://schemas.openxmlformats.org/officeDocument/2006/relationships/hyperlink" TargetMode="External" Target="https://example.com/?a=x"/><Relationship Id="rId180" Type="http://schemas.openxmlformats.org/officeDocument/2006/relationships/image" Target="../media/image180.png"/><Relationship Id="rId181" Type="http://schemas.openxmlformats.org/officeDocument/2006/relationships/hyperlink" TargetMode="External" Target="https://example.com/?a=x"/><Relationship Id="rId182" Type="http://schemas.openxmlformats.org/officeDocument/2006/relationships/image" Target="../media/image182.png"/><Relationship Id="rId183" Type="http://schemas.openxmlformats.org/officeDocument/2006/relationships/hyperlink" TargetMode="External" Target="https://example.com/?a"/><Relationship Id="rId184" Type="http://schemas.openxmlformats.org/officeDocument/2006/relationships/image" Target="../media/image184.png"/><Relationship Id="rId185" Type="http://schemas.openxmlformats.org/officeDocument/2006/relationships/hyperlink" TargetMode="External" Target="https://example.com/?a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Relationship Id="rId188" Type="http://schemas.openxmlformats.org/officeDocument/2006/relationships/image" Target="../media/image188.png"/><Relationship Id="rId189" Type="http://schemas.openxmlformats.org/officeDocument/2006/relationships/hyperlink" TargetMode="External" Target="https://example.com/?a=%20"/><Relationship Id="rId190" Type="http://schemas.openxmlformats.org/officeDocument/2006/relationships/image" Target="../media/image190.png"/><Relationship Id="rId191" Type="http://schemas.openxmlformats.org/officeDocument/2006/relationships/hyperlink" TargetMode="External" Target="https://example.com/?a"/><Relationship Id="rId192" Type="http://schemas.openxmlformats.org/officeDocument/2006/relationships/image" Target="../media/image192.png"/><Relationship Id="rId193" Type="http://schemas.openxmlformats.org/officeDocument/2006/relationships/hyperlink" TargetMode="External" Target="https://example.com/?a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Relationship Id="rId208" Type="http://schemas.openxmlformats.org/officeDocument/2006/relationships/image" Target="../media/image208.png"/><Relationship Id="rId209" Type="http://schemas.openxmlformats.org/officeDocument/2006/relationships/hyperlink" TargetMode="External" Target="https://html.spec.whatwg.org/multipage/browsers.html#concept-origin"/><Relationship Id="rId210" Type="http://schemas.openxmlformats.org/officeDocument/2006/relationships/image" Target="../media/image210.png"/><Relationship Id="rId211" Type="http://schemas.openxmlformats.org/officeDocument/2006/relationships/hyperlink" TargetMode="External" Target="https://url.spec.whatwg.org/#concept-url-host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Relationship Id="rId214" Type="http://schemas.openxmlformats.org/officeDocument/2006/relationships/image" Target="../media/image214.png"/><Relationship Id="rId215" Type="http://schemas.openxmlformats.org/officeDocument/2006/relationships/hyperlink" TargetMode="External" Target="https://url.spec.whatwg.org/#url"/><Relationship Id="rId216" Type="http://schemas.openxmlformats.org/officeDocument/2006/relationships/image" Target="../media/image216.png"/><Relationship Id="rId217" Type="http://schemas.openxmlformats.org/officeDocument/2006/relationships/hyperlink" TargetMode="External" Target="https://html.spec.whatwg.org/multipage/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Relationship Id="rId220" Type="http://schemas.openxmlformats.org/officeDocument/2006/relationships/image" Target="../media/image220.png"/><Relationship Id="rId221" Type="http://schemas.openxmlformats.org/officeDocument/2006/relationships/hyperlink" TargetMode="External" Target="https://privacycg.github.io/nav-tracking"/><Relationship Id="rId222" Type="http://schemas.openxmlformats.org/officeDocument/2006/relationships/image" Target="../media/image222.png"/><Relationship Id="rId223" Type="http://schemas.openxmlformats.org/officeDocument/2006/relationships/hyperlink" TargetMode="External" Target="https://privacycg.github.io/nav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8" Type="http://schemas.openxmlformats.org/officeDocument/2006/relationships/image" Target="../media/image228.png"/><Relationship Id="rId230" Type="http://schemas.openxmlformats.org/officeDocument/2006/relationships/image" Target="../media/image230.png"/><Relationship Id="rId231" Type="http://schemas.openxmlformats.org/officeDocument/2006/relationships/hyperlink" TargetMode="External" Target="https://fetch.spec.whatwg.org/"/><Relationship Id="rId232" Type="http://schemas.openxmlformats.org/officeDocument/2006/relationships/image" Target="../media/image232.png"/><Relationship Id="rId233" Type="http://schemas.openxmlformats.org/officeDocument/2006/relationships/hyperlink" TargetMode="External" Target="https://www.rfc-editor.org/rfc/rfc9110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Relationship Id="rId236" Type="http://schemas.openxmlformats.org/officeDocument/2006/relationships/image" Target="../media/image236.png"/><Relationship Id="rId237" Type="http://schemas.openxmlformats.org/officeDocument/2006/relationships/hyperlink" TargetMode="External" Target="https://www.rfc-editor.org/rfc/rfc9111"/><Relationship Id="rId238" Type="http://schemas.openxmlformats.org/officeDocument/2006/relationships/image" Target="../media/image238.png"/><Relationship Id="rId239" Type="http://schemas.openxmlformats.org/officeDocument/2006/relationships/hyperlink" TargetMode="External" Target="https://www.rfc-editor.org/rfc/rfc2119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0" Type="http://schemas.openxmlformats.org/officeDocument/2006/relationships/image" Target="../media/image240.png"/><Relationship Id="rId242" Type="http://schemas.openxmlformats.org/officeDocument/2006/relationships/image" Target="../media/image242.png"/><Relationship Id="rId243" Type="http://schemas.openxmlformats.org/officeDocument/2006/relationships/hyperlink" TargetMode="External" Target="https://www.rfc-editor.org/rfc/rfc8174"/><Relationship Id="rId244" Type="http://schemas.openxmlformats.org/officeDocument/2006/relationships/image" Target="../media/image244.png"/><Relationship Id="rId245" Type="http://schemas.openxmlformats.org/officeDocument/2006/relationships/hyperlink" TargetMode="External" Target="https://www.rfc-editor.org/rfc/rfc8941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Relationship Id="rId248" Type="http://schemas.openxmlformats.org/officeDocument/2006/relationships/image" Target="../media/image248.png"/><Relationship Id="rId249" Type="http://schemas.openxmlformats.org/officeDocument/2006/relationships/hyperlink" TargetMode="External" Target="https://encoding.spec.whatwg.org/"/><Relationship Id="rId250" Type="http://schemas.openxmlformats.org/officeDocument/2006/relationships/image" Target="../media/image250.png"/><Relationship Id="rId251" Type="http://schemas.openxmlformats.org/officeDocument/2006/relationships/hyperlink" TargetMode="External" Target="https://infra.spec.whatwg.org/"/><Relationship Id="rId252" Type="http://schemas.openxmlformats.org/officeDocument/2006/relationships/image" Target="../media/image252.png"/><Relationship Id="rId253" Type="http://schemas.openxmlformats.org/officeDocument/2006/relationships/hyperlink" TargetMode="External" Target="https://url.spec.whatwg.org/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Relationship Id="rId256" Type="http://schemas.openxmlformats.org/officeDocument/2006/relationships/image" Target="../media/image256.png"/><Relationship Id="rId257" Type="http://schemas.openxmlformats.org/officeDocument/2006/relationships/hyperlink" TargetMode="External" Target="https://html.spec.whatwg.org/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Relationship Id="rId260" Type="http://schemas.openxmlformats.org/officeDocument/2006/relationships/image" Target="../media/image260.png"/><Relationship Id="rId261" Type="http://schemas.openxmlformats.org/officeDocument/2006/relationships/hyperlink" TargetMode="External" Target="https://privacycg.github.io/nav-tracking-mitigations/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2" Type="http://schemas.openxmlformats.org/officeDocument/2006/relationships/image" Target="../media/image262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4" Type="http://schemas.openxmlformats.org/officeDocument/2006/relationships/image" Target="../media/image264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6" Type="http://schemas.openxmlformats.org/officeDocument/2006/relationships/image" Target="../media/image26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Datatracker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No-Vary-Search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draft-ietf-httpbis-no-vary-search-01</a:t>
            </a:r>
          </a:p>
          <a:p>
            <a:r>
              <a:rPr lang="en-US" sz="3700">
                <a:solidFill>
                  <a:srgbClr val="252525"/>
                </a:solidFill>
              </a:rPr>
              <a:t>Status</a:t>
            </a:r>
          </a:p>
          <a:p>
            <a:r>
              <a:rPr lang="en-US" sz="3700">
                <a:solidFill>
                  <a:srgbClr val="252525"/>
                </a:solidFill>
              </a:rPr>
              <a:t>IESG evaluation record</a:t>
            </a:r>
          </a:p>
          <a:p>
            <a:r>
              <a:rPr lang="en-US" sz="3700">
                <a:solidFill>
                  <a:srgbClr val="252525"/>
                </a:solidFill>
              </a:rPr>
              <a:t>IESG writeups</a:t>
            </a:r>
          </a:p>
          <a:p>
            <a:r>
              <a:rPr lang="en-US" sz="3700">
                <a:solidFill>
                  <a:srgbClr val="252525"/>
                </a:solidFill>
              </a:rPr>
              <a:t>Email expansions</a:t>
            </a:r>
          </a:p>
          <a:p>
            <a:r>
              <a:rPr lang="en-US" sz="3700">
                <a:solidFill>
                  <a:srgbClr val="252525"/>
                </a:solidFill>
              </a:rPr>
              <a:t>History</a:t>
            </a:r>
          </a:p>
          <a:p>
            <a:r>
              <a:rPr lang="en-US" sz="3700">
                <a:solidFill>
                  <a:srgbClr val="252525"/>
                </a:solidFill>
              </a:rPr>
              <a:t>Versions:</a:t>
            </a:r>
          </a:p>
          <a:p>
            <a:r>
              <a:rPr lang="en-US" sz="3700">
                <a:solidFill>
                  <a:srgbClr val="252525"/>
                </a:solidFill>
              </a:rPr>
              <a:t>00</a:t>
            </a:r>
          </a:p>
          <a:p>
            <a:r>
              <a:rPr lang="en-US" sz="3700">
                <a:solidFill>
                  <a:srgbClr val="252525"/>
                </a:solidFill>
              </a:rPr>
              <a:t>01</a:t>
            </a:r>
          </a:p>
          <a:p>
            <a:r>
              <a:rPr lang="en-US" sz="3700">
                <a:solidFill>
                  <a:srgbClr val="252525"/>
                </a:solidFill>
              </a:rPr>
              <a:t>00</a:t>
            </a:r>
          </a:p>
          <a:p>
            <a:r>
              <a:rPr lang="en-US" sz="3700">
                <a:solidFill>
                  <a:srgbClr val="252525"/>
                </a:solidFill>
              </a:rPr>
              <a:t>01</a:t>
            </a:r>
          </a:p>
          <a:p>
            <a:r>
              <a:rPr lang="en-US" sz="3700">
                <a:solidFill>
                  <a:srgbClr val="252525"/>
                </a:solidFill>
              </a:rPr>
              <a:t>00</a:t>
            </a:r>
          </a:p>
          <a:p>
            <a:r>
              <a:rPr lang="en-US" sz="3700">
                <a:solidFill>
                  <a:srgbClr val="252525"/>
                </a:solidFill>
              </a:rPr>
              <a:t>01</a:t>
            </a:r>
          </a:p>
          <a:p>
            <a:r>
              <a:rPr lang="en-US" sz="3700">
                <a:solidFill>
                  <a:srgbClr val="252525"/>
                </a:solidFill>
              </a:rPr>
              <a:t>Jun 2024</a:t>
            </a:r>
          </a:p>
          <a:p>
            <a:r>
              <a:rPr lang="en-US" sz="3700">
                <a:solidFill>
                  <a:srgbClr val="252525"/>
                </a:solidFill>
              </a:rPr>
              <a:t>Sep 2024</a:t>
            </a:r>
          </a:p>
          <a:p>
            <a:r>
              <a:rPr lang="en-US" sz="3700">
                <a:solidFill>
                  <a:srgbClr val="252525"/>
                </a:solidFill>
              </a:rPr>
              <a:t>Mar 2025</a:t>
            </a:r>
          </a:p>
          <a:p>
            <a:r>
              <a:rPr lang="en-US" sz="3700">
                <a:solidFill>
                  <a:srgbClr val="252525"/>
                </a:solidFill>
              </a:rPr>
              <a:t>draft-wicg-http-no-vary-search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draft-ietf-httpbis-no-vary-search</a:t>
            </a:r>
          </a:p>
          <a:p>
            <a:r>
              <a:rPr lang="en-US" sz="3700">
                <a:solidFill>
                  <a:srgbClr val="252525"/>
                </a:solidFill>
              </a:rPr>
              <a:t>Document	Type		Active Internet-Draft (httpbis WG)</a:t>
            </a:r>
          </a:p>
          <a:p>
            <a:r>
              <a:rPr lang="en-US" sz="3700">
                <a:solidFill>
                  <a:srgbClr val="252525"/>
                </a:solidFill>
              </a:rPr>
              <a:t>Authors		Domenic Denicola , Jeremy Roman </a:t>
            </a:r>
          </a:p>
          <a:p>
            <a:r>
              <a:rPr lang="en-US" sz="3700">
                <a:solidFill>
                  <a:srgbClr val="252525"/>
                </a:solidFill>
              </a:rPr>
              <a:t>Last updated		2025-03-20</a:t>
            </a:r>
          </a:p>
          <a:p>
            <a:r>
              <a:rPr lang="en-US" sz="3700">
                <a:solidFill>
                  <a:srgbClr val="252525"/>
                </a:solidFill>
              </a:rPr>
              <a:t>Replaces		draft-wicg-http-no-vary-search</a:t>
            </a:r>
          </a:p>
          <a:p>
            <a:r>
              <a:rPr lang="en-US" sz="3700">
                <a:solidFill>
                  <a:srgbClr val="252525"/>
                </a:solidFill>
              </a:rPr>
              <a:t>RFC stream		Internet Engineering Task Force (IETF)</a:t>
            </a:r>
          </a:p>
          <a:p>
            <a:r>
              <a:rPr lang="en-US" sz="3700">
                <a:solidFill>
                  <a:srgbClr val="252525"/>
                </a:solidFill>
              </a:rPr>
              <a:t>Intended RFC status		Proposed Standard</a:t>
            </a:r>
          </a:p>
          <a:p>
            <a:r>
              <a:rPr lang="en-US" sz="3700">
                <a:solidFill>
                  <a:srgbClr val="252525"/>
                </a:solidFill>
              </a:rPr>
              <a:t>Formats		</a:t>
            </a:r>
          </a:p>
          <a:p>
            <a:r>
              <a:rPr lang="en-US" sz="3700">
                <a:solidFill>
                  <a:srgbClr val="252525"/>
                </a:solidFill>
              </a:rPr>
              <a:t>     </a:t>
            </a:r>
          </a:p>
          <a:p>
            <a:r>
              <a:rPr lang="en-US" sz="3700">
                <a:solidFill>
                  <a:srgbClr val="252525"/>
                </a:solidFill>
              </a:rPr>
              <a:t>Additional resources		Mailing list discussion</a:t>
            </a:r>
          </a:p>
          <a:p>
            <a:r>
              <a:rPr lang="en-US" sz="3700">
                <a:solidFill>
                  <a:srgbClr val="252525"/>
                </a:solidFill>
              </a:rPr>
              <a:t>Stream	WG state		WG Document</a:t>
            </a:r>
          </a:p>
          <a:p>
            <a:r>
              <a:rPr lang="en-US" sz="3700">
                <a:solidFill>
                  <a:srgbClr val="252525"/>
                </a:solidFill>
              </a:rPr>
              <a:t>Document shepherd		(None)</a:t>
            </a:r>
          </a:p>
          <a:p>
            <a:r>
              <a:rPr lang="en-US" sz="3700">
                <a:solidFill>
                  <a:srgbClr val="252525"/>
                </a:solidFill>
              </a:rPr>
              <a:t>IESG	IESG state		I-D Exists</a:t>
            </a:r>
          </a:p>
          <a:p>
            <a:r>
              <a:rPr lang="en-US" sz="3700">
                <a:solidFill>
                  <a:srgbClr val="252525"/>
                </a:solidFill>
              </a:rPr>
              <a:t>Consensus boilerplate		Yes</a:t>
            </a:r>
          </a:p>
          <a:p>
            <a:r>
              <a:rPr lang="en-US" sz="3700">
                <a:solidFill>
                  <a:srgbClr val="252525"/>
                </a:solidFill>
              </a:rPr>
              <a:t>Telechat date		(None)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Responsible AD		(None)</a:t>
            </a:r>
          </a:p>
          <a:p>
            <a:r>
              <a:rPr lang="en-US" sz="3700">
                <a:solidFill>
                  <a:srgbClr val="252525"/>
                </a:solidFill>
              </a:rPr>
              <a:t>Send notices to		(None)</a:t>
            </a:r>
          </a:p>
          <a:p>
            <a:r>
              <a:rPr lang="en-US" sz="3700">
                <a:solidFill>
                  <a:srgbClr val="252525"/>
                </a:solidFill>
              </a:rPr>
              <a:t>      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draft-ietf-httpbis-no-vary-search-01</a:t>
            </a:r>
          </a:p>
          <a:p>
            <a:r>
              <a:rPr lang="en-US" sz="3700">
                <a:solidFill>
                  <a:srgbClr val="252525"/>
                </a:solidFill>
              </a:rPr>
              <a:t>HyperText Transfer Protocol                                  D. Denicola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                                   J. Roman</a:t>
            </a:r>
          </a:p>
          <a:p>
            <a:r>
              <a:rPr lang="en-US" sz="3700">
                <a:solidFill>
                  <a:srgbClr val="252525"/>
                </a:solidFill>
              </a:rPr>
              <a:t>Intended status: Standards Track                              Google LLC</a:t>
            </a:r>
          </a:p>
          <a:p>
            <a:r>
              <a:rPr lang="en-US" sz="3700">
                <a:solidFill>
                  <a:srgbClr val="252525"/>
                </a:solidFill>
              </a:rPr>
              <a:t>Expires: 22 September 2025                                 21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No-Vary-Search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draft-ietf-httpbis-no-vary-search-01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Abstract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This specification defines a proposed HTTP header field for changing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how URL search parameters impact caching.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About This Document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This note is to be removed before publishing as an RFC.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latest revision of this draft can be found at </a:t>
            </a:r>
          </a:p>
          <a:p>
            <a:r>
              <a:rPr lang="en-US" sz="3700">
                <a:solidFill>
                  <a:srgbClr val="252525"/>
                </a:solidFill>
              </a:rPr>
              <a:t>   http-extensions/draft-ietf-httpbis-no-vary-search.html.  Status</a:t>
            </a:r>
          </a:p>
          <a:p>
            <a:r>
              <a:rPr lang="en-US" sz="3700">
                <a:solidFill>
                  <a:srgbClr val="252525"/>
                </a:solidFill>
              </a:rPr>
              <a:t>   information for this document may be found at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.</a:t>
            </a:r>
          </a:p>
        </p:txBody>
      </p:sp>
      <p:pic>
        <p:nvPicPr>
          <p:cNvPr name="Picture 10" id="10">
            <a:hlinkClick r:id="rId11"/>
          </p:cNvPr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600" y="7010400"/>
            <a:ext cx="10820400" cy="1714500"/>
          </a:xfrm>
          <a:prstGeom prst="rect">
            <a:avLst/>
          </a:prstGeom>
        </p:spPr>
      </p:pic>
      <p:pic>
        <p:nvPicPr>
          <p:cNvPr name="Picture 12" id="12">
            <a:hlinkClick r:id="rId13"/>
          </p:cNvPr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1600" y="12712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Discussion of this document takes place on the HTTP Working Group</a:t>
            </a:r>
          </a:p>
          <a:p>
            <a:r>
              <a:rPr lang="en-US" sz="3700">
                <a:solidFill>
                  <a:srgbClr val="252525"/>
                </a:solidFill>
              </a:rPr>
              <a:t>   mailing list (mailto:ietf-http-wg@w3.org), which is archived at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.  Working Group</a:t>
            </a:r>
          </a:p>
          <a:p>
            <a:r>
              <a:rPr lang="en-US" sz="3700">
                <a:solidFill>
                  <a:srgbClr val="252525"/>
                </a:solidFill>
              </a:rPr>
              <a:t>   information can be found at </a:t>
            </a:r>
            <a:r>
              <a:rPr lang="en-US" sz="3700">
                <a:solidFill>
                  <a:srgbClr val="252525"/>
                </a:solidFill>
              </a:rPr>
              <a:t>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Source for this draft and an issue tracker can be found at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</p:txBody>
      </p:sp>
      <p:pic>
        <p:nvPicPr>
          <p:cNvPr name="Picture 16" id="16">
            <a:hlinkClick r:id="rId17"/>
          </p:cNvPr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  <p:pic>
        <p:nvPicPr>
          <p:cNvPr name="Picture 18" id="18">
            <a:hlinkClick r:id="rId19"/>
          </p:cNvPr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20" id="20">
            <a:hlinkClick r:id="rId21"/>
          </p:cNvPr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1600" y="13246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Status of This Memo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This Internet-Draft is submitted in full conformance with the</a:t>
            </a:r>
          </a:p>
          <a:p>
            <a:r>
              <a:rPr lang="en-US" sz="3700">
                <a:solidFill>
                  <a:srgbClr val="252525"/>
                </a:solidFill>
              </a:rPr>
              <a:t>   provisions of BCP 78 and BCP 79.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Internet-Drafts are working documents of the Internet Engineering</a:t>
            </a:r>
          </a:p>
          <a:p>
            <a:r>
              <a:rPr lang="en-US" sz="3700">
                <a:solidFill>
                  <a:srgbClr val="252525"/>
                </a:solidFill>
              </a:rPr>
              <a:t>   Task Force (IETF).  Note that other groups may also distribute</a:t>
            </a:r>
          </a:p>
          <a:p>
            <a:r>
              <a:rPr lang="en-US" sz="3700">
                <a:solidFill>
                  <a:srgbClr val="252525"/>
                </a:solidFill>
              </a:rPr>
              <a:t>   working documents as Internet-Drafts.  The list of current Internet-</a:t>
            </a:r>
          </a:p>
          <a:p>
            <a:r>
              <a:rPr lang="en-US" sz="3700">
                <a:solidFill>
                  <a:srgbClr val="252525"/>
                </a:solidFill>
              </a:rPr>
              <a:t>   Drafts is at </a:t>
            </a:r>
            <a:r>
              <a:rPr lang="en-US" sz="3700">
                <a:solidFill>
                  <a:srgbClr val="252525"/>
                </a:solidFill>
              </a:rPr>
              <a:t>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Internet-Drafts are draft documents valid </a:t>
            </a:r>
          </a:p>
        </p:txBody>
      </p:sp>
      <p:pic>
        <p:nvPicPr>
          <p:cNvPr name="Picture 24" id="24">
            <a:hlinkClick r:id="rId25"/>
          </p:cNvPr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1600" y="10934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 a maximum of six months</a:t>
            </a:r>
          </a:p>
          <a:p>
            <a:r>
              <a:rPr lang="en-US" sz="3700">
                <a:solidFill>
                  <a:srgbClr val="252525"/>
                </a:solidFill>
              </a:rPr>
              <a:t>   and may be updated, replaced, or obsoleted by other documents at any</a:t>
            </a:r>
          </a:p>
          <a:p>
            <a:r>
              <a:rPr lang="en-US" sz="3700">
                <a:solidFill>
                  <a:srgbClr val="252525"/>
                </a:solidFill>
              </a:rPr>
              <a:t>   time.  It is inappropriate to use Internet-Drafts as reference</a:t>
            </a:r>
          </a:p>
          <a:p>
            <a:r>
              <a:rPr lang="en-US" sz="3700">
                <a:solidFill>
                  <a:srgbClr val="252525"/>
                </a:solidFill>
              </a:rPr>
              <a:t>   material or to cite them other than as "work in progress."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This Internet-Draft will expire on 22 September 2025.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1]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Copyright Notice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Copyright (c) 2025 IETF Trust and the persons identified as the</a:t>
            </a:r>
          </a:p>
          <a:p>
            <a:r>
              <a:rPr lang="en-US" sz="3700">
                <a:solidFill>
                  <a:srgbClr val="252525"/>
                </a:solidFill>
              </a:rPr>
              <a:t>   document authors. 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This document is subject to BCP 78 and the IETF Trust's Legal</a:t>
            </a:r>
          </a:p>
          <a:p>
            <a:r>
              <a:rPr lang="en-US" sz="3700">
                <a:solidFill>
                  <a:srgbClr val="252525"/>
                </a:solidFill>
              </a:rPr>
              <a:t>   Provisions Relating to IETF Documents (</a:t>
            </a:r>
          </a:p>
          <a:p>
            <a:r>
              <a:rPr lang="en-US" sz="3700">
                <a:solidFill>
                  <a:srgbClr val="252525"/>
                </a:solidFill>
              </a:rPr>
              <a:t>   license-info) in effect on the date of publication of this document.</a:t>
            </a:r>
          </a:p>
          <a:p>
            <a:r>
              <a:rPr lang="en-US" sz="3700">
                <a:solidFill>
                  <a:srgbClr val="252525"/>
                </a:solidFill>
              </a:rPr>
              <a:t>   Please review these documents carefully, as they describe your rights</a:t>
            </a:r>
          </a:p>
          <a:p>
            <a:r>
              <a:rPr lang="en-US" sz="3700">
                <a:solidFill>
                  <a:srgbClr val="252525"/>
                </a:solidFill>
              </a:rPr>
              <a:t>   and restrictions with respect to this document.  Code Components</a:t>
            </a:r>
          </a:p>
          <a:p>
            <a:r>
              <a:rPr lang="en-US" sz="3700">
                <a:solidFill>
                  <a:srgbClr val="252525"/>
                </a:solidFill>
              </a:rPr>
              <a:t>   extracted from this document must include Revised BSD License text as</a:t>
            </a:r>
          </a:p>
          <a:p>
            <a:r>
              <a:rPr lang="en-US" sz="3700">
                <a:solidFill>
                  <a:srgbClr val="252525"/>
                </a:solidFill>
              </a:rPr>
              <a:t>   described in Section 4.e of the Trust Legal Provisions and are</a:t>
            </a:r>
          </a:p>
          <a:p>
            <a:r>
              <a:rPr lang="en-US" sz="3700">
                <a:solidFill>
                  <a:srgbClr val="252525"/>
                </a:solidFill>
              </a:rPr>
              <a:t>   provided without warranty as described in the Revised BSD License.</a:t>
            </a:r>
          </a:p>
        </p:txBody>
      </p:sp>
      <p:pic>
        <p:nvPicPr>
          <p:cNvPr name="Picture 30" id="30">
            <a:hlinkClick r:id="rId31"/>
          </p:cNvPr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Table of Contents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1.  Introduction  . . . . . . . . . . . . . . . . . . . . . . . .   2</a:t>
            </a:r>
          </a:p>
          <a:p>
            <a:r>
              <a:rPr lang="en-US" sz="3700">
                <a:solidFill>
                  <a:srgbClr val="252525"/>
                </a:solidFill>
              </a:rPr>
              <a:t>   2.  Conventions and Definitions . . . . . . . . . . . . . . . . .   3</a:t>
            </a:r>
          </a:p>
          <a:p>
            <a:r>
              <a:rPr lang="en-US" sz="3700">
                <a:solidFill>
                  <a:srgbClr val="252525"/>
                </a:solidFill>
              </a:rPr>
              <a:t>   3.  HTTP header field definition  . . . . . . . . . . . . . . . .   4</a:t>
            </a:r>
          </a:p>
          <a:p>
            <a:r>
              <a:rPr lang="en-US" sz="3700">
                <a:solidFill>
                  <a:srgbClr val="252525"/>
                </a:solidFill>
              </a:rPr>
              <a:t>   4.  Data model  . . . . . . . . . . . . . . . . . . . . . . . . .   4</a:t>
            </a:r>
          </a:p>
          <a:p>
            <a:r>
              <a:rPr lang="en-US" sz="3700">
                <a:solidFill>
                  <a:srgbClr val="252525"/>
                </a:solidFill>
              </a:rPr>
              <a:t>   5.  Parsing . . . . . . . . . . . . . . . . . . . . . . . . . . .   5</a:t>
            </a:r>
          </a:p>
          <a:p>
            <a:r>
              <a:rPr lang="en-US" sz="3700">
                <a:solidFill>
                  <a:srgbClr val="252525"/>
                </a:solidFill>
              </a:rPr>
              <a:t>     5.1.  Parse a URL search variance . . . . . . . . . . . . . . .   5</a:t>
            </a:r>
          </a:p>
          <a:p>
            <a:r>
              <a:rPr lang="en-US" sz="3700">
                <a:solidFill>
                  <a:srgbClr val="252525"/>
                </a:solidFill>
              </a:rPr>
              <a:t>     5.2.  Obtain a URL search variance  . . . . . . . . . . . . . .   7</a:t>
            </a:r>
          </a:p>
          <a:p>
            <a:r>
              <a:rPr lang="en-US" sz="3700">
                <a:solidFill>
                  <a:srgbClr val="252525"/>
                </a:solidFill>
              </a:rPr>
              <a:t>       5.2.1.  Examples  . . . . . . . . . . . . . . . . . . . . . .   7</a:t>
            </a:r>
          </a:p>
          <a:p>
            <a:r>
              <a:rPr lang="en-US" sz="3700">
                <a:solidFill>
                  <a:srgbClr val="252525"/>
                </a:solidFill>
              </a:rPr>
              <a:t>     5.3.  Parse a key . . . . . . . . . . . . . . . . . . . . . . .   8</a:t>
            </a:r>
          </a:p>
          <a:p>
            <a:r>
              <a:rPr lang="en-US" sz="3700">
                <a:solidFill>
                  <a:srgbClr val="252525"/>
                </a:solidFill>
              </a:rPr>
              <a:t>       5.3.1.  Examples  . . . . . . . . . . . . . . . . . . 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. . .   9</a:t>
            </a:r>
          </a:p>
          <a:p>
            <a:r>
              <a:rPr lang="en-US" sz="3700">
                <a:solidFill>
                  <a:srgbClr val="252525"/>
                </a:solidFill>
              </a:rPr>
              <a:t>   6.  Comparing . . . . . . . . . . . . . . . . . . . . . . . . . .   9</a:t>
            </a:r>
          </a:p>
          <a:p>
            <a:r>
              <a:rPr lang="en-US" sz="3700">
                <a:solidFill>
                  <a:srgbClr val="252525"/>
                </a:solidFill>
              </a:rPr>
              <a:t>     6.1.  Examples  . . . . . . . . . . . . . . . . . . . . . . . .  11</a:t>
            </a:r>
          </a:p>
          <a:p>
            <a:r>
              <a:rPr lang="en-US" sz="3700">
                <a:solidFill>
                  <a:srgbClr val="252525"/>
                </a:solidFill>
              </a:rPr>
              <a:t>   7.  Caching . . . . . . . . . . . . . . . . . . . . . . . . . . .  12</a:t>
            </a:r>
          </a:p>
          <a:p>
            <a:r>
              <a:rPr lang="en-US" sz="3700">
                <a:solidFill>
                  <a:srgbClr val="252525"/>
                </a:solidFill>
              </a:rPr>
              <a:t>   8.  Security Considerations . . . . . . . . . . . . . . . . . . .  14</a:t>
            </a:r>
          </a:p>
          <a:p>
            <a:r>
              <a:rPr lang="en-US" sz="3700">
                <a:solidFill>
                  <a:srgbClr val="252525"/>
                </a:solidFill>
              </a:rPr>
              <a:t>   9.  Privacy Considerations  . . . . . . . . . . . . . . . . . . .  14</a:t>
            </a:r>
          </a:p>
          <a:p>
            <a:r>
              <a:rPr lang="en-US" sz="3700">
                <a:solidFill>
                  <a:srgbClr val="252525"/>
                </a:solidFill>
              </a:rPr>
              <a:t>   10. IANA Considerations . . . . . . . . . . . . . . . . . . . . .  14</a:t>
            </a:r>
          </a:p>
          <a:p>
            <a:r>
              <a:rPr lang="en-US" sz="3700">
                <a:solidFill>
                  <a:srgbClr val="252525"/>
                </a:solidFill>
              </a:rPr>
              <a:t>     10.1.  HTTP Field Names . . . . . . . . . . . . . . . . . . . .  14</a:t>
            </a:r>
          </a:p>
          <a:p>
            <a:r>
              <a:rPr lang="en-US" sz="3700">
                <a:solidFill>
                  <a:srgbClr val="252525"/>
                </a:solidFill>
              </a:rPr>
              <a:t>   11. References  . . . . . . . . . . . . . . . . . . . . . . . . .  15</a:t>
            </a:r>
          </a:p>
          <a:p>
            <a:r>
              <a:rPr lang="en-US" sz="3700">
                <a:solidFill>
                  <a:srgbClr val="252525"/>
                </a:solidFill>
              </a:rPr>
              <a:t>     11.1.  Normative References . . . . . . . . . . . . . . . . . .  15</a:t>
            </a:r>
          </a:p>
          <a:p>
            <a:r>
              <a:rPr lang="en-US" sz="3700">
                <a:solidFill>
                  <a:srgbClr val="252525"/>
                </a:solidFill>
              </a:rPr>
              <a:t>     11.2.  Informative References . . . . . . . . . . . . . . . . .  16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Acknowledgments . . . . . . . . . . . . . . . . . . . . . . . . .  16</a:t>
            </a:r>
          </a:p>
          <a:p>
            <a:r>
              <a:rPr lang="en-US" sz="3700">
                <a:solidFill>
                  <a:srgbClr val="252525"/>
                </a:solidFill>
              </a:rPr>
              <a:t>   Index . . . . . . . . . . . . . . . . . . . . . . . . . . . . . .  16</a:t>
            </a:r>
          </a:p>
          <a:p>
            <a:r>
              <a:rPr lang="en-US" sz="3700">
                <a:solidFill>
                  <a:srgbClr val="252525"/>
                </a:solidFill>
              </a:rPr>
              <a:t>   Authors' Addresses  . . . . . . . . . . . . . . . . . . . . . . .  16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Introduction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HTTP caching [HTTP-CACHING] is based on reusing resources which match</a:t>
            </a:r>
          </a:p>
          <a:p>
            <a:r>
              <a:rPr lang="en-US" sz="3700">
                <a:solidFill>
                  <a:srgbClr val="252525"/>
                </a:solidFill>
              </a:rPr>
              <a:t>   across a number of cache keys.  One of the most prominent is the</a:t>
            </a:r>
          </a:p>
          <a:p>
            <a:r>
              <a:rPr lang="en-US" sz="3700">
                <a:solidFill>
                  <a:srgbClr val="252525"/>
                </a:solidFill>
              </a:rPr>
              <a:t>   presented target URI (Section 7.1 of [HTTP]).  However, sometimes</a:t>
            </a:r>
          </a:p>
          <a:p>
            <a:r>
              <a:rPr lang="en-US" sz="3700">
                <a:solidFill>
                  <a:srgbClr val="252525"/>
                </a:solidFill>
              </a:rPr>
              <a:t>   multiple URLs can represent the same resource.  This leads to caches</a:t>
            </a:r>
          </a:p>
          <a:p>
            <a:r>
              <a:rPr lang="en-US" sz="3700">
                <a:solidFill>
                  <a:srgbClr val="252525"/>
                </a:solidFill>
              </a:rPr>
              <a:t>   not always being as helpful as they could be: if the cache contains</a:t>
            </a:r>
          </a:p>
          <a:p>
            <a:r>
              <a:rPr lang="en-US" sz="3700">
                <a:solidFill>
                  <a:srgbClr val="252525"/>
                </a:solidFill>
              </a:rPr>
              <a:t>   the resource under one URI, but the resource is then requested under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2]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another, the cached version will be ignored.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No-Vary-Search HTTP header field tackles a specific subset of</a:t>
            </a:r>
          </a:p>
          <a:p>
            <a:r>
              <a:rPr lang="en-US" sz="3700">
                <a:solidFill>
                  <a:srgbClr val="252525"/>
                </a:solidFill>
              </a:rPr>
              <a:t>   this general problem, for when a resource has multiple URLs which</a:t>
            </a:r>
          </a:p>
          <a:p>
            <a:r>
              <a:rPr lang="en-US" sz="3700">
                <a:solidFill>
                  <a:srgbClr val="252525"/>
                </a:solidFill>
              </a:rPr>
              <a:t>   differ only in certain query components.  It allows resources to</a:t>
            </a:r>
          </a:p>
          <a:p>
            <a:r>
              <a:rPr lang="en-US" sz="3700">
                <a:solidFill>
                  <a:srgbClr val="252525"/>
                </a:solidFill>
              </a:rPr>
              <a:t>   declare that some or all parts of the query do not semantically</a:t>
            </a:r>
          </a:p>
          <a:p>
            <a:r>
              <a:rPr lang="en-US" sz="3700">
                <a:solidFill>
                  <a:srgbClr val="252525"/>
                </a:solidFill>
              </a:rPr>
              <a:t>   affect the served resource, and thus can be ignored for cache</a:t>
            </a:r>
          </a:p>
          <a:p>
            <a:r>
              <a:rPr lang="en-US" sz="3700">
                <a:solidFill>
                  <a:srgbClr val="252525"/>
                </a:solidFill>
              </a:rPr>
              <a:t>   matching purposes.  For example, if the order of the query parameter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keys do not semantically affect the served resource, this is</a:t>
            </a:r>
          </a:p>
          <a:p>
            <a:r>
              <a:rPr lang="en-US" sz="3700">
                <a:solidFill>
                  <a:srgbClr val="252525"/>
                </a:solidFill>
              </a:rPr>
              <a:t>   indicated using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No-Vary-Search: key-order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If the specific query parameters (e.g., ones indicating something for</a:t>
            </a:r>
          </a:p>
          <a:p>
            <a:r>
              <a:rPr lang="en-US" sz="3700">
                <a:solidFill>
                  <a:srgbClr val="252525"/>
                </a:solidFill>
              </a:rPr>
              <a:t>   analytics) do not semantically affect the served resource, this is</a:t>
            </a:r>
          </a:p>
          <a:p>
            <a:r>
              <a:rPr lang="en-US" sz="3700">
                <a:solidFill>
                  <a:srgbClr val="252525"/>
                </a:solidFill>
              </a:rPr>
              <a:t>   indicated using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No-Vary-Search: params=("utm_source" "utm_medium" "utm_campaign")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And if the resource instead wants to take an allowlist-based</a:t>
            </a:r>
          </a:p>
          <a:p>
            <a:r>
              <a:rPr lang="en-US" sz="3700">
                <a:solidFill>
                  <a:srgbClr val="252525"/>
                </a:solidFill>
              </a:rPr>
              <a:t>   approach, where only certain known query parameters semantically</a:t>
            </a:r>
          </a:p>
          <a:p>
            <a:r>
              <a:rPr lang="en-US" sz="3700">
                <a:solidFill>
                  <a:srgbClr val="252525"/>
                </a:solidFill>
              </a:rPr>
              <a:t>   affect the served resource, they can use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No-Vary-Search: params, except=("productId")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Section 3 defines the header, using the [STRUCTURED-FIELDS]</a:t>
            </a:r>
          </a:p>
          <a:p>
            <a:r>
              <a:rPr lang="en-US" sz="3700">
                <a:solidFill>
                  <a:srgbClr val="252525"/>
                </a:solidFill>
              </a:rPr>
              <a:t>   framework.  Section 4 and Section 5 illustrate the data model for how</a:t>
            </a:r>
          </a:p>
          <a:p>
            <a:r>
              <a:rPr lang="en-US" sz="3700">
                <a:solidFill>
                  <a:srgbClr val="252525"/>
                </a:solidFill>
              </a:rPr>
              <a:t>   the header can be represented in specifications, and the process for</a:t>
            </a:r>
          </a:p>
          <a:p>
            <a:r>
              <a:rPr lang="en-US" sz="3700">
                <a:solidFill>
                  <a:srgbClr val="252525"/>
                </a:solidFill>
              </a:rPr>
              <a:t>   parsing the raw output from the structured field parser into that</a:t>
            </a:r>
          </a:p>
          <a:p>
            <a:r>
              <a:rPr lang="en-US" sz="3700">
                <a:solidFill>
                  <a:srgbClr val="252525"/>
                </a:solidFill>
              </a:rPr>
              <a:t>   data model.  Section 6 gives the key algorithm for comparing if two</a:t>
            </a:r>
          </a:p>
          <a:p>
            <a:r>
              <a:rPr lang="en-US" sz="3700">
                <a:solidFill>
                  <a:srgbClr val="252525"/>
                </a:solidFill>
              </a:rPr>
              <a:t>   URLs are equivalent under the influence of the header; notably, it</a:t>
            </a:r>
          </a:p>
          <a:p>
            <a:r>
              <a:rPr lang="en-US" sz="3700">
                <a:solidFill>
                  <a:srgbClr val="252525"/>
                </a:solidFill>
              </a:rPr>
              <a:t>   leans on the decomposition of the query component into keys and</a:t>
            </a:r>
          </a:p>
          <a:p>
            <a:r>
              <a:rPr lang="en-US" sz="3700">
                <a:solidFill>
                  <a:srgbClr val="252525"/>
                </a:solidFill>
              </a:rPr>
              <a:t>   values given by the application/x-www-form-urlencoded</a:t>
            </a:r>
          </a:p>
          <a:p>
            <a:r>
              <a:rPr lang="en-US" sz="3700">
                <a:solidFill>
                  <a:srgbClr val="252525"/>
                </a:solidFill>
              </a:rPr>
              <a:t>   (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) format specified in</a:t>
            </a:r>
          </a:p>
          <a:p>
            <a:r>
              <a:rPr lang="en-US" sz="3700">
                <a:solidFill>
                  <a:srgbClr val="252525"/>
                </a:solidFill>
              </a:rPr>
              <a:t>   [WHATWG-URL].  Finally, Section 7 explains how to modify</a:t>
            </a:r>
          </a:p>
          <a:p>
            <a:r>
              <a:rPr lang="en-US" sz="3700">
                <a:solidFill>
                  <a:srgbClr val="252525"/>
                </a:solidFill>
              </a:rPr>
              <a:t>   [HTTP-CACHING] to take into account this new equivalence.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Conventions and Definitions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key words "MUST", "MUST NOT", "REQUIRED", "SHALL", "SHALL NOT",</a:t>
            </a:r>
          </a:p>
          <a:p>
            <a:r>
              <a:rPr lang="en-US" sz="3700">
                <a:solidFill>
                  <a:srgbClr val="252525"/>
                </a:solidFill>
              </a:rPr>
              <a:t>   "SHOULD", "SHOULD NOT", "RECOMMENDED", "NOT RECOMMENDED", "MAY", and</a:t>
            </a:r>
          </a:p>
          <a:p>
            <a:r>
              <a:rPr lang="en-US" sz="3700">
                <a:solidFill>
                  <a:srgbClr val="252525"/>
                </a:solidFill>
              </a:rPr>
              <a:t>   "OPTIONAL" in this document are to be interpreted as described in</a:t>
            </a:r>
          </a:p>
          <a:p>
            <a:r>
              <a:rPr lang="en-US" sz="3700">
                <a:solidFill>
                  <a:srgbClr val="252525"/>
                </a:solidFill>
              </a:rPr>
              <a:t>   BCP 14 [RFC2119] [RFC8174] when, and only when, they appear in all</a:t>
            </a:r>
          </a:p>
          <a:p>
            <a:r>
              <a:rPr lang="en-US" sz="3700">
                <a:solidFill>
                  <a:srgbClr val="252525"/>
                </a:solidFill>
              </a:rPr>
              <a:t>   capitals, as shown here.</a:t>
            </a:r>
          </a:p>
        </p:txBody>
      </p:sp>
      <p:pic>
        <p:nvPicPr>
          <p:cNvPr name="Picture 46" id="46">
            <a:hlinkClick r:id="rId47"/>
          </p:cNvPr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6451600" y="118999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This document also adopts some conventions and notation typical in</a:t>
            </a:r>
          </a:p>
          <a:p>
            <a:r>
              <a:rPr lang="en-US" sz="3700">
                <a:solidFill>
                  <a:srgbClr val="252525"/>
                </a:solidFill>
              </a:rPr>
              <a:t>   WHATWG and W3C usage, especially as it relates to algorithms.  See</a:t>
            </a:r>
          </a:p>
          <a:p>
            <a:r>
              <a:rPr lang="en-US" sz="3700">
                <a:solidFill>
                  <a:srgbClr val="252525"/>
                </a:solidFill>
              </a:rPr>
              <a:t>   [WHATWG-INFRA], and in particular: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3]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its definition of lists, including the list literal notation « 1,</a:t>
            </a:r>
          </a:p>
          <a:p>
            <a:r>
              <a:rPr lang="en-US" sz="3700">
                <a:solidFill>
                  <a:srgbClr val="252525"/>
                </a:solidFill>
              </a:rPr>
              <a:t>      2, 3 ».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its definition of strings, including their representation as code</a:t>
            </a:r>
          </a:p>
          <a:p>
            <a:r>
              <a:rPr lang="en-US" sz="3700">
                <a:solidFill>
                  <a:srgbClr val="252525"/>
                </a:solidFill>
              </a:rPr>
              <a:t>      units.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(Other concepts used are called out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using inline references.)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HTTP header field definition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No-Vary-Search HTTP header field is a structured field</a:t>
            </a:r>
          </a:p>
          <a:p>
            <a:r>
              <a:rPr lang="en-US" sz="3700">
                <a:solidFill>
                  <a:srgbClr val="252525"/>
                </a:solidFill>
              </a:rPr>
              <a:t>   [STRUCTURED-FIELDS] whose value MUST be a dictionary (Section 3.2 of</a:t>
            </a:r>
          </a:p>
          <a:p>
            <a:r>
              <a:rPr lang="en-US" sz="3700">
                <a:solidFill>
                  <a:srgbClr val="252525"/>
                </a:solidFill>
              </a:rPr>
              <a:t>   [STRUCTURED-FIELDS]).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It has the following authoring conformance requirements: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If present, the key-order entry's value MUST be a boolean</a:t>
            </a:r>
          </a:p>
          <a:p>
            <a:r>
              <a:rPr lang="en-US" sz="3700">
                <a:solidFill>
                  <a:srgbClr val="252525"/>
                </a:solidFill>
              </a:rPr>
              <a:t>      (Section 3.3.6 of [STRUCTURED-FIELDS]).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If present, the params entry's value MUST be either a boolean</a:t>
            </a:r>
          </a:p>
          <a:p>
            <a:r>
              <a:rPr lang="en-US" sz="3700">
                <a:solidFill>
                  <a:srgbClr val="252525"/>
                </a:solidFill>
              </a:rPr>
              <a:t>      (Section 3.3.6 of [STRUCTURED-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FIELDS]) or an inner list</a:t>
            </a:r>
          </a:p>
          <a:p>
            <a:r>
              <a:rPr lang="en-US" sz="3700">
                <a:solidFill>
                  <a:srgbClr val="252525"/>
                </a:solidFill>
              </a:rPr>
              <a:t>      (Section 3.1.1 of [STRUCTURED-FIELDS]).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If present, the except entry's value MUST be an inner list</a:t>
            </a:r>
          </a:p>
          <a:p>
            <a:r>
              <a:rPr lang="en-US" sz="3700">
                <a:solidFill>
                  <a:srgbClr val="252525"/>
                </a:solidFill>
              </a:rPr>
              <a:t>      (Section 3.1.1 of [STRUCTURED-FIELDS]).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The except entry MUST only be present if the params entry is also</a:t>
            </a:r>
          </a:p>
          <a:p>
            <a:r>
              <a:rPr lang="en-US" sz="3700">
                <a:solidFill>
                  <a:srgbClr val="252525"/>
                </a:solidFill>
              </a:rPr>
              <a:t>      present, and the params entry's value is the boolean value true.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dictionary MAY contain entries whose keys are not one of key-</a:t>
            </a:r>
          </a:p>
          <a:p>
            <a:r>
              <a:rPr lang="en-US" sz="3700">
                <a:solidFill>
                  <a:srgbClr val="252525"/>
                </a:solidFill>
              </a:rPr>
              <a:t>   order, params, and except, but their meaning is not defined by this</a:t>
            </a:r>
          </a:p>
          <a:p>
            <a:r>
              <a:rPr lang="en-US" sz="3700">
                <a:solidFill>
                  <a:srgbClr val="252525"/>
                </a:solidFill>
              </a:rPr>
              <a:t>   specification.  Implementations of this specification will ignore</a:t>
            </a:r>
          </a:p>
          <a:p>
            <a:r>
              <a:rPr lang="en-US" sz="3700">
                <a:solidFill>
                  <a:srgbClr val="252525"/>
                </a:solidFill>
              </a:rPr>
              <a:t>   such entries (but future documents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might assign meaning to such</a:t>
            </a:r>
          </a:p>
          <a:p>
            <a:r>
              <a:rPr lang="en-US" sz="3700">
                <a:solidFill>
                  <a:srgbClr val="252525"/>
                </a:solidFill>
              </a:rPr>
              <a:t>   entries).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As always, the authoring conformance requirements are not</a:t>
            </a:r>
          </a:p>
          <a:p>
            <a:r>
              <a:rPr lang="en-US" sz="3700">
                <a:solidFill>
                  <a:srgbClr val="252525"/>
                </a:solidFill>
              </a:rPr>
              <a:t>      |  binding on implementations.  Implementations instead need to</a:t>
            </a:r>
          </a:p>
          <a:p>
            <a:r>
              <a:rPr lang="en-US" sz="3700">
                <a:solidFill>
                  <a:srgbClr val="252525"/>
                </a:solidFill>
              </a:rPr>
              <a:t>      |  implement the processing model given by the obtain a URL search</a:t>
            </a:r>
          </a:p>
          <a:p>
            <a:r>
              <a:rPr lang="en-US" sz="3700">
                <a:solidFill>
                  <a:srgbClr val="252525"/>
                </a:solidFill>
              </a:rPr>
              <a:t>      |  variance algorithm (Section 5.2).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Data model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A _URL search variance_ consists of the following: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no-vary params</a:t>
            </a:r>
          </a:p>
          <a:p>
            <a:r>
              <a:rPr lang="en-US" sz="3700">
                <a:solidFill>
                  <a:srgbClr val="252525"/>
                </a:solidFill>
              </a:rPr>
              <a:t>      either the special value *wildcard* or a list of strings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vary params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4]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either the special value *wildcard* or a list of strings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vary on key order</a:t>
            </a:r>
          </a:p>
          <a:p>
            <a:r>
              <a:rPr lang="en-US" sz="3700">
                <a:solidFill>
                  <a:srgbClr val="252525"/>
                </a:solidFill>
              </a:rPr>
              <a:t>      a boolean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_default URL search variance_ is a URL search variance whose no-</a:t>
            </a:r>
          </a:p>
          <a:p>
            <a:r>
              <a:rPr lang="en-US" sz="3700">
                <a:solidFill>
                  <a:srgbClr val="252525"/>
                </a:solidFill>
              </a:rPr>
              <a:t>   vary params is an empty list, vary params is *wildcard*, and vary on</a:t>
            </a:r>
          </a:p>
          <a:p>
            <a:r>
              <a:rPr lang="en-US" sz="3700">
                <a:solidFill>
                  <a:srgbClr val="252525"/>
                </a:solidFill>
              </a:rPr>
              <a:t>   key order is true.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obtain a URL search variance algorithm (Section 5.2) ensures that</a:t>
            </a:r>
          </a:p>
          <a:p>
            <a:r>
              <a:rPr lang="en-US" sz="3700">
                <a:solidFill>
                  <a:srgbClr val="252525"/>
                </a:solidFill>
              </a:rPr>
              <a:t>   all URL search variances obey the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following constraints: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vary params is a list if and only if the no-vary params is</a:t>
            </a:r>
          </a:p>
          <a:p>
            <a:r>
              <a:rPr lang="en-US" sz="3700">
                <a:solidFill>
                  <a:srgbClr val="252525"/>
                </a:solidFill>
              </a:rPr>
              <a:t>      *wildcard*; and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 params is a list if and only if the vary params is</a:t>
            </a:r>
          </a:p>
          <a:p>
            <a:r>
              <a:rPr lang="en-US" sz="3700">
                <a:solidFill>
                  <a:srgbClr val="252525"/>
                </a:solidFill>
              </a:rPr>
              <a:t>      *wildcard*.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 Parsing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5.1.  Parse a URL search variance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To _parse a URL search variance_ given _value_: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1.  If _value_ is null, then return the default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2.  Let _result_ be a new URL search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3.  Set _result_'s vary on key order to true.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  If _value_["key-order"] exists: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1.  If _value_["key-order"] is not a boolean, then return the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default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2.  Set _result_'s vary on key order to the boolean negation of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_value_["key-order"].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5.  If _value_["params"] exists: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1.  If _value_["params"] is a boolean: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1.  If _value_["params"] is true, then: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1.  Set _result_'s no-vary params to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*wildcard*.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2.  Set _result_'s vary params to the empty list.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5]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2.  Otherwise: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1.  Set _result_'s no-vary params to the empty list.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2.  Set _result_'s vary params to *wildcard*.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2.  Otherwise, if _value_["params"] is an array: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1.  If any item in _value_["params"] is not a string, then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return the default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2.  Set _result_'s no-vary params to the result of applying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parse a key (Section 5.3) to each item in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_value_["params"].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3.  Set _result_'s vary params to *wildcard*.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3.  Otherwise, return the default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6.  If _value_["except"] exists: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1.  If _value_["params"] is not true, then return the default URL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2.  If _value_["except"] is not an array, then return the default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3.  If any item in _value_["except"] is not a string, then return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the default URL search variance.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4.  Set _result_'s vary params to the result of applying parse a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key (Section 5.3) to each item in _value_["except"].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7.  Return _result_.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In general, this algorithm is strict and tends to return the</a:t>
            </a:r>
          </a:p>
          <a:p>
            <a:r>
              <a:rPr lang="en-US" sz="3700">
                <a:solidFill>
                  <a:srgbClr val="252525"/>
                </a:solidFill>
              </a:rPr>
              <a:t>      |  default URL search variance whenever it sees something it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|  doesn't recognize.  This is because the default URL search</a:t>
            </a:r>
          </a:p>
          <a:p>
            <a:r>
              <a:rPr lang="en-US" sz="3700">
                <a:solidFill>
                  <a:srgbClr val="252525"/>
                </a:solidFill>
              </a:rPr>
              <a:t>      |  variance behavior will just cause fewer cache hits, which is an</a:t>
            </a:r>
          </a:p>
          <a:p>
            <a:r>
              <a:rPr lang="en-US" sz="3700">
                <a:solidFill>
                  <a:srgbClr val="252525"/>
                </a:solidFill>
              </a:rPr>
              <a:t>      |  acceptable fallback behavior.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However, unrecognized keys at the top level are ignored, to</a:t>
            </a:r>
          </a:p>
          <a:p>
            <a:r>
              <a:rPr lang="en-US" sz="3700">
                <a:solidFill>
                  <a:srgbClr val="252525"/>
                </a:solidFill>
              </a:rPr>
              <a:t>      |  make it easier to extend this specification in the future.  To</a:t>
            </a:r>
          </a:p>
          <a:p>
            <a:r>
              <a:rPr lang="en-US" sz="3700">
                <a:solidFill>
                  <a:srgbClr val="252525"/>
                </a:solidFill>
              </a:rPr>
              <a:t>      |  avoid misbehavior with existing client software, such</a:t>
            </a:r>
          </a:p>
          <a:p>
            <a:r>
              <a:rPr lang="en-US" sz="3700">
                <a:solidFill>
                  <a:srgbClr val="252525"/>
                </a:solidFill>
              </a:rPr>
              <a:t>      |  extensions will likely expand, rather than reduce, the set of</a:t>
            </a:r>
          </a:p>
          <a:p>
            <a:r>
              <a:rPr lang="en-US" sz="3700">
                <a:solidFill>
                  <a:srgbClr val="252525"/>
                </a:solidFill>
              </a:rPr>
              <a:t>      |  requests that a cached response can match.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6]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|  The input to this algorithm is generally obtained by parsing a</a:t>
            </a:r>
          </a:p>
          <a:p>
            <a:r>
              <a:rPr lang="en-US" sz="3700">
                <a:solidFill>
                  <a:srgbClr val="252525"/>
                </a:solidFill>
              </a:rPr>
              <a:t>      |  structured field (Section 4.2 of [STRUCTURED-FIELDS]) using</a:t>
            </a:r>
          </a:p>
          <a:p>
            <a:r>
              <a:rPr lang="en-US" sz="3700">
                <a:solidFill>
                  <a:srgbClr val="252525"/>
                </a:solidFill>
              </a:rPr>
              <a:t>      |  field_type "dictionary".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5.2.  Obtain a URL search variance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To _obtain a URL search variance_ given a response</a:t>
            </a:r>
          </a:p>
          <a:p>
            <a:r>
              <a:rPr lang="en-US" sz="3700">
                <a:solidFill>
                  <a:srgbClr val="252525"/>
                </a:solidFill>
              </a:rPr>
              <a:t>   (</a:t>
            </a:r>
            <a:r>
              <a:rPr lang="en-US" sz="3700">
                <a:solidFill>
                  <a:srgbClr val="252525"/>
                </a:solidFill>
              </a:rPr>
              <a:t>) _response_: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1.  Let _fieldValue_ be the result of getting a structured field</a:t>
            </a:r>
          </a:p>
          <a:p>
            <a:r>
              <a:rPr lang="en-US" sz="3700">
                <a:solidFill>
                  <a:srgbClr val="252525"/>
                </a:solidFill>
              </a:rPr>
              <a:t>       value </a:t>
            </a:r>
          </a:p>
        </p:txBody>
      </p:sp>
      <p:pic>
        <p:nvPicPr>
          <p:cNvPr name="Picture 72" id="72">
            <a:hlinkClick r:id="rId73"/>
          </p:cNvPr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6451600" y="12611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</a:t>
            </a:r>
            <a:r>
              <a:rPr lang="en-US" sz="3700">
                <a:solidFill>
                  <a:srgbClr val="252525"/>
                </a:solidFill>
              </a:rPr>
              <a:t>-</a:t>
            </a:r>
          </a:p>
          <a:p>
            <a:r>
              <a:rPr lang="en-US" sz="3700">
                <a:solidFill>
                  <a:srgbClr val="252525"/>
                </a:solidFill>
              </a:rPr>
              <a:t>       structured-header) [FETCH] given `No-Vary-Search` and</a:t>
            </a:r>
          </a:p>
          <a:p>
            <a:r>
              <a:rPr lang="en-US" sz="3700">
                <a:solidFill>
                  <a:srgbClr val="252525"/>
                </a:solidFill>
              </a:rPr>
              <a:t>       "dictionary" from _response_'s header list.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2.  Return the result of parsing a URL search variance (Section 5.1)</a:t>
            </a:r>
          </a:p>
          <a:p>
            <a:r>
              <a:rPr lang="en-US" sz="3700">
                <a:solidFill>
                  <a:srgbClr val="252525"/>
                </a:solidFill>
              </a:rPr>
              <a:t>       given _fieldValue_.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5.2.1.  Examples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following illustrates how various inputs are parsed, in terms of</a:t>
            </a:r>
          </a:p>
          <a:p>
            <a:r>
              <a:rPr lang="en-US" sz="3700">
                <a:solidFill>
                  <a:srgbClr val="252525"/>
                </a:solidFill>
              </a:rPr>
              <a:t>   their impacting on the resulting no-vary params and vary params:</a:t>
            </a:r>
          </a:p>
        </p:txBody>
      </p:sp>
      <p:pic>
        <p:nvPicPr>
          <p:cNvPr name="Picture 76" id="76">
            <a:hlinkClick r:id="rId77"/>
          </p:cNvPr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+========================+============================+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Input                  | Result           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+========================+============================+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No-Vary-Search: params | no-vary params: *wildcard*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                       | vary params: (empty list) 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+------------------------+----------------------------+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No-Vary-Search:        | no-vary params: « "a" »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params=("a")           | vary params: *wildcard*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+------------------------+----------------------------+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No-Vary-Search:        | no-vary params: *wildcard* |</a:t>
            </a:r>
          </a:p>
          <a:p>
            <a:r>
              <a:rPr lang="en-US" sz="3700">
                <a:solidFill>
                  <a:srgbClr val="252525"/>
                </a:solidFill>
              </a:rPr>
              <a:t>          | params, except=("x")   | vary params: « "x" »       |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+------------------------+----------------------------+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    Table 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following inputs are all invalid and will cause the default URL</a:t>
            </a:r>
          </a:p>
          <a:p>
            <a:r>
              <a:rPr lang="en-US" sz="3700">
                <a:solidFill>
                  <a:srgbClr val="252525"/>
                </a:solidFill>
              </a:rPr>
              <a:t>   search variance to be returned: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unknown-key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key-order="not a boolean"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params="not a boolean or inner list"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params=(not-a-string)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params=("a"), except=("x")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params=(), except=()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params=?0, except=("x")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params, except=(not-a-string)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7]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params, except="not an inner list"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params, except=?1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except=("x")</a:t>
            </a:r>
          </a:p>
          <a:p>
            <a:r>
              <a:rPr lang="en-US" sz="3700">
                <a:solidFill>
                  <a:srgbClr val="252525"/>
                </a:solidFill>
              </a:rPr>
              <a:t>   *  No-Vary-Search: except=()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following inputs are valid, but somewhat unconventional.  They</a:t>
            </a:r>
          </a:p>
          <a:p>
            <a:r>
              <a:rPr lang="en-US" sz="3700">
                <a:solidFill>
                  <a:srgbClr val="252525"/>
                </a:solidFill>
              </a:rPr>
              <a:t>   are shown alongside their more conventional form.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+==============================+============================+</a:t>
            </a:r>
          </a:p>
          <a:p>
            <a:r>
              <a:rPr lang="en-US" sz="3700">
                <a:solidFill>
                  <a:srgbClr val="252525"/>
                </a:solidFill>
              </a:rPr>
              <a:t>       | Input                        | Conventional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form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+==============================+============================+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params=?1    | No-Vary-Search: params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key-order=?1 | No-Vary-Search: key-order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params, key- | No-Vary-Search: key-order, |</a:t>
            </a:r>
          </a:p>
          <a:p>
            <a:r>
              <a:rPr lang="en-US" sz="3700">
                <a:solidFill>
                  <a:srgbClr val="252525"/>
                </a:solidFill>
              </a:rPr>
              <a:t>       | order, except=("x")          | params, except=("x")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params=?0    | (omit the header)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params=()    | (omit the header)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+------------------------------+----------------------------+</a:t>
            </a:r>
          </a:p>
          <a:p>
            <a:r>
              <a:rPr lang="en-US" sz="3700">
                <a:solidFill>
                  <a:srgbClr val="252525"/>
                </a:solidFill>
              </a:rPr>
              <a:t>       | No-Vary-Search: key-order=?0 | (omit the header)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       +------------------------------+----------------------------+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    Table 2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5.3.  Parse a key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To _parse a key_ given an ASCII string _keyString_: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1.  Let _keyBytes_ be the isomorphic encoding</a:t>
            </a:r>
          </a:p>
          <a:p>
            <a:r>
              <a:rPr lang="en-US" sz="3700">
                <a:solidFill>
                  <a:srgbClr val="252525"/>
                </a:solidFill>
              </a:rPr>
              <a:t>       (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) [WHATWG-INFRA]</a:t>
            </a:r>
          </a:p>
          <a:p>
            <a:r>
              <a:rPr lang="en-US" sz="3700">
                <a:solidFill>
                  <a:srgbClr val="252525"/>
                </a:solidFill>
              </a:rPr>
              <a:t>       of _keyString_.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2.  Replace any 0x2B (+) in _keyBytes_ with 0x20 (SP).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3.  Let _keyBytesDecoded_ be the percent-decoding</a:t>
            </a:r>
          </a:p>
          <a:p>
            <a:r>
              <a:rPr lang="en-US" sz="3700">
                <a:solidFill>
                  <a:srgbClr val="252525"/>
                </a:solidFill>
              </a:rPr>
              <a:t>       (</a:t>
            </a:r>
            <a:r>
              <a:rPr lang="en-US" sz="3700">
                <a:solidFill>
                  <a:srgbClr val="252525"/>
                </a:solidFill>
              </a:rPr>
              <a:t>) [WHATWG-URL] of</a:t>
            </a:r>
          </a:p>
          <a:p>
            <a:r>
              <a:rPr lang="en-US" sz="3700">
                <a:solidFill>
                  <a:srgbClr val="252525"/>
                </a:solidFill>
              </a:rPr>
              <a:t>       _keyBytes_.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  Let _keyStringDecoded_ be the UTF-8 decoding without BOM</a:t>
            </a:r>
          </a:p>
          <a:p>
            <a:r>
              <a:rPr lang="en-US" sz="3700">
                <a:solidFill>
                  <a:srgbClr val="252525"/>
                </a:solidFill>
              </a:rPr>
              <a:t>       </a:t>
            </a:r>
          </a:p>
        </p:txBody>
      </p:sp>
      <p:pic>
        <p:nvPicPr>
          <p:cNvPr name="Picture 90" id="90">
            <a:hlinkClick r:id="rId91"/>
          </p:cNvPr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92" id="92">
            <a:hlinkClick r:id="rId93"/>
          </p:cNvPr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6451600" y="9817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[WHATWG-ENCODING] of _keyBytesDecoded_.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5.  Return _keyStringDecoded_.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8]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5.3.1.  Examples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parse a key algorithm allows encoding non-ASCII key strings in</a:t>
            </a:r>
          </a:p>
          <a:p>
            <a:r>
              <a:rPr lang="en-US" sz="3700">
                <a:solidFill>
                  <a:srgbClr val="252525"/>
                </a:solidFill>
              </a:rPr>
              <a:t>   the ASCII structured header format, similar to how the application/x-</a:t>
            </a:r>
          </a:p>
        </p:txBody>
      </p:sp>
      <p:pic>
        <p:nvPicPr>
          <p:cNvPr name="Picture 96" id="96">
            <a:hlinkClick r:id="rId97"/>
          </p:cNvPr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www-form-urlencoded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format [WHATWG-URL] allows encoding an entire entry list of keys and</a:t>
            </a:r>
          </a:p>
          <a:p>
            <a:r>
              <a:rPr lang="en-US" sz="3700">
                <a:solidFill>
                  <a:srgbClr val="252525"/>
                </a:solidFill>
              </a:rPr>
              <a:t>   values in ASCII URL format.  For example,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No-Vary-Search: params=("%C3%A9+%E6%B0%97")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will result in a URL search variance whose vary params are « "é 気" ».</a:t>
            </a:r>
          </a:p>
          <a:p>
            <a:r>
              <a:rPr lang="en-US" sz="3700">
                <a:solidFill>
                  <a:srgbClr val="252525"/>
                </a:solidFill>
              </a:rPr>
              <a:t>   As explained in a later example, the canonicalization process during</a:t>
            </a:r>
          </a:p>
          <a:p>
            <a:r>
              <a:rPr lang="en-US" sz="3700">
                <a:solidFill>
                  <a:srgbClr val="252525"/>
                </a:solidFill>
              </a:rPr>
              <a:t>   equivalence testing means this will treat as equivalent URL strings</a:t>
            </a:r>
          </a:p>
          <a:p>
            <a:r>
              <a:rPr lang="en-US" sz="3700">
                <a:solidFill>
                  <a:srgbClr val="252525"/>
                </a:solidFill>
              </a:rPr>
              <a:t>   such as:</a:t>
            </a:r>
          </a:p>
        </p:txBody>
      </p:sp>
      <p:pic>
        <p:nvPicPr>
          <p:cNvPr name="Picture 100" id="100">
            <a:hlinkClick r:id="rId101"/>
          </p:cNvPr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*  </a:t>
            </a:r>
            <a:r>
              <a:rPr lang="en-US" sz="3700">
                <a:solidFill>
                  <a:srgbClr val="252525"/>
                </a:solidFill>
              </a:rPr>
              <a:t> 気=1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and so on, since they all are parsed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</p:txBody>
      </p:sp>
      <p:pic>
        <p:nvPicPr>
          <p:cNvPr name="Picture 104" id="104">
            <a:hlinkClick r:id="rId105"/>
          </p:cNvPr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106" id="106">
            <a:hlinkClick r:id="rId107"/>
          </p:cNvPr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  <p:pic>
        <p:nvPicPr>
          <p:cNvPr name="Picture 108" id="108">
            <a:hlinkClick r:id="rId109"/>
          </p:cNvPr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6451600" y="8699500"/>
            <a:ext cx="10820400" cy="1714500"/>
          </a:xfrm>
          <a:prstGeom prst="rect">
            <a:avLst/>
          </a:prstGeom>
        </p:spPr>
      </p:pic>
      <p:pic>
        <p:nvPicPr>
          <p:cNvPr name="Picture 110" id="110">
            <a:hlinkClick r:id="rId111"/>
          </p:cNvPr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6451600" y="12128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</a:t>
            </a:r>
            <a:r>
              <a:rPr lang="en-US" sz="3700">
                <a:solidFill>
                  <a:srgbClr val="252525"/>
                </a:solidFill>
              </a:rPr>
              <a:t>) [WHATWG-URL]</a:t>
            </a:r>
          </a:p>
          <a:p>
            <a:r>
              <a:rPr lang="en-US" sz="3700">
                <a:solidFill>
                  <a:srgbClr val="252525"/>
                </a:solidFill>
              </a:rPr>
              <a:t>   to having the same key "é 気".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6.  Comparing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Two URLs (</a:t>
            </a:r>
            <a:r>
              <a:rPr lang="en-US" sz="3700">
                <a:solidFill>
                  <a:srgbClr val="252525"/>
                </a:solidFill>
              </a:rPr>
              <a:t>) [WHATWG-URL]</a:t>
            </a:r>
          </a:p>
          <a:p>
            <a:r>
              <a:rPr lang="en-US" sz="3700">
                <a:solidFill>
                  <a:srgbClr val="252525"/>
                </a:solidFill>
              </a:rPr>
              <a:t>   _urlA_ and _urlB_ are _equivalent modulo search variance_ given a URL</a:t>
            </a:r>
          </a:p>
          <a:p>
            <a:r>
              <a:rPr lang="en-US" sz="3700">
                <a:solidFill>
                  <a:srgbClr val="252525"/>
                </a:solidFill>
              </a:rPr>
              <a:t>   search variance _searchVariance_ if the following algorithm returns</a:t>
            </a:r>
          </a:p>
          <a:p>
            <a:r>
              <a:rPr lang="en-US" sz="3700">
                <a:solidFill>
                  <a:srgbClr val="252525"/>
                </a:solidFill>
              </a:rPr>
              <a:t>   true: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1.   If the scheme, username, password, </a:t>
            </a:r>
          </a:p>
        </p:txBody>
      </p:sp>
      <p:pic>
        <p:nvPicPr>
          <p:cNvPr name="Picture 114" id="114">
            <a:hlinkClick r:id="rId115"/>
          </p:cNvPr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116" id="116">
            <a:hlinkClick r:id="rId117"/>
          </p:cNvPr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host, port, or path of _urlA_</a:t>
            </a:r>
          </a:p>
          <a:p>
            <a:r>
              <a:rPr lang="en-US" sz="3700">
                <a:solidFill>
                  <a:srgbClr val="252525"/>
                </a:solidFill>
              </a:rPr>
              <a:t>        and _urlB_ differ, then return false.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2.   If _searchVariance_ is equivalent to the default URL search</a:t>
            </a:r>
          </a:p>
          <a:p>
            <a:r>
              <a:rPr lang="en-US" sz="3700">
                <a:solidFill>
                  <a:srgbClr val="252525"/>
                </a:solidFill>
              </a:rPr>
              <a:t>        variance, then: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1.  If _urlA_'s query equals _urlB_'s query, then return true.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2.  Return false.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 [Page 9]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In this case, even URL pairs that might appear the same after</a:t>
            </a:r>
          </a:p>
          <a:p>
            <a:r>
              <a:rPr lang="en-US" sz="3700">
                <a:solidFill>
                  <a:srgbClr val="252525"/>
                </a:solidFill>
              </a:rPr>
              <a:t>        running the application/x-www-form-urlencoded parser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[WHATWG-URL] on their queries, such as </a:t>
            </a:r>
            <a:r>
              <a:rPr lang="en-US" sz="3700">
                <a:solidFill>
                  <a:srgbClr val="252525"/>
                </a:solidFill>
              </a:rPr>
              <a:t> and</a:t>
            </a:r>
          </a:p>
          <a:p>
            <a:r>
              <a:rPr lang="en-US" sz="3700">
                <a:solidFill>
                  <a:srgbClr val="252525"/>
                </a:solidFill>
              </a:rPr>
              <a:t>        </a:t>
            </a:r>
            <a:r>
              <a:rPr lang="en-US" sz="3700">
                <a:solidFill>
                  <a:srgbClr val="252525"/>
                </a:solidFill>
              </a:rPr>
              <a:t>?, or </a:t>
            </a:r>
            <a:r>
              <a:rPr lang="en-US" sz="3700">
                <a:solidFill>
                  <a:srgbClr val="252525"/>
                </a:solidFill>
              </a:rPr>
              <a:t> and</a:t>
            </a:r>
          </a:p>
          <a:p>
            <a:r>
              <a:rPr lang="en-US" sz="3700">
                <a:solidFill>
                  <a:srgbClr val="252525"/>
                </a:solidFill>
              </a:rPr>
              <a:t>        </a:t>
            </a:r>
          </a:p>
        </p:txBody>
      </p:sp>
      <p:pic>
        <p:nvPicPr>
          <p:cNvPr name="Picture 122" id="122">
            <a:hlinkClick r:id="rId123"/>
          </p:cNvPr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  <p:pic>
        <p:nvPicPr>
          <p:cNvPr name="Picture 124" id="124">
            <a:hlinkClick r:id="rId125"/>
          </p:cNvPr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6451600" y="6019800"/>
            <a:ext cx="10820400" cy="1714500"/>
          </a:xfrm>
          <a:prstGeom prst="rect">
            <a:avLst/>
          </a:prstGeom>
        </p:spPr>
      </p:pic>
      <p:pic>
        <p:nvPicPr>
          <p:cNvPr name="Picture 126" id="126">
            <a:hlinkClick r:id="rId127"/>
          </p:cNvPr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6451600" y="9448800"/>
            <a:ext cx="10820400" cy="1714500"/>
          </a:xfrm>
          <a:prstGeom prst="rect">
            <a:avLst/>
          </a:prstGeom>
        </p:spPr>
      </p:pic>
      <p:pic>
        <p:nvPicPr>
          <p:cNvPr name="Picture 128" id="128">
            <a:hlinkClick r:id="rId129"/>
          </p:cNvPr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6451600" y="12128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=, will be treated as inequivalent.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3.   Let _searchParamsA_ and _searchParamsB_ be empty lists.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4.   If _wrlA_'s query is not null, then set _searchParamsA_ to the</a:t>
            </a:r>
          </a:p>
          <a:p>
            <a:r>
              <a:rPr lang="en-US" sz="3700">
                <a:solidFill>
                  <a:srgbClr val="252525"/>
                </a:solidFill>
              </a:rPr>
              <a:t>        result of running the application/x-www-form-urlencoded parser</a:t>
            </a:r>
          </a:p>
          <a:p>
            <a:r>
              <a:rPr lang="en-US" sz="3700">
                <a:solidFill>
                  <a:srgbClr val="252525"/>
                </a:solidFill>
              </a:rPr>
              <a:t>       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[WHATWG-URL] given the isomorphic encoding</a:t>
            </a:r>
          </a:p>
          <a:p>
            <a:r>
              <a:rPr lang="en-US" sz="3700">
                <a:solidFill>
                  <a:srgbClr val="252525"/>
                </a:solidFill>
              </a:rPr>
              <a:t>        (</a:t>
            </a:r>
          </a:p>
        </p:txBody>
      </p:sp>
      <p:pic>
        <p:nvPicPr>
          <p:cNvPr name="Picture 132" id="132">
            <a:hlinkClick r:id="rId133"/>
          </p:cNvPr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134" id="134">
            <a:hlinkClick r:id="rId135"/>
          </p:cNvPr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6451600" y="10566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[WHATWG-INFRA] of _urlA_'s query.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5.   If _wrlB_'s query is not null, then set _searchParamsB_ to the</a:t>
            </a:r>
          </a:p>
          <a:p>
            <a:r>
              <a:rPr lang="en-US" sz="3700">
                <a:solidFill>
                  <a:srgbClr val="252525"/>
                </a:solidFill>
              </a:rPr>
              <a:t>        result of running the application/x-www-form-urlencoded parser</a:t>
            </a:r>
          </a:p>
          <a:p>
            <a:r>
              <a:rPr lang="en-US" sz="3700">
                <a:solidFill>
                  <a:srgbClr val="252525"/>
                </a:solidFill>
              </a:rPr>
              <a:t>       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[WHATWG-URL] given the isomorphic encoding</a:t>
            </a:r>
          </a:p>
          <a:p>
            <a:r>
              <a:rPr lang="en-US" sz="3700">
                <a:solidFill>
                  <a:srgbClr val="252525"/>
                </a:solidFill>
              </a:rPr>
              <a:t>        (</a:t>
            </a:r>
          </a:p>
        </p:txBody>
      </p:sp>
      <p:pic>
        <p:nvPicPr>
          <p:cNvPr name="Picture 138" id="138">
            <a:hlinkClick r:id="rId139"/>
          </p:cNvPr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140" id="140">
            <a:hlinkClick r:id="rId141"/>
          </p:cNvPr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6451600" y="9055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[WHATWG-INFRA] of _urlB_'s query.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6.   If _searchVariance_'s no-vary params is a list, then: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1.  Set _searchParamsA_ to a list containing those items _pair_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_searchParamsA_ where _searchVariance_'s no-vary params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does not contain _pair_[0].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2.  Set _searchParamsB_ to a list containing those items _pair_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_searchParamsB_ where _searchVariance_'s no-vary params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does not contain _pair_[0].</a:t>
            </a:r>
          </a:p>
        </p:txBody>
      </p:sp>
      <p:pic>
        <p:nvPicPr>
          <p:cNvPr name="Picture 144" id="144">
            <a:hlinkClick r:id="rId145"/>
          </p:cNvPr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7.   Otherwise, if _searchVariance_'s vary params is a list, then: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1.  Set _searchParamsA_ to a list containing those items _pair_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_searchParamsA_ where _searchVariance_'s vary params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contains _pair_[0].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2.  Set _searchParamsB_ to a list containing those items _pair_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_searchParamsB_ where _searchVariance_'s vary params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contains _pair_[0].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8.   If _searchVariance_'s vary on key order is false, then: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10]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1.  Let _keyLessThan_ be an algorithm taking as inputs two pairs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(_keyA_, _valueA_) and (_keyB_, _valueB_), which returns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whether _keyA_ is code unit less than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[WHATWG-INFRA] _keyB_.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2.  Set _searchParamsA_ to the result of sorting _searchParamsA_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ascending order with _keyLessThan_.</a:t>
            </a:r>
          </a:p>
        </p:txBody>
      </p:sp>
      <p:pic>
        <p:nvPicPr>
          <p:cNvPr name="Picture 150" id="150">
            <a:hlinkClick r:id="rId151"/>
          </p:cNvPr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6451600" y="7899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3.  Set _searchParamsB_ to the result of sorting _searchParamsB_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in ascending order with _keyLessThan_.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9.   If _searchParamsA_'s size is not equal to _searchParamsB_'s</a:t>
            </a:r>
          </a:p>
          <a:p>
            <a:r>
              <a:rPr lang="en-US" sz="3700">
                <a:solidFill>
                  <a:srgbClr val="252525"/>
                </a:solidFill>
              </a:rPr>
              <a:t>        size, then return false.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10.  Let _i_ be 0.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11.  While _i_ &lt; _searchParamsA_'s size: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1.  If _searchParamsA_[_i_][0] does not equal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_searchParamsB_[_i_][0], then return false.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2.  If _searchParamsA_[_i_][1] does not equal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_searchParamsB_[_i_][1], then return 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false.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3.  Set _i_ to _i_ + 1.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12.  Return true.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6.1.  Examples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Due to how the application/x-www-form-urlencoded parser canonicalizes</a:t>
            </a:r>
          </a:p>
          <a:p>
            <a:r>
              <a:rPr lang="en-US" sz="3700">
                <a:solidFill>
                  <a:srgbClr val="252525"/>
                </a:solidFill>
              </a:rPr>
              <a:t>   query strings, there are some cases where query strings which do not</a:t>
            </a:r>
          </a:p>
          <a:p>
            <a:r>
              <a:rPr lang="en-US" sz="3700">
                <a:solidFill>
                  <a:srgbClr val="252525"/>
                </a:solidFill>
              </a:rPr>
              <a:t>   appear obviously equivalent, will end up being treated as equivalent</a:t>
            </a:r>
          </a:p>
          <a:p>
            <a:r>
              <a:rPr lang="en-US" sz="3700">
                <a:solidFill>
                  <a:srgbClr val="252525"/>
                </a:solidFill>
              </a:rPr>
              <a:t>   after parsing.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So, for example, given any non-default value for No-Vary-Search, such</a:t>
            </a:r>
          </a:p>
          <a:p>
            <a:r>
              <a:rPr lang="en-US" sz="3700">
                <a:solidFill>
                  <a:srgbClr val="252525"/>
                </a:solidFill>
              </a:rPr>
              <a:t>   as No-Vary-Search: key-order, we will have the following</a:t>
            </a:r>
          </a:p>
          <a:p>
            <a:r>
              <a:rPr lang="en-US" sz="3700">
                <a:solidFill>
                  <a:srgbClr val="252525"/>
                </a:solidFill>
              </a:rPr>
              <a:t>   equivalences: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?</a:t>
            </a:r>
          </a:p>
          <a:p>
            <a:r>
              <a:rPr lang="en-US" sz="3700">
                <a:solidFill>
                  <a:srgbClr val="252525"/>
                </a:solidFill>
              </a:rPr>
              <a:t>      A null query is parsed the same as an empty string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   Parsing performs percent-decoding</a:t>
            </a:r>
          </a:p>
        </p:txBody>
      </p:sp>
      <p:pic>
        <p:nvPicPr>
          <p:cNvPr name="Picture 158" id="158">
            <a:hlinkClick r:id="rId159"/>
          </p:cNvPr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160" id="160">
            <a:hlinkClick r:id="rId161"/>
          </p:cNvPr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6451600" y="3746500"/>
            <a:ext cx="10820400" cy="1714500"/>
          </a:xfrm>
          <a:prstGeom prst="rect">
            <a:avLst/>
          </a:prstGeom>
        </p:spPr>
      </p:pic>
      <p:pic>
        <p:nvPicPr>
          <p:cNvPr name="Picture 162" id="162">
            <a:hlinkClick r:id="rId163"/>
          </p:cNvPr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6451600" y="9448800"/>
            <a:ext cx="10820400" cy="1714500"/>
          </a:xfrm>
          <a:prstGeom prst="rect">
            <a:avLst/>
          </a:prstGeom>
        </p:spPr>
      </p:pic>
      <p:pic>
        <p:nvPicPr>
          <p:cNvPr name="Picture 164" id="164">
            <a:hlinkClick r:id="rId165"/>
          </p:cNvPr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6451600" y="12128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11]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   Parsing performs percent-decoding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</p:txBody>
      </p:sp>
      <p:pic>
        <p:nvPicPr>
          <p:cNvPr name="Picture 168" id="168">
            <a:hlinkClick r:id="rId169"/>
          </p:cNvPr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  <p:pic>
        <p:nvPicPr>
          <p:cNvPr name="Picture 170" id="170">
            <a:hlinkClick r:id="rId171"/>
          </p:cNvPr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6451600" y="6781800"/>
            <a:ext cx="10820400" cy="1714500"/>
          </a:xfrm>
          <a:prstGeom prst="rect">
            <a:avLst/>
          </a:prstGeom>
        </p:spPr>
      </p:pic>
      <p:pic>
        <p:nvPicPr>
          <p:cNvPr name="Picture 172" id="172">
            <a:hlinkClick r:id="rId173"/>
          </p:cNvPr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6451600" y="10972800"/>
            <a:ext cx="10820400" cy="1714500"/>
          </a:xfrm>
          <a:prstGeom prst="rect">
            <a:avLst/>
          </a:prstGeom>
        </p:spPr>
      </p:pic>
      <p:pic>
        <p:nvPicPr>
          <p:cNvPr name="Picture 174" id="174">
            <a:hlinkClick r:id="rId175"/>
          </p:cNvPr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6451600" y="13639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Both values are parsed as U+FFFD (�)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&amp;&amp;&amp;&amp;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   Parsing splits on &amp; and discards empty strings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=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</p:txBody>
      </p:sp>
      <p:pic>
        <p:nvPicPr>
          <p:cNvPr name="Picture 178" id="178">
            <a:hlinkClick r:id="rId179"/>
          </p:cNvPr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  <p:pic>
        <p:nvPicPr>
          <p:cNvPr name="Picture 180" id="180">
            <a:hlinkClick r:id="rId181"/>
          </p:cNvPr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  <p:pic>
        <p:nvPicPr>
          <p:cNvPr name="Picture 182" id="182">
            <a:hlinkClick r:id="rId183"/>
          </p:cNvPr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6451600" y="10210800"/>
            <a:ext cx="10820400" cy="1714500"/>
          </a:xfrm>
          <a:prstGeom prst="rect">
            <a:avLst/>
          </a:prstGeom>
        </p:spPr>
      </p:pic>
      <p:pic>
        <p:nvPicPr>
          <p:cNvPr name="Picture 184" id="184">
            <a:hlinkClick r:id="rId185"/>
          </p:cNvPr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6451600" y="13639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Both parse as having an empty string value for a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=+</a:t>
            </a:r>
          </a:p>
          <a:p>
            <a:r>
              <a:rPr lang="en-US" sz="3700">
                <a:solidFill>
                  <a:srgbClr val="252525"/>
                </a:solidFill>
              </a:rPr>
              <a:t>   </a:t>
            </a:r>
            <a:r>
              <a:rPr lang="en-US" sz="3700">
                <a:solidFill>
                  <a:srgbClr val="252525"/>
                </a:solidFill>
              </a:rPr>
              <a:t>= &amp;</a:t>
            </a:r>
          </a:p>
          <a:p>
            <a:r>
              <a:rPr lang="en-US" sz="3700">
                <a:solidFill>
                  <a:srgbClr val="252525"/>
                </a:solidFill>
              </a:rPr>
              <a:t>      + and %20 are both parsed as U+0020 SPACE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7.  Caching</a:t>
            </a:r>
          </a:p>
        </p:txBody>
      </p:sp>
      <p:pic>
        <p:nvPicPr>
          <p:cNvPr name="Picture 188" id="188">
            <a:hlinkClick r:id="rId189"/>
          </p:cNvPr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190" id="190">
            <a:hlinkClick r:id="rId191"/>
          </p:cNvPr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  <p:pic>
        <p:nvPicPr>
          <p:cNvPr name="Picture 192" id="192">
            <a:hlinkClick r:id="rId193"/>
          </p:cNvPr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6451600" y="8699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If a cache [HTTP-CACHING] implements this specification, the</a:t>
            </a:r>
          </a:p>
          <a:p>
            <a:r>
              <a:rPr lang="en-US" sz="3700">
                <a:solidFill>
                  <a:srgbClr val="252525"/>
                </a:solidFill>
              </a:rPr>
              <a:t>   presented target URI requirement in Section 4 of [HTTP-CACHING] is</a:t>
            </a:r>
          </a:p>
          <a:p>
            <a:r>
              <a:rPr lang="en-US" sz="3700">
                <a:solidFill>
                  <a:srgbClr val="252525"/>
                </a:solidFill>
              </a:rPr>
              <a:t>   replaced with: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one of the following: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-  the presented target URI (Section 7.1 of [HTTP]) and that of</a:t>
            </a:r>
          </a:p>
          <a:p>
            <a:r>
              <a:rPr lang="en-US" sz="3700">
                <a:solidFill>
                  <a:srgbClr val="252525"/>
                </a:solidFill>
              </a:rPr>
              <a:t>         the stored response match, or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-  the presented target URI and that of the stored response are</a:t>
            </a:r>
          </a:p>
          <a:p>
            <a:r>
              <a:rPr lang="en-US" sz="3700">
                <a:solidFill>
                  <a:srgbClr val="252525"/>
                </a:solidFill>
              </a:rPr>
              <a:t>         equivalent modulo search variance (Section 6), given the</a:t>
            </a:r>
          </a:p>
          <a:p>
            <a:r>
              <a:rPr lang="en-US" sz="3700">
                <a:solidFill>
                  <a:srgbClr val="252525"/>
                </a:solidFill>
              </a:rPr>
              <a:t>         variance obtained (Section 5.2) from the stored response.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Servers SHOULD send no more than one distinct non-empty value for the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No-Vary-Search field in response to requests for a given pathname.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Cache implementations MAY fail to reuse a stored response whose</a:t>
            </a:r>
          </a:p>
          <a:p>
            <a:r>
              <a:rPr lang="en-US" sz="3700">
                <a:solidFill>
                  <a:srgbClr val="252525"/>
                </a:solidFill>
              </a:rPr>
              <a:t>   target URI matches _only_ modulo URL search variance, if the cache</a:t>
            </a:r>
          </a:p>
          <a:p>
            <a:r>
              <a:rPr lang="en-US" sz="3700">
                <a:solidFill>
                  <a:srgbClr val="252525"/>
                </a:solidFill>
              </a:rPr>
              <a:t>   has more recently stored a response which: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has a target URI which is equal to the presented target URI,</a:t>
            </a:r>
          </a:p>
          <a:p>
            <a:r>
              <a:rPr lang="en-US" sz="3700">
                <a:solidFill>
                  <a:srgbClr val="252525"/>
                </a:solidFill>
              </a:rPr>
              <a:t>      excluding the query, and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*  has a non-empty value for the No-Vary-Search field, and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12]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*  has a No-Vary-Search field value different from the stored</a:t>
            </a:r>
          </a:p>
          <a:p>
            <a:r>
              <a:rPr lang="en-US" sz="3700">
                <a:solidFill>
                  <a:srgbClr val="252525"/>
                </a:solidFill>
              </a:rPr>
              <a:t>      response being considered for reuse.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Caches aren't required to reuse stored responses, generally.</a:t>
            </a:r>
          </a:p>
          <a:p>
            <a:r>
              <a:rPr lang="en-US" sz="3700">
                <a:solidFill>
                  <a:srgbClr val="252525"/>
                </a:solidFill>
              </a:rPr>
              <a:t>      |  However, the above expressly empowers caches to, if it is</a:t>
            </a:r>
          </a:p>
          <a:p>
            <a:r>
              <a:rPr lang="en-US" sz="3700">
                <a:solidFill>
                  <a:srgbClr val="252525"/>
                </a:solidFill>
              </a:rPr>
              <a:t>      |  advantageous for performance or other reasons, search a smaller</a:t>
            </a:r>
          </a:p>
          <a:p>
            <a:r>
              <a:rPr lang="en-US" sz="3700">
                <a:solidFill>
                  <a:srgbClr val="252525"/>
                </a:solidFill>
              </a:rPr>
              <a:t>      |  number of stored responses.  Such a cache might take steps like</a:t>
            </a:r>
          </a:p>
          <a:p>
            <a:r>
              <a:rPr lang="en-US" sz="3700">
                <a:solidFill>
                  <a:srgbClr val="252525"/>
                </a:solidFill>
              </a:rPr>
              <a:t>      |  the following to identify a stored response (before checking</a:t>
            </a:r>
          </a:p>
          <a:p>
            <a:r>
              <a:rPr lang="en-US" sz="3700">
                <a:solidFill>
                  <a:srgbClr val="252525"/>
                </a:solidFill>
              </a:rPr>
              <a:t>      |  the other conditions in Section 4 of [HTTP-CACHING]):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1.  Let exactMatch be cache[presentedTargetURI].  If it is a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stored response that can be 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reused, return it.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2.  Let targetPath be presentedTargetURI, with query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parameters removed.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3.  Let lastNVS be mostRecentNVS[targetPath].  If it does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not exist, return null.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4.  Let simplifiedURL be the result of simplifying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presentedTargetURI according to lastNVS (by removing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query parameters which are not significant, and stable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sorting parameters by key, if key order is to be be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ignored).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5.  Let nvsMatch be 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cache[simplifiedURL].  If it does not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exist, return null.  (It is assumed that this was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written when storing in the cache, in addition to the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exact URL.)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6.  Let searchVariance be obtained (Section 5.2) from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nvsMatch.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7.  If nvsMatch's target URI and presentedTargetURI are not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equivalent modulo search variance (Section 6) given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searchVariance, then return null.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8.  If nvsMatch is a stored response that can be reused,</a:t>
            </a:r>
          </a:p>
          <a:p>
            <a:r>
              <a:rPr lang="en-US" sz="3700">
                <a:solidFill>
                  <a:srgbClr val="252525"/>
                </a:solidFill>
              </a:rPr>
              <a:t>      |         return it.  Otherwise, return null.</a:t>
            </a:r>
          </a:p>
          <a:p>
            <a:r>
              <a:rPr lang="en-US" sz="3700">
                <a:solidFill>
                  <a:srgbClr val="252525"/>
                </a:solidFill>
              </a:rPr>
              <a:t>      |  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|  Such implementations might "miss" some stored responses that</a:t>
            </a:r>
          </a:p>
          <a:p>
            <a:r>
              <a:rPr lang="en-US" sz="3700">
                <a:solidFill>
                  <a:srgbClr val="252525"/>
                </a:solidFill>
              </a:rPr>
              <a:t>      |  could otherwise have been reused.  It is therefore useful for</a:t>
            </a:r>
          </a:p>
          <a:p>
            <a:r>
              <a:rPr lang="en-US" sz="3700">
                <a:solidFill>
                  <a:srgbClr val="252525"/>
                </a:solidFill>
              </a:rPr>
              <a:t>      |  servers to avoid sending different values for the No-Vary-</a:t>
            </a:r>
          </a:p>
          <a:p>
            <a:r>
              <a:rPr lang="en-US" sz="3700">
                <a:solidFill>
                  <a:srgbClr val="252525"/>
                </a:solidFill>
              </a:rPr>
              <a:t>      |  Search field when possible.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13]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8.  Security Considerations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The main risk to be aware of is the impact of mismatched URLs.  In</a:t>
            </a:r>
          </a:p>
          <a:p>
            <a:r>
              <a:rPr lang="en-US" sz="3700">
                <a:solidFill>
                  <a:srgbClr val="252525"/>
                </a:solidFill>
              </a:rPr>
              <a:t>   particular, this could cause the user to see a response that was</a:t>
            </a:r>
          </a:p>
          <a:p>
            <a:r>
              <a:rPr lang="en-US" sz="3700">
                <a:solidFill>
                  <a:srgbClr val="252525"/>
                </a:solidFill>
              </a:rPr>
              <a:t>   originally fetched from a URL different from the one displayed when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they hovered a link, or the URL displayed in the URL bar.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However, since the impact is limited to query parameters, this does</a:t>
            </a:r>
          </a:p>
          <a:p>
            <a:r>
              <a:rPr lang="en-US" sz="3700">
                <a:solidFill>
                  <a:srgbClr val="252525"/>
                </a:solidFill>
              </a:rPr>
              <a:t>   not cross the relevant security boundary, which is the origin</a:t>
            </a:r>
          </a:p>
          <a:p>
            <a:r>
              <a:rPr lang="en-US" sz="3700">
                <a:solidFill>
                  <a:srgbClr val="252525"/>
                </a:solidFill>
              </a:rPr>
              <a:t>   (</a:t>
            </a:r>
            <a:r>
              <a:rPr lang="en-US" sz="3700">
                <a:solidFill>
                  <a:srgbClr val="252525"/>
                </a:solidFill>
              </a:rPr>
              <a:t>)</a:t>
            </a:r>
          </a:p>
          <a:p>
            <a:r>
              <a:rPr lang="en-US" sz="3700">
                <a:solidFill>
                  <a:srgbClr val="252525"/>
                </a:solidFill>
              </a:rPr>
              <a:t>   [HTML].  (Or perhaps just the host</a:t>
            </a:r>
          </a:p>
          <a:p>
            <a:r>
              <a:rPr lang="en-US" sz="3700">
                <a:solidFill>
                  <a:srgbClr val="252525"/>
                </a:solidFill>
              </a:rPr>
              <a:t>   (</a:t>
            </a:r>
            <a:r>
              <a:rPr lang="en-US" sz="3700">
                <a:solidFill>
                  <a:srgbClr val="252525"/>
                </a:solidFill>
              </a:rPr>
              <a:t>), from the perspective</a:t>
            </a:r>
          </a:p>
          <a:p>
            <a:r>
              <a:rPr lang="en-US" sz="3700">
                <a:solidFill>
                  <a:srgbClr val="252525"/>
                </a:solidFill>
              </a:rPr>
              <a:t>   of web browser security UI (</a:t>
            </a:r>
          </a:p>
        </p:txBody>
      </p:sp>
      <p:pic>
        <p:nvPicPr>
          <p:cNvPr name="Picture 208" id="208">
            <a:hlinkClick r:id="rId209"/>
          </p:cNvPr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6451600" y="1917700"/>
            <a:ext cx="10820400" cy="1714500"/>
          </a:xfrm>
          <a:prstGeom prst="rect">
            <a:avLst/>
          </a:prstGeom>
        </p:spPr>
      </p:pic>
      <p:pic>
        <p:nvPicPr>
          <p:cNvPr name="Picture 210" id="210">
            <a:hlinkClick r:id="rId211"/>
          </p:cNvPr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6451600" y="6870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-</a:t>
            </a:r>
          </a:p>
          <a:p>
            <a:r>
              <a:rPr lang="en-US" sz="3700">
                <a:solidFill>
                  <a:srgbClr val="252525"/>
                </a:solidFill>
              </a:rPr>
              <a:t>   rendering-simplification).  [WHATWG-URL]) Indeed, we have already</a:t>
            </a:r>
          </a:p>
          <a:p>
            <a:r>
              <a:rPr lang="en-US" sz="3700">
                <a:solidFill>
                  <a:srgbClr val="252525"/>
                </a:solidFill>
              </a:rPr>
              <a:t>   given origins complete control over how they present the (URL,</a:t>
            </a:r>
          </a:p>
          <a:p>
            <a:r>
              <a:rPr lang="en-US" sz="3700">
                <a:solidFill>
                  <a:srgbClr val="252525"/>
                </a:solidFill>
              </a:rPr>
              <a:t>   reponse body) pair, including on the client side via technology such</a:t>
            </a:r>
          </a:p>
          <a:p>
            <a:r>
              <a:rPr lang="en-US" sz="3700">
                <a:solidFill>
                  <a:srgbClr val="252525"/>
                </a:solidFill>
              </a:rPr>
              <a:t>   as history.replaceState() (</a:t>
            </a:r>
          </a:p>
          <a:p>
            <a:r>
              <a:rPr lang="en-US" sz="3700">
                <a:solidFill>
                  <a:srgbClr val="252525"/>
                </a:solidFill>
              </a:rPr>
              <a:t>   nav-history-apis.html#dom-history-replacestate) or service workers.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9.  Privacy Considerations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This proposal is adjacent to the highly-privacy-relevant space of</a:t>
            </a:r>
          </a:p>
        </p:txBody>
      </p:sp>
      <p:pic>
        <p:nvPicPr>
          <p:cNvPr name="Picture 214" id="214">
            <a:hlinkClick r:id="rId215"/>
          </p:cNvPr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6451600" y="11049000"/>
            <a:ext cx="10820400" cy="1714500"/>
          </a:xfrm>
          <a:prstGeom prst="rect">
            <a:avLst/>
          </a:prstGeom>
        </p:spPr>
      </p:pic>
      <p:pic>
        <p:nvPicPr>
          <p:cNvPr name="Picture 216" id="216">
            <a:hlinkClick r:id="rId217"/>
          </p:cNvPr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navigational tracking (</a:t>
            </a:r>
            <a:r>
              <a:rPr lang="en-US" sz="3700">
                <a:solidFill>
                  <a:srgbClr val="252525"/>
                </a:solidFill>
              </a:rPr>
              <a:t>-</a:t>
            </a:r>
          </a:p>
          <a:p>
            <a:r>
              <a:rPr lang="en-US" sz="3700">
                <a:solidFill>
                  <a:srgbClr val="252525"/>
                </a:solidFill>
              </a:rPr>
              <a:t>   mitigations/#terminology), which often uses query parameters to pass</a:t>
            </a:r>
          </a:p>
          <a:p>
            <a:r>
              <a:rPr lang="en-US" sz="3700">
                <a:solidFill>
                  <a:srgbClr val="252525"/>
                </a:solidFill>
              </a:rPr>
              <a:t>   along user identifiers.  However, we believe this proposal itself</a:t>
            </a:r>
          </a:p>
          <a:p>
            <a:r>
              <a:rPr lang="en-US" sz="3700">
                <a:solidFill>
                  <a:srgbClr val="252525"/>
                </a:solidFill>
              </a:rPr>
              <a:t>   does not have privacy impacts.  It does not interfere with existing</a:t>
            </a:r>
          </a:p>
          <a:p>
            <a:r>
              <a:rPr lang="en-US" sz="3700">
                <a:solidFill>
                  <a:srgbClr val="252525"/>
                </a:solidFill>
              </a:rPr>
              <a:t>   navigational tracking mitigations (</a:t>
            </a:r>
            <a:r>
              <a:rPr lang="en-US" sz="3700">
                <a:solidFill>
                  <a:srgbClr val="252525"/>
                </a:solidFill>
              </a:rPr>
              <a:t>-</a:t>
            </a:r>
          </a:p>
          <a:p>
            <a:r>
              <a:rPr lang="en-US" sz="3700">
                <a:solidFill>
                  <a:srgbClr val="252525"/>
                </a:solidFill>
              </a:rPr>
              <a:t>   tracking-mitigations/#deployed-mitigations), or any known future ones</a:t>
            </a:r>
          </a:p>
          <a:p>
            <a:r>
              <a:rPr lang="en-US" sz="3700">
                <a:solidFill>
                  <a:srgbClr val="252525"/>
                </a:solidFill>
              </a:rPr>
              <a:t>   being contemplated.  Indeed, if a page were to encode user</a:t>
            </a:r>
          </a:p>
        </p:txBody>
      </p:sp>
      <p:pic>
        <p:nvPicPr>
          <p:cNvPr name="Picture 220" id="220">
            <a:hlinkClick r:id="rId221"/>
          </p:cNvPr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6451600" y="12839700"/>
            <a:ext cx="10820400" cy="1714500"/>
          </a:xfrm>
          <a:prstGeom prst="rect">
            <a:avLst/>
          </a:prstGeom>
        </p:spPr>
      </p:pic>
      <p:pic>
        <p:nvPicPr>
          <p:cNvPr name="Picture 222" id="222">
            <a:hlinkClick r:id="rId223"/>
          </p:cNvPr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identifiers in its URL, the only ability this proposal gives is to</a:t>
            </a:r>
          </a:p>
          <a:p>
            <a:r>
              <a:rPr lang="en-US" sz="3700">
                <a:solidFill>
                  <a:srgbClr val="252525"/>
                </a:solidFill>
              </a:rPr>
              <a:t>   _reduce_ such user tracking by preventing server processing of such</a:t>
            </a:r>
          </a:p>
          <a:p>
            <a:r>
              <a:rPr lang="en-US" sz="3700">
                <a:solidFill>
                  <a:srgbClr val="252525"/>
                </a:solidFill>
              </a:rPr>
              <a:t>   user IDs (since the server is bypassed in favor of the cache).</a:t>
            </a:r>
          </a:p>
          <a:p>
            <a:r>
              <a:rPr lang="en-US" sz="3700">
                <a:solidFill>
                  <a:srgbClr val="252525"/>
                </a:solidFill>
              </a:rPr>
              <a:t>   [NAV-TRACKING-MITIGATIONS]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10.  IANA Considerations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IANA should do the following: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10.1.  HTTP Field Names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Enter the following into the Hypertext Transfer Protocol (HTTP) Field</a:t>
            </a:r>
          </a:p>
          <a:p>
            <a:r>
              <a:rPr lang="en-US" sz="3700">
                <a:solidFill>
                  <a:srgbClr val="252525"/>
                </a:solidFill>
              </a:rPr>
              <a:t>   Name Registry: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Field Name  No-Vary-Search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Status  permanent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Structured Type  Dictionary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14]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Reference  this document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Comments  (none)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11.  References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11.1.  Normative References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[FETCH]    van Kesteren, A., "Fetch Living Standard", n.d.,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8" id="228"/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8" id="2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&gt;.  WHATWG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[HTTP]     Fielding, R., Ed., Nottingham, M., Ed., and J. Reschke,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Ed., "HTTP Semantics", STD 97, RFC 9110,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DOI 10.17487/RFC9110, June 2022,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[HTTP-CACHING]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Fielding, R., Ed., Nottingham, M., Ed., and J. Reschke,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Ed., "HTTP Caching", STD 98, RFC 9111,</a:t>
            </a:r>
          </a:p>
        </p:txBody>
      </p:sp>
      <p:pic>
        <p:nvPicPr>
          <p:cNvPr name="Picture 230" id="230">
            <a:hlinkClick r:id="rId231"/>
          </p:cNvPr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6451600" y="10172700"/>
            <a:ext cx="10820400" cy="1714500"/>
          </a:xfrm>
          <a:prstGeom prst="rect">
            <a:avLst/>
          </a:prstGeom>
        </p:spPr>
      </p:pic>
      <p:pic>
        <p:nvPicPr>
          <p:cNvPr name="Picture 232" id="232">
            <a:hlinkClick r:id="rId233"/>
          </p:cNvPr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DOI 10.17487/RFC9111, June 2022,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[RFC2119]  Bradner, S., "Key words for use in RFCs to Indicate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Requirement Levels", BCP 14, RFC 2119,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DOI 10.17487/RFC2119, March 1997,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[RFC8174]  Leiba, B., "Ambiguity of Uppercase vs Lowercase in RFC</a:t>
            </a:r>
          </a:p>
        </p:txBody>
      </p:sp>
      <p:pic>
        <p:nvPicPr>
          <p:cNvPr name="Picture 236" id="236">
            <a:hlinkClick r:id="rId237"/>
          </p:cNvPr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6451600" y="12839700"/>
            <a:ext cx="10820400" cy="1714500"/>
          </a:xfrm>
          <a:prstGeom prst="rect">
            <a:avLst/>
          </a:prstGeom>
        </p:spPr>
      </p:pic>
      <p:pic>
        <p:nvPicPr>
          <p:cNvPr name="Picture 238" id="238">
            <a:hlinkClick r:id="rId239"/>
          </p:cNvPr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0" id="240"/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0" id="2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2119 Key Words", BCP 14, RFC 8174, DOI 10.17487/RFC8174,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May 2017,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[STRUCTURED-FIELDS]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Nottingham, M. and P. Kamp, "Structured Field Values for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HTTP", RFC 8941, DOI 10.17487/RFC8941, February 2021,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[WHATWG-ENCODING]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van Kesteren, A., "Encoding Living Standard", n.d.,</a:t>
            </a:r>
          </a:p>
        </p:txBody>
      </p:sp>
      <p:pic>
        <p:nvPicPr>
          <p:cNvPr name="Picture 242" id="242">
            <a:hlinkClick r:id="rId243"/>
          </p:cNvPr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6451600" y="12839700"/>
            <a:ext cx="10820400" cy="1714500"/>
          </a:xfrm>
          <a:prstGeom prst="rect">
            <a:avLst/>
          </a:prstGeom>
        </p:spPr>
      </p:pic>
      <p:pic>
        <p:nvPicPr>
          <p:cNvPr name="Picture 244" id="244">
            <a:hlinkClick r:id="rId245"/>
          </p:cNvPr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  WHATWG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[WHATWG-INFRA]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van Kesteren, A. and D. Denicola, "Infra Living Standard",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n.d., &lt;</a:t>
            </a:r>
            <a:r>
              <a:rPr lang="en-US" sz="3700">
                <a:solidFill>
                  <a:srgbClr val="252525"/>
                </a:solidFill>
              </a:rPr>
              <a:t>&gt;.  WHATWG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[WHATWG-URL]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van Kesteren, A., "URL Living Standard", n.d.,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</a:p>
        </p:txBody>
      </p:sp>
      <p:pic>
        <p:nvPicPr>
          <p:cNvPr name="Picture 248" id="248">
            <a:hlinkClick r:id="rId249"/>
          </p:cNvPr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6451600" y="11328400"/>
            <a:ext cx="10820400" cy="1714500"/>
          </a:xfrm>
          <a:prstGeom prst="rect">
            <a:avLst/>
          </a:prstGeom>
        </p:spPr>
      </p:pic>
      <p:pic>
        <p:nvPicPr>
          <p:cNvPr name="Picture 250" id="250">
            <a:hlinkClick r:id="rId251"/>
          </p:cNvPr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  <p:pic>
        <p:nvPicPr>
          <p:cNvPr name="Picture 252" id="252">
            <a:hlinkClick r:id="rId253"/>
          </p:cNvPr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&gt;.  WHATWG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15]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11.2.  Informative References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[HTML]     van Kesteren, A., "HTML Living Standard", n.d.,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  WHATWG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[NAV-TRACKING-MITIGATIONS]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Snyder, P. and J. Yasskin, "Navigational-Tracking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Mitigations", n.d.,</a:t>
            </a:r>
          </a:p>
        </p:txBody>
      </p:sp>
      <p:pic>
        <p:nvPicPr>
          <p:cNvPr name="Picture 256" id="256">
            <a:hlinkClick r:id="rId257"/>
          </p:cNvPr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W3C Privacy CG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Acknowledgments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TODO acknowledge.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Index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D E O P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D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default URL search variance  *_Section 4, Paragraph 3_*;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5.1, Paragraph 2.1.1; Section 5.1, Paragraph</a:t>
            </a:r>
          </a:p>
        </p:txBody>
      </p:sp>
      <p:pic>
        <p:nvPicPr>
          <p:cNvPr name="Picture 260" id="260">
            <a:hlinkClick r:id="rId261"/>
          </p:cNvPr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6451600" y="10566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2" id="262"/>
          <p:cNvPicPr>
            <a:picLocks noChangeAspect="true"/>
          </p:cNvPicPr>
          <p:nvPr/>
        </p:nvPicPr>
        <p:blipFill>
          <a:blip r:embed="rId2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2" id="2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2.4.2.1.1; Section 5.1, Paragraph 2.5.2.2.2.1.1;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5.1, Paragraph 2.5.2.3.1; Section 5.1, Paragraph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2.6.2.1.1; Section 5.1, Paragraph 2.6.2.2.1; Section 5.1,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Paragraph 2.6.2.3.1; Section 5.1, Paragraph 3.1;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5.2.1, Paragraph 3; Section 6, Paragraph 2.2.1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equivalent modulo search variance  *_Section 6, Paragraph 1_*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O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obtain a URL search variance  Section 3, Paragraph 5.1;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4, Paragraph 4; *_Section 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4" id="264"/>
          <p:cNvPicPr>
            <a:picLocks noChangeAspect="true"/>
          </p:cNvPicPr>
          <p:nvPr/>
        </p:nvPicPr>
        <p:blipFill>
          <a:blip r:embed="rId2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4" id="2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5.2, Paragraph 1_*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P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parse a key  Section 5.1, Paragraph 2.5.2.2.2.2.1; Section 5.1,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Paragraph 2.6.2.4.1; *_Section 5.3, Paragraph 1_*;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5.3.1, Paragraph 1</a:t>
            </a:r>
          </a:p>
          <a:p>
            <a:r>
              <a:rPr lang="en-US" sz="3700">
                <a:solidFill>
                  <a:srgbClr val="252525"/>
                </a:solidFill>
              </a:rPr>
              <a:t>         parse a URL search variance  *_Section 5.1, Paragraph 1_*;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Section 5.2, Paragraph 2.2.1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Authors' Addresses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16]</a:t>
            </a:r>
          </a:p>
          <a:p>
            <a:r>
              <a:rPr lang="en-US" sz="3700">
                <a:solidFill>
                  <a:srgbClr val="252525"/>
                </a:solidFill>
              </a:rPr>
              <a:t>Internet-Draft               No-Vary-Search                   March 2025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Domenic Denicola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6" id="266"/>
          <p:cNvPicPr>
            <a:picLocks noChangeAspect="true"/>
          </p:cNvPicPr>
          <p:nvPr/>
        </p:nvPicPr>
        <p:blipFill>
          <a:blip r:embed="rId2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6" id="2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Google LLC</a:t>
            </a:r>
          </a:p>
          <a:p>
            <a:r>
              <a:rPr lang="en-US" sz="3700">
                <a:solidFill>
                  <a:srgbClr val="252525"/>
                </a:solidFill>
              </a:rPr>
              <a:t>   Email: d@domenic.me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Jeremy Roman</a:t>
            </a:r>
          </a:p>
          <a:p>
            <a:r>
              <a:rPr lang="en-US" sz="3700">
                <a:solidFill>
                  <a:srgbClr val="252525"/>
                </a:solidFill>
              </a:rPr>
              <a:t>   Google LLC</a:t>
            </a:r>
          </a:p>
          <a:p>
            <a:r>
              <a:rPr lang="en-US" sz="3700">
                <a:solidFill>
                  <a:srgbClr val="252525"/>
                </a:solidFill>
              </a:rPr>
              <a:t>   Email: jbroman@chromium.org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Denicola &amp; Roman        Expires 22 September 2025              [Page 17]</a:t>
            </a:r>
          </a:p>
          <a:p>
            <a:r>
              <a:rPr lang="en-US" sz="3700">
                <a:solidFill>
                  <a:srgbClr val="252525"/>
                </a:solidFill>
              </a:rPr>
              <a:t>IETF IESG IAB IRTF IETF LLC IETF Trust RFC Editor IANA Privacy Statement</a:t>
            </a:r>
          </a:p>
          <a:p>
            <a:r>
              <a:rPr lang="en-US" sz="3700">
                <a:solidFill>
                  <a:srgbClr val="252525"/>
                </a:solidFill>
              </a:rPr>
              <a:t>About IETF Datatracker Version 12.44.0 (release - f5df667) System Status  Report a bug: GitHub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