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viewProps" Target="viewProps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" Type="http://schemas.openxmlformats.org/officeDocument/2006/relationships/theme" Target="theme/theme1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" Type="http://schemas.openxmlformats.org/officeDocument/2006/relationships/tableStyles" Target="tableStyles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hyperlink" TargetMode="External" Target="http://wasd.vsm.com.au/WASD/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Relationship Id="rId14" Type="http://schemas.openxmlformats.org/officeDocument/2006/relationships/image" Target="../media/image14.png"/><Relationship Id="rId15" Type="http://schemas.openxmlformats.org/officeDocument/2006/relationships/hyperlink" TargetMode="External" Target="http://wasd.vsm.com.au/ht_root/doc/env/env_0400.html#43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" Type="http://schemas.openxmlformats.org/officeDocument/2006/relationships/image" Target="../media/image16.png"/><Relationship Id="rId18" Type="http://schemas.openxmlformats.org/officeDocument/2006/relationships/image" Target="../media/image18.png"/><Relationship Id="rId19" Type="http://schemas.openxmlformats.org/officeDocument/2006/relationships/hyperlink" TargetMode="External" Target="http://wasd.vsm.com.au/tree/"/><Relationship Id="rId20" Type="http://schemas.openxmlformats.org/officeDocument/2006/relationships/image" Target="../media/image20.png"/><Relationship Id="rId21" Type="http://schemas.openxmlformats.org/officeDocument/2006/relationships/hyperlink" TargetMode="External" Target="http://wasd.vsm.com.au/ht_root/doc/env/env_0400.ht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" Type="http://schemas.openxmlformats.org/officeDocument/2006/relationships/image" Target="../media/image22.png"/><Relationship Id="rId24" Type="http://schemas.openxmlformats.org/officeDocument/2006/relationships/image" Target="../media/image24.png"/><Relationship Id="rId25" Type="http://schemas.openxmlformats.org/officeDocument/2006/relationships/hyperlink" TargetMode="External" Target="http://wasd.vsm.com.au/httpd/-/updhelp.html"/><Relationship Id="rId26" Type="http://schemas.openxmlformats.org/officeDocument/2006/relationships/image" Target="../media/image26.png"/><Relationship Id="rId27" Type="http://schemas.openxmlformats.org/officeDocument/2006/relationships/hyperlink" TargetMode="External" Target="http://wasd.vsm.com.au/ht_root/doc/env/env_0700.html#97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28.png"/><Relationship Id="rId30" Type="http://schemas.openxmlformats.org/officeDocument/2006/relationships/image" Target="../media/image30.png"/><Relationship Id="rId31" Type="http://schemas.openxmlformats.org/officeDocument/2006/relationships/hyperlink" TargetMode="External" Target="http://wasd.vsm.com.au/ht_root/doc/htd/htd_0600.html#98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" Type="http://schemas.openxmlformats.org/officeDocument/2006/relationships/image" Target="../media/image3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" Type="http://schemas.openxmlformats.org/officeDocument/2006/relationships/image" Target="../media/image3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" Type="http://schemas.openxmlformats.org/officeDocument/2006/relationships/image" Target="../media/image36.png"/><Relationship Id="rId38" Type="http://schemas.openxmlformats.org/officeDocument/2006/relationships/image" Target="../media/image38.png"/><Relationship Id="rId39" Type="http://schemas.openxmlformats.org/officeDocument/2006/relationships/hyperlink" TargetMode="External" Target="http://wasd.vsm.com.au/ht_root/doc/htd/htd_2100.html#364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" Type="http://schemas.openxmlformats.org/officeDocument/2006/relationships/image" Target="../media/image4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" Type="http://schemas.openxmlformats.org/officeDocument/2006/relationships/image" Target="../media/image4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4" Type="http://schemas.openxmlformats.org/officeDocument/2006/relationships/image" Target="../media/image4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6" Type="http://schemas.openxmlformats.org/officeDocument/2006/relationships/image" Target="../media/image4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" Type="http://schemas.openxmlformats.org/officeDocument/2006/relationships/image" Target="../media/image48.png"/><Relationship Id="rId50" Type="http://schemas.openxmlformats.org/officeDocument/2006/relationships/image" Target="../media/image50.png"/><Relationship Id="rId51" Type="http://schemas.openxmlformats.org/officeDocument/2006/relationships/hyperlink" TargetMode="External" Target="http://wasd.vsm.com.au/ht_root/doc/htd/htd_0600.html#99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" Type="http://schemas.openxmlformats.org/officeDocument/2006/relationships/image" Target="../media/image5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4" Type="http://schemas.openxmlformats.org/officeDocument/2006/relationships/image" Target="../media/image54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6" Type="http://schemas.openxmlformats.org/officeDocument/2006/relationships/image" Target="../media/image56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8" Type="http://schemas.openxmlformats.org/officeDocument/2006/relationships/image" Target="../media/image58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0" Type="http://schemas.openxmlformats.org/officeDocument/2006/relationships/image" Target="../media/image60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2" Type="http://schemas.openxmlformats.org/officeDocument/2006/relationships/image" Target="../media/image6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4" Type="http://schemas.openxmlformats.org/officeDocument/2006/relationships/image" Target="../media/image64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6" Type="http://schemas.openxmlformats.org/officeDocument/2006/relationships/image" Target="../media/image66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8" Type="http://schemas.openxmlformats.org/officeDocument/2006/relationships/image" Target="../media/image68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0" Type="http://schemas.openxmlformats.org/officeDocument/2006/relationships/image" Target="../media/image70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2" Type="http://schemas.openxmlformats.org/officeDocument/2006/relationships/image" Target="../media/image72.png"/><Relationship Id="rId74" Type="http://schemas.openxmlformats.org/officeDocument/2006/relationships/image" Target="../media/image74.png"/><Relationship Id="rId75" Type="http://schemas.openxmlformats.org/officeDocument/2006/relationships/hyperlink" TargetMode="External" Target="http://wasd.vsm.com.au/ht_root/src/perl/readmore.ht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6" Type="http://schemas.openxmlformats.org/officeDocument/2006/relationships/image" Target="../media/image76.png"/><Relationship Id="rId78" Type="http://schemas.openxmlformats.org/officeDocument/2006/relationships/image" Target="../media/image78.png"/><Relationship Id="rId79" Type="http://schemas.openxmlformats.org/officeDocument/2006/relationships/hyperlink" TargetMode="External" Target="http://wasd.vsm.com.au/plrte/PerlRTE_example1/%25x%25x%25x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0" Type="http://schemas.openxmlformats.org/officeDocument/2006/relationships/image" Target="../media/image80.png"/><Relationship Id="rId82" Type="http://schemas.openxmlformats.org/officeDocument/2006/relationships/image" Target="../media/image82.png"/><Relationship Id="rId83" Type="http://schemas.openxmlformats.org/officeDocument/2006/relationships/hyperlink" TargetMode="External" Target="http://wasd.vsm.com.au/script/print.com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4" Type="http://schemas.openxmlformats.org/officeDocument/2006/relationships/image" Target="../media/image84.png"/><Relationship Id="rId86" Type="http://schemas.openxmlformats.org/officeDocument/2006/relationships/image" Target="../media/image86.png"/><Relationship Id="rId87" Type="http://schemas.openxmlformats.org/officeDocument/2006/relationships/hyperlink" TargetMode="External" Target="http://wasd.vsm.com.au/ht_root/doc/htd/htd_0600.html#98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8" Type="http://schemas.openxmlformats.org/officeDocument/2006/relationships/image" Target="../media/image88.png"/><Relationship Id="rId90" Type="http://schemas.openxmlformats.org/officeDocument/2006/relationships/image" Target="../media/image90.png"/><Relationship Id="rId91" Type="http://schemas.openxmlformats.org/officeDocument/2006/relationships/hyperlink" TargetMode="External" Target="http://wasd.vsm.com.au/WASD/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2" Type="http://schemas.openxmlformats.org/officeDocument/2006/relationships/image" Target="../media/image92.png"/><Relationship Id="rId94" Type="http://schemas.openxmlformats.org/officeDocument/2006/relationships/image" Target="../media/image94.png"/><Relationship Id="rId95" Type="http://schemas.openxmlformats.org/officeDocument/2006/relationships/hyperlink" TargetMode="External" Target="http://wasd.vsm.com.au/ht_root/doc/misc/wasd_advisory_020925.txt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6" Type="http://schemas.openxmlformats.org/officeDocument/2006/relationships/image" Target="../media/image96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8" Type="http://schemas.openxmlformats.org/officeDocument/2006/relationships/image" Target="../media/image98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0" Type="http://schemas.openxmlformats.org/officeDocument/2006/relationships/image" Target="../media/image100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2" Type="http://schemas.openxmlformats.org/officeDocument/2006/relationships/image" Target="../media/image102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4" Type="http://schemas.openxmlformats.org/officeDocument/2006/relationships/image" Target="../media/image104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6" Type="http://schemas.openxmlformats.org/officeDocument/2006/relationships/image" Target="../media/image106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8" Type="http://schemas.openxmlformats.org/officeDocument/2006/relationships/image" Target="../media/image108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0" Type="http://schemas.openxmlformats.org/officeDocument/2006/relationships/image" Target="../media/image110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2" Type="http://schemas.openxmlformats.org/officeDocument/2006/relationships/image" Target="../media/image112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4" Type="http://schemas.openxmlformats.org/officeDocument/2006/relationships/image" Target="../media/image114.png"/><Relationship Id="rId116" Type="http://schemas.openxmlformats.org/officeDocument/2006/relationships/image" Target="../media/image116.png"/><Relationship Id="rId117" Type="http://schemas.openxmlformats.org/officeDocument/2006/relationships/hyperlink" TargetMode="External" Target="http://wasd.vsm.com.au/ht_root/doc/htd/htd_1200.ht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8" Type="http://schemas.openxmlformats.org/officeDocument/2006/relationships/image" Target="../media/image118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0" Type="http://schemas.openxmlformats.org/officeDocument/2006/relationships/image" Target="../media/image120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2" Type="http://schemas.openxmlformats.org/officeDocument/2006/relationships/image" Target="../media/image122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4" Type="http://schemas.openxmlformats.org/officeDocument/2006/relationships/image" Target="../media/image124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6" Type="http://schemas.openxmlformats.org/officeDocument/2006/relationships/image" Target="../media/image126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8" Type="http://schemas.openxmlformats.org/officeDocument/2006/relationships/image" Target="../media/image128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0" Type="http://schemas.openxmlformats.org/officeDocument/2006/relationships/image" Target="../media/image130.png"/><Relationship Id="rId132" Type="http://schemas.openxmlformats.org/officeDocument/2006/relationships/image" Target="../media/image132.png"/><Relationship Id="rId133" Type="http://schemas.openxmlformats.org/officeDocument/2006/relationships/hyperlink" TargetMode="External" Target="http://gailly.net"/><Relationship Id="rId134" Type="http://schemas.openxmlformats.org/officeDocument/2006/relationships/image" Target="../media/image134.png"/><Relationship Id="rId135" Type="http://schemas.openxmlformats.org/officeDocument/2006/relationships/hyperlink" TargetMode="External" Target="http://jl.gailly.net/jloup.asc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6" Type="http://schemas.openxmlformats.org/officeDocument/2006/relationships/image" Target="../media/image136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8" Type="http://schemas.openxmlformats.org/officeDocument/2006/relationships/image" Target="../media/image138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0" Type="http://schemas.openxmlformats.org/officeDocument/2006/relationships/image" Target="../media/image140.png"/><Relationship Id="rId142" Type="http://schemas.openxmlformats.org/officeDocument/2006/relationships/image" Target="../media/image142.png"/><Relationship Id="rId143" Type="http://schemas.openxmlformats.org/officeDocument/2006/relationships/hyperlink" TargetMode="External" Target="http://jl.gailly.net/security/wasd-vuln-2002-09.txt"/><Relationship Id="rId144" Type="http://schemas.openxmlformats.org/officeDocument/2006/relationships/image" Target="../media/image144.png"/><Relationship Id="rId145" Type="http://schemas.openxmlformats.org/officeDocument/2006/relationships/hyperlink" TargetMode="External" Target="http://www.wiretrip.net/rfp/policy.html"/><Relationship Id="rId146" Type="http://schemas.openxmlformats.org/officeDocument/2006/relationships/image" Target="../media/image146.png"/><Relationship Id="rId147" Type="http://schemas.openxmlformats.org/officeDocument/2006/relationships/hyperlink" TargetMode="External" Target="http://www.gnupg.or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8" Type="http://schemas.openxmlformats.org/officeDocument/2006/relationships/image" Target="../media/image14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</a:t>
            </a:r>
          </a:p>
          <a:p>
            <a:r>
              <a:rPr lang="en-US" sz="3700">
                <a:solidFill>
                  <a:srgbClr val="252525"/>
                </a:solidFill>
              </a:rPr>
              <a:t>        Multiple vulnerabilities in WASD http server for OpenVMS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Version 1.0, 25 Sept 2002.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0. Contents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1. Summary</a:t>
            </a:r>
          </a:p>
          <a:p>
            <a:r>
              <a:rPr lang="en-US" sz="3700">
                <a:solidFill>
                  <a:srgbClr val="252525"/>
                </a:solidFill>
              </a:rPr>
              <a:t>  2. Severity: Critical</a:t>
            </a:r>
          </a:p>
          <a:p>
            <a:r>
              <a:rPr lang="en-US" sz="3700">
                <a:solidFill>
                  <a:srgbClr val="252525"/>
                </a:solidFill>
              </a:rPr>
              <a:t>  3. Vulnerable versions</a:t>
            </a:r>
          </a:p>
          <a:p>
            <a:r>
              <a:rPr lang="en-US" sz="3700">
                <a:solidFill>
                  <a:srgbClr val="252525"/>
                </a:solidFill>
              </a:rPr>
              <a:t>  4. Description</a:t>
            </a:r>
          </a:p>
          <a:p>
            <a:r>
              <a:rPr lang="en-US" sz="3700">
                <a:solidFill>
                  <a:srgbClr val="252525"/>
                </a:solidFill>
              </a:rPr>
              <a:t>  5. Solutions</a:t>
            </a:r>
          </a:p>
          <a:p>
            <a:r>
              <a:rPr lang="en-US" sz="3700">
                <a:solidFill>
                  <a:srgbClr val="252525"/>
                </a:solidFill>
              </a:rPr>
              <a:t>  6. Examples of site weaknesses</a:t>
            </a:r>
          </a:p>
          <a:p>
            <a:r>
              <a:rPr lang="en-US" sz="3700">
                <a:solidFill>
                  <a:srgbClr val="252525"/>
                </a:solidFill>
              </a:rPr>
              <a:t>  7. Conclusion</a:t>
            </a:r>
          </a:p>
          <a:p>
            <a:r>
              <a:rPr lang="en-US" sz="3700">
                <a:solidFill>
                  <a:srgbClr val="252525"/>
                </a:solidFill>
              </a:rPr>
              <a:t>  8. Acknowledgments</a:t>
            </a:r>
          </a:p>
          <a:p>
            <a:r>
              <a:rPr lang="en-US" sz="3700">
                <a:solidFill>
                  <a:srgbClr val="252525"/>
                </a:solidFill>
              </a:rPr>
              <a:t>  9. Document history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" id="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1. Summary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WASD VMS Hypertext Services is a popular http server for OpenVMS</a:t>
            </a:r>
          </a:p>
          <a:p>
            <a:r>
              <a:rPr lang="en-US" sz="3700">
                <a:solidFill>
                  <a:srgbClr val="252525"/>
                </a:solidFill>
              </a:rPr>
              <a:t>  released under the GNU GPL. See </a:t>
            </a:r>
          </a:p>
          <a:p>
            <a:r>
              <a:rPr lang="en-US" sz="3700">
                <a:solidFill>
                  <a:srgbClr val="252525"/>
                </a:solidFill>
              </a:rPr>
              <a:t>  The default installation of the WASD server allows: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- universal directory traversal</a:t>
            </a:r>
          </a:p>
          <a:p>
            <a:r>
              <a:rPr lang="en-US" sz="3700">
                <a:solidFill>
                  <a:srgbClr val="252525"/>
                </a:solidFill>
              </a:rPr>
              <a:t>  - instant access to the entire web server tree</a:t>
            </a:r>
          </a:p>
          <a:p>
            <a:r>
              <a:rPr lang="en-US" sz="3700">
                <a:solidFill>
                  <a:srgbClr val="252525"/>
                </a:solidFill>
              </a:rPr>
              <a:t>  - trivial bypassing of access control rules</a:t>
            </a:r>
          </a:p>
          <a:p>
            <a:r>
              <a:rPr lang="en-US" sz="3700">
                <a:solidFill>
                  <a:srgbClr val="252525"/>
                </a:solidFill>
              </a:rPr>
              <a:t>  - getting the location of the document root</a:t>
            </a:r>
          </a:p>
          <a:p>
            <a:r>
              <a:rPr lang="en-US" sz="3700">
                <a:solidFill>
                  <a:srgbClr val="252525"/>
                </a:solidFill>
              </a:rPr>
              <a:t>  - read access to the whole web server configuration</a:t>
            </a:r>
          </a:p>
          <a:p>
            <a:r>
              <a:rPr lang="en-US" sz="3700">
                <a:solidFill>
                  <a:srgbClr val="252525"/>
                </a:solidFill>
              </a:rPr>
              <a:t>  - read access to all web server logs</a:t>
            </a:r>
          </a:p>
          <a:p>
            <a:r>
              <a:rPr lang="en-US" sz="3700">
                <a:solidFill>
                  <a:srgbClr val="252525"/>
                </a:solidFill>
              </a:rPr>
              <a:t>  - disclosure of directories supposed to be </a:t>
            </a:r>
          </a:p>
        </p:txBody>
      </p:sp>
      <p:pic>
        <p:nvPicPr>
          <p:cNvPr name="Picture 6" id="6">
            <a:hlinkClick r:id="rId7"/>
          </p:cNvPr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600" y="5626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" id="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hidden</a:t>
            </a:r>
          </a:p>
          <a:p>
            <a:r>
              <a:rPr lang="en-US" sz="3700">
                <a:solidFill>
                  <a:srgbClr val="252525"/>
                </a:solidFill>
              </a:rPr>
              <a:t>  - getting the list of all cgi scripts</a:t>
            </a:r>
          </a:p>
          <a:p>
            <a:r>
              <a:rPr lang="en-US" sz="3700">
                <a:solidFill>
                  <a:srgbClr val="252525"/>
                </a:solidFill>
              </a:rPr>
              <a:t>  - getting the sources of all cgi scripts</a:t>
            </a:r>
          </a:p>
          <a:p>
            <a:r>
              <a:rPr lang="en-US" sz="3700">
                <a:solidFill>
                  <a:srgbClr val="252525"/>
                </a:solidFill>
              </a:rPr>
              <a:t>  - read access to OpenVMS system files</a:t>
            </a:r>
          </a:p>
          <a:p>
            <a:r>
              <a:rPr lang="en-US" sz="3700">
                <a:solidFill>
                  <a:srgbClr val="252525"/>
                </a:solidFill>
              </a:rPr>
              <a:t>  - user home directories might be readable</a:t>
            </a:r>
          </a:p>
          <a:p>
            <a:r>
              <a:rPr lang="en-US" sz="3700">
                <a:solidFill>
                  <a:srgbClr val="252525"/>
                </a:solidFill>
              </a:rPr>
              <a:t>  - one very serious flaw in a cgi script enabled by default</a:t>
            </a:r>
          </a:p>
          <a:p>
            <a:r>
              <a:rPr lang="en-US" sz="3700">
                <a:solidFill>
                  <a:srgbClr val="252525"/>
                </a:solidFill>
              </a:rPr>
              <a:t>  - some problems with other cgi-scripts enabled by default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Severity: Critical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When combining different vulnerabilities, a remote SYSTEM (root)</a:t>
            </a:r>
          </a:p>
          <a:p>
            <a:r>
              <a:rPr lang="en-US" sz="3700">
                <a:solidFill>
                  <a:srgbClr val="252525"/>
                </a:solidFill>
              </a:rPr>
              <a:t>  compromise is possible in a default installation of WASD versions</a:t>
            </a:r>
          </a:p>
          <a:p>
            <a:r>
              <a:rPr lang="en-US" sz="3700">
                <a:solidFill>
                  <a:srgbClr val="252525"/>
                </a:solidFill>
              </a:rPr>
              <a:t>  up to 8.0.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Even without compromising the system, important files which are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supposed to stay confidential can easily be read remotely.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Vulnerable versions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WASD 7.1, 7.2 (up to 7.2.3), 8.0, and possibly earlier versions.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WASD 8.1, and the update versions 8.0.1 and 7.2.4, will fix the</a:t>
            </a:r>
          </a:p>
          <a:p>
            <a:r>
              <a:rPr lang="en-US" sz="3700">
                <a:solidFill>
                  <a:srgbClr val="252525"/>
                </a:solidFill>
              </a:rPr>
              <a:t>  known vulnerabilities.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4. Description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The main problems are:</a:t>
            </a:r>
          </a:p>
          <a:p>
            <a:r>
              <a:rPr lang="en-US" sz="3700">
                <a:solidFill>
                  <a:srgbClr val="252525"/>
                </a:solidFill>
              </a:rPr>
              <a:t>  - the default configuration is much too liberal</a:t>
            </a:r>
          </a:p>
          <a:p>
            <a:r>
              <a:rPr lang="en-US" sz="3700">
                <a:solidFill>
                  <a:srgbClr val="252525"/>
                </a:solidFill>
              </a:rPr>
              <a:t>  - the access control rules can be trivially bypassed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" id="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- cgi scripts are run by default under the identity of the main server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There are also problems with some cgi scripts provided by default,</a:t>
            </a:r>
          </a:p>
          <a:p>
            <a:r>
              <a:rPr lang="en-US" sz="3700">
                <a:solidFill>
                  <a:srgbClr val="252525"/>
                </a:solidFill>
              </a:rPr>
              <a:t>  at least one of which is very serious.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4.1 The default configuration is much too liberal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4.1.1 The builtin "tree" script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By default the entire directory tree of the web server can be</a:t>
            </a:r>
          </a:p>
          <a:p>
            <a:r>
              <a:rPr lang="en-US" sz="3700">
                <a:solidFill>
                  <a:srgbClr val="252525"/>
                </a:solidFill>
              </a:rPr>
              <a:t>     seen with http://webserver/tree/</a:t>
            </a:r>
          </a:p>
          <a:p>
            <a:r>
              <a:rPr lang="en-US" sz="3700">
                <a:solidFill>
                  <a:srgbClr val="252525"/>
                </a:solidFill>
              </a:rPr>
              <a:t>     Documentation: </a:t>
            </a:r>
          </a:p>
          <a:p>
            <a:r>
              <a:rPr lang="en-US" sz="3700">
                <a:solidFill>
                  <a:srgbClr val="252525"/>
                </a:solidFill>
              </a:rPr>
              <a:t>     Example: </a:t>
            </a:r>
          </a:p>
        </p:txBody>
      </p:sp>
      <p:pic>
        <p:nvPicPr>
          <p:cNvPr name="Picture 14" id="14">
            <a:hlinkClick r:id="rId15"/>
          </p:cNvPr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1600" y="130683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" id="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4.1.2 "/*.*" directory traversal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Universal directory traversal is builtin with</a:t>
            </a:r>
          </a:p>
          <a:p>
            <a:r>
              <a:rPr lang="en-US" sz="3700">
                <a:solidFill>
                  <a:srgbClr val="252525"/>
                </a:solidFill>
              </a:rPr>
              <a:t>     http://webserver/dirname/*.* even if there is a page /dirname/index.html</a:t>
            </a:r>
          </a:p>
          <a:p>
            <a:r>
              <a:rPr lang="en-US" sz="3700">
                <a:solidFill>
                  <a:srgbClr val="252525"/>
                </a:solidFill>
              </a:rPr>
              <a:t>     Documentation: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4.1.3 The builtin "upd" script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A nice graphical interface for directory traversal is builtin with</a:t>
            </a:r>
          </a:p>
          <a:p>
            <a:r>
              <a:rPr lang="en-US" sz="3700">
                <a:solidFill>
                  <a:srgbClr val="252525"/>
                </a:solidFill>
              </a:rPr>
              <a:t>     http://webserver/upd/dirname/ even if there is a page /dirname/index.html</a:t>
            </a:r>
          </a:p>
          <a:p>
            <a:r>
              <a:rPr lang="en-US" sz="3700">
                <a:solidFill>
                  <a:srgbClr val="252525"/>
                </a:solidFill>
              </a:rPr>
              <a:t>     Documentation: </a:t>
            </a:r>
          </a:p>
        </p:txBody>
      </p:sp>
      <p:pic>
        <p:nvPicPr>
          <p:cNvPr name="Picture 18" id="18">
            <a:hlinkClick r:id="rId19"/>
          </p:cNvPr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  <p:pic>
        <p:nvPicPr>
          <p:cNvPr name="Picture 20" id="20">
            <a:hlinkClick r:id="rId21"/>
          </p:cNvPr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6451600" y="8293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" id="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4.1.4 The builtin search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All documents can be searched by default.</a:t>
            </a:r>
          </a:p>
          <a:p>
            <a:r>
              <a:rPr lang="en-US" sz="3700">
                <a:solidFill>
                  <a:srgbClr val="252525"/>
                </a:solidFill>
              </a:rPr>
              <a:t>     Documentation: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4.1.5 Most of the server root is accessible by default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The document root is the main server root, which includes everything</a:t>
            </a:r>
          </a:p>
          <a:p>
            <a:r>
              <a:rPr lang="en-US" sz="3700">
                <a:solidFill>
                  <a:srgbClr val="252525"/>
                </a:solidFill>
              </a:rPr>
              <a:t>     (configuration files, scripts, executables, etc...). Directory traversal</a:t>
            </a:r>
          </a:p>
          <a:p>
            <a:r>
              <a:rPr lang="en-US" sz="3700">
                <a:solidFill>
                  <a:srgbClr val="252525"/>
                </a:solidFill>
              </a:rPr>
              <a:t>     is enabled on most of the directories and access to the other</a:t>
            </a:r>
          </a:p>
        </p:txBody>
      </p:sp>
      <p:pic>
        <p:nvPicPr>
          <p:cNvPr name="Picture 24" id="24">
            <a:hlinkClick r:id="rId25"/>
          </p:cNvPr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  <p:pic>
        <p:nvPicPr>
          <p:cNvPr name="Picture 26" id="26">
            <a:hlinkClick r:id="rId27"/>
          </p:cNvPr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6451600" y="6781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" id="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directories is possible anyway (see later).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WASD documentation states that the liberal option was on purpose: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"The default configuration is fairly liberal, providing information</a:t>
            </a:r>
          </a:p>
          <a:p>
            <a:r>
              <a:rPr lang="en-US" sz="3700">
                <a:solidFill>
                  <a:srgbClr val="252525"/>
                </a:solidFill>
              </a:rPr>
              <a:t>      of use in a technical environment, but that may be superfluous or</a:t>
            </a:r>
          </a:p>
          <a:p>
            <a:r>
              <a:rPr lang="en-US" sz="3700">
                <a:solidFill>
                  <a:srgbClr val="252525"/>
                </a:solidFill>
              </a:rPr>
              <a:t>      less-than-desirable in other, possibly commercial environments."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OpenVMS has a reputation of being a very secure operating system.  This may</a:t>
            </a:r>
          </a:p>
          <a:p>
            <a:r>
              <a:rPr lang="en-US" sz="3700">
                <a:solidFill>
                  <a:srgbClr val="252525"/>
                </a:solidFill>
              </a:rPr>
              <a:t>   explain why VMS system administrators may have a false sense of security</a:t>
            </a:r>
          </a:p>
          <a:p>
            <a:r>
              <a:rPr lang="en-US" sz="3700">
                <a:solidFill>
                  <a:srgbClr val="252525"/>
                </a:solidFill>
              </a:rPr>
              <a:t>   when installing the WASD web server and </a:t>
            </a:r>
          </a:p>
        </p:txBody>
      </p:sp>
      <p:pic>
        <p:nvPicPr>
          <p:cNvPr name="Picture 30" id="30">
            <a:hlinkClick r:id="rId31"/>
          </p:cNvPr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6451600" y="4114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" id="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leave the default configuration</a:t>
            </a:r>
          </a:p>
          <a:p>
            <a:r>
              <a:rPr lang="en-US" sz="3700">
                <a:solidFill>
                  <a:srgbClr val="252525"/>
                </a:solidFill>
              </a:rPr>
              <a:t>   almost untouched.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default configuration in WASD 8.1 will be much more restrictive.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4.2 The access control rules can be trivially bypassed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All the liberal features described above can be used to bypass</a:t>
            </a:r>
          </a:p>
          <a:p>
            <a:r>
              <a:rPr lang="en-US" sz="3700">
                <a:solidFill>
                  <a:srgbClr val="252525"/>
                </a:solidFill>
              </a:rPr>
              <a:t>   the few restrictions set by the web server.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4.2.1 Bypassing access restrictions set by the web server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The configuration file httpd$map.conf contains rules such as: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	pass /ht_root/wwwroot*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" id="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	fail /ht_root/*</a:t>
            </a:r>
          </a:p>
          <a:p>
            <a:r>
              <a:rPr lang="en-US" sz="3700">
                <a:solidFill>
                  <a:srgbClr val="252525"/>
                </a:solidFill>
              </a:rPr>
              <a:t>	fail /-/*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In this example, the server root is ht_root and the document root is</a:t>
            </a:r>
          </a:p>
          <a:p>
            <a:r>
              <a:rPr lang="en-US" sz="3700">
                <a:solidFill>
                  <a:srgbClr val="252525"/>
                </a:solidFill>
              </a:rPr>
              <a:t>      wwwroot. The "fail" rules attempt to restrict access to the server</a:t>
            </a:r>
          </a:p>
          <a:p>
            <a:r>
              <a:rPr lang="en-US" sz="3700">
                <a:solidFill>
                  <a:srgbClr val="252525"/>
                </a:solidFill>
              </a:rPr>
              <a:t>      root but can be trivially bypassed with: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http://theserver/ht_root/wwwroot/-/*.*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(note: "-" is the VMS equivalent of ".."). So the only real protection</a:t>
            </a:r>
          </a:p>
          <a:p>
            <a:r>
              <a:rPr lang="en-US" sz="3700">
                <a:solidFill>
                  <a:srgbClr val="252525"/>
                </a:solidFill>
              </a:rPr>
              <a:t>     comes from the directory protections and ACLs (access control lists)</a:t>
            </a:r>
          </a:p>
          <a:p>
            <a:r>
              <a:rPr lang="en-US" sz="3700">
                <a:solidFill>
                  <a:srgbClr val="252525"/>
                </a:solidFill>
              </a:rPr>
              <a:t>     imposed by the operating system. (See section "Solutions" below.)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4.2.2 The location of the document root can easily be obtained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" id="37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The location of the document root can easily be obtained with the "where"</a:t>
            </a:r>
          </a:p>
          <a:p>
            <a:r>
              <a:rPr lang="en-US" sz="3700">
                <a:solidFill>
                  <a:srgbClr val="252525"/>
                </a:solidFill>
              </a:rPr>
              <a:t>     builtin script.</a:t>
            </a:r>
          </a:p>
          <a:p>
            <a:r>
              <a:rPr lang="en-US" sz="3700">
                <a:solidFill>
                  <a:srgbClr val="252525"/>
                </a:solidFill>
              </a:rPr>
              <a:t>     Documentation: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Even if the "where" script is not enabled, the "404 not found" message</a:t>
            </a:r>
          </a:p>
          <a:p>
            <a:r>
              <a:rPr lang="en-US" sz="3700">
                <a:solidFill>
                  <a:srgbClr val="252525"/>
                </a:solidFill>
              </a:rPr>
              <a:t>     gives away the document root.  On a server where the document root was</a:t>
            </a:r>
          </a:p>
          <a:p>
            <a:r>
              <a:rPr lang="en-US" sz="3700">
                <a:solidFill>
                  <a:srgbClr val="252525"/>
                </a:solidFill>
              </a:rPr>
              <a:t>     (correctly) not the entire web server root (logical name HT_ROOT), the</a:t>
            </a:r>
          </a:p>
          <a:p>
            <a:r>
              <a:rPr lang="en-US" sz="3700">
                <a:solidFill>
                  <a:srgbClr val="252525"/>
                </a:solidFill>
              </a:rPr>
              <a:t>     real document root could still be obtained with</a:t>
            </a:r>
          </a:p>
          <a:p>
            <a:r>
              <a:rPr lang="en-US" sz="3700">
                <a:solidFill>
                  <a:srgbClr val="252525"/>
                </a:solidFill>
              </a:rPr>
              <a:t>     http://theserver/notfound which gives "Document not found ...</a:t>
            </a:r>
          </a:p>
          <a:p>
            <a:r>
              <a:rPr lang="en-US" sz="3700">
                <a:solidFill>
                  <a:srgbClr val="252525"/>
                </a:solidFill>
              </a:rPr>
              <a:t>     /ht_root/wwwroot/notfound" This allows getting the entire web server</a:t>
            </a:r>
          </a:p>
        </p:txBody>
      </p:sp>
      <p:pic>
        <p:nvPicPr>
          <p:cNvPr name="Picture 38" id="38">
            <a:hlinkClick r:id="rId39"/>
          </p:cNvPr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>
            <a:off x="6451600" y="3213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" id="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root with http://theserver/ht_root/wwwroot/-/*.* as described above.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The full physical path may also be given hidden as a comment in the html</a:t>
            </a:r>
          </a:p>
          <a:p>
            <a:r>
              <a:rPr lang="en-US" sz="3700">
                <a:solidFill>
                  <a:srgbClr val="252525"/>
                </a:solidFill>
              </a:rPr>
              <a:t>     returned in the "404 not found" message:</a:t>
            </a:r>
          </a:p>
          <a:p>
            <a:r>
              <a:rPr lang="en-US" sz="3700">
                <a:solidFill>
                  <a:srgbClr val="252525"/>
                </a:solidFill>
              </a:rPr>
              <a:t>         &lt;!-- sts: %X00018292 "$1$DUA2:[HT_ROOT.][WWWROOT]NOTFOUND" --&gt;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4.2.3 The full web server configuration can easily be obtained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The web server configuration file in ht_root/local/httpd$map.conf</a:t>
            </a:r>
          </a:p>
          <a:p>
            <a:r>
              <a:rPr lang="en-US" sz="3700">
                <a:solidFill>
                  <a:srgbClr val="252525"/>
                </a:solidFill>
              </a:rPr>
              <a:t>     is generally supposed to be protected by a fail rule: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fail /ht_root/local/*</a:t>
            </a:r>
          </a:p>
          <a:p>
            <a:r>
              <a:rPr lang="en-US" sz="3700">
                <a:solidFill>
                  <a:srgbClr val="252525"/>
                </a:solidFill>
              </a:rPr>
              <a:t>     </a:t>
            </a:r>
          </a:p>
          <a:p>
            <a:r>
              <a:rPr lang="en-US" sz="3700">
                <a:solidFill>
                  <a:srgbClr val="252525"/>
                </a:solidFill>
              </a:rPr>
              <a:t>     However this can often be trivially bypassed as shown above: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" id="43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http://theserver/ht_root/wwwroot/-/local/httpd$map.conf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On one of the machines tested, there was even no "fail" rule so the</a:t>
            </a:r>
          </a:p>
          <a:p>
            <a:r>
              <a:rPr lang="en-US" sz="3700">
                <a:solidFill>
                  <a:srgbClr val="252525"/>
                </a:solidFill>
              </a:rPr>
              <a:t>      configuration could be obtained directly as</a:t>
            </a:r>
          </a:p>
          <a:p>
            <a:r>
              <a:rPr lang="en-US" sz="3700">
                <a:solidFill>
                  <a:srgbClr val="252525"/>
                </a:solidFill>
              </a:rPr>
              <a:t>        http://theserver/local/httpd$map.conf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The configuration file httpd$map.conf gives a lot of information to</a:t>
            </a:r>
          </a:p>
          <a:p>
            <a:r>
              <a:rPr lang="en-US" sz="3700">
                <a:solidFill>
                  <a:srgbClr val="252525"/>
                </a:solidFill>
              </a:rPr>
              <a:t>      intruders, in particular all the access control rules, all the script</a:t>
            </a:r>
          </a:p>
          <a:p>
            <a:r>
              <a:rPr lang="en-US" sz="3700">
                <a:solidFill>
                  <a:srgbClr val="252525"/>
                </a:solidFill>
              </a:rPr>
              <a:t>      directories, all the virtual domains handled, all the accessible</a:t>
            </a:r>
          </a:p>
          <a:p>
            <a:r>
              <a:rPr lang="en-US" sz="3700">
                <a:solidFill>
                  <a:srgbClr val="252525"/>
                </a:solidFill>
              </a:rPr>
              <a:t>      directories not under ht_root, etc...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4.2.4 All the web server logs can easily be obtained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4" id="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This is just a variation on the above. There is generally a rule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fail /ht_root/log/*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but all the logs can generally be obtained with</a:t>
            </a:r>
          </a:p>
          <a:p>
            <a:r>
              <a:rPr lang="en-US" sz="3700">
                <a:solidFill>
                  <a:srgbClr val="252525"/>
                </a:solidFill>
              </a:rPr>
              <a:t>      http://theserver/upd/ht_root/src/-/log/</a:t>
            </a:r>
          </a:p>
          <a:p>
            <a:r>
              <a:rPr lang="en-US" sz="3700">
                <a:solidFill>
                  <a:srgbClr val="252525"/>
                </a:solidFill>
              </a:rPr>
              <a:t>      unless they are protected with adequate ACLs.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If the logs are protected by ACLs but you have a user account on</a:t>
            </a:r>
          </a:p>
          <a:p>
            <a:r>
              <a:rPr lang="en-US" sz="3700">
                <a:solidFill>
                  <a:srgbClr val="252525"/>
                </a:solidFill>
              </a:rPr>
              <a:t>      the machine hosting the web server, then some of the logs may still</a:t>
            </a:r>
          </a:p>
          <a:p>
            <a:r>
              <a:rPr lang="en-US" sz="3700">
                <a:solidFill>
                  <a:srgbClr val="252525"/>
                </a:solidFill>
              </a:rPr>
              <a:t>      be obtained because the last request may be available in the</a:t>
            </a:r>
          </a:p>
          <a:p>
            <a:r>
              <a:rPr lang="en-US" sz="3700">
                <a:solidFill>
                  <a:srgbClr val="252525"/>
                </a:solidFill>
              </a:rPr>
              <a:t>      logical name (environment variable) HTTPD80$REQUEST 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$ show log HTTPD80$REQUEST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6" id="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"HTTPD80$REQUEST" = "08 11:56:42.200.430.5287.0.9000.http://theserver:</a:t>
            </a:r>
          </a:p>
          <a:p>
            <a:r>
              <a:rPr lang="en-US" sz="3700">
                <a:solidFill>
                  <a:srgbClr val="252525"/>
                </a:solidFill>
              </a:rPr>
              <a:t>       80.ip.address.of.caller.GET /filename"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The logical name is dynamically updated at each request. However this</a:t>
            </a:r>
          </a:p>
          <a:p>
            <a:r>
              <a:rPr lang="en-US" sz="3700">
                <a:solidFill>
                  <a:srgbClr val="252525"/>
                </a:solidFill>
              </a:rPr>
              <a:t>      was observed on only one system with an old version of WASD so the</a:t>
            </a:r>
          </a:p>
          <a:p>
            <a:r>
              <a:rPr lang="en-US" sz="3700">
                <a:solidFill>
                  <a:srgbClr val="252525"/>
                </a:solidFill>
              </a:rPr>
              <a:t>      problem may be fixed in 8.0.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4.2.5 The "tree" builtin script shows directories supposed to be hidden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The server logs are actually in a subdirectory /ht_root/log/server/</a:t>
            </a:r>
          </a:p>
          <a:p>
            <a:r>
              <a:rPr lang="en-US" sz="3700">
                <a:solidFill>
                  <a:srgbClr val="252525"/>
                </a:solidFill>
              </a:rPr>
              <a:t>      Since there is generally a fail rule for /ht_root/log/*</a:t>
            </a:r>
          </a:p>
          <a:p>
            <a:r>
              <a:rPr lang="en-US" sz="3700">
                <a:solidFill>
                  <a:srgbClr val="252525"/>
                </a:solidFill>
              </a:rPr>
              <a:t>      the subdirectory server is supposed to be hidden, but the "tree"</a:t>
            </a:r>
          </a:p>
          <a:p>
            <a:r>
              <a:rPr lang="en-US" sz="3700">
                <a:solidFill>
                  <a:srgbClr val="252525"/>
                </a:solidFill>
              </a:rPr>
              <a:t>      builtin script happily shows it: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8" id="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http://theserver/tree/ht_root/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4.2.6 Directory protection can be bypassed anyway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Some directories are better protected and are not even visible with</a:t>
            </a:r>
          </a:p>
          <a:p>
            <a:r>
              <a:rPr lang="en-US" sz="3700">
                <a:solidFill>
                  <a:srgbClr val="252525"/>
                </a:solidFill>
              </a:rPr>
              <a:t>      the "tree" builtin scripts. On one tested site, the directory</a:t>
            </a:r>
          </a:p>
          <a:p>
            <a:r>
              <a:rPr lang="en-US" sz="3700">
                <a:solidFill>
                  <a:srgbClr val="252525"/>
                </a:solidFill>
              </a:rPr>
              <a:t>      /ht_root/script_local/ exists but cannot be seen with</a:t>
            </a:r>
          </a:p>
          <a:p>
            <a:r>
              <a:rPr lang="en-US" sz="3700">
                <a:solidFill>
                  <a:srgbClr val="252525"/>
                </a:solidFill>
              </a:rPr>
              <a:t>      /ht_root/script_local/*.* or with /tree/. This site has probably used</a:t>
            </a:r>
          </a:p>
          <a:p>
            <a:r>
              <a:rPr lang="en-US" sz="3700">
                <a:solidFill>
                  <a:srgbClr val="252525"/>
                </a:solidFill>
              </a:rPr>
              <a:t>      the following configuration described in</a:t>
            </a:r>
          </a:p>
          <a:p>
            <a:r>
              <a:rPr lang="en-US" sz="3700">
                <a:solidFill>
                  <a:srgbClr val="252525"/>
                </a:solidFill>
              </a:rPr>
              <a:t>    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[DirAccess] - Make "disabled" to completely remove the ability</a:t>
            </a:r>
          </a:p>
        </p:txBody>
      </p:sp>
      <p:pic>
        <p:nvPicPr>
          <p:cNvPr name="Picture 50" id="50">
            <a:hlinkClick r:id="rId51"/>
          </p:cNvPr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>
            <a:off x="6451600" y="82550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2" id="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to generate directory listings under any circumstances.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However the search feature comes to rescue, and the directory</a:t>
            </a:r>
          </a:p>
          <a:p>
            <a:r>
              <a:rPr lang="en-US" sz="3700">
                <a:solidFill>
                  <a:srgbClr val="252525"/>
                </a:solidFill>
              </a:rPr>
              <a:t>      (together will all its scripts, see next section) can still be seen</a:t>
            </a:r>
          </a:p>
          <a:p>
            <a:r>
              <a:rPr lang="en-US" sz="3700">
                <a:solidFill>
                  <a:srgbClr val="252525"/>
                </a:solidFill>
              </a:rPr>
              <a:t>      with http://theserver/.../*.com?search=$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If even the standard search feature has been disabled, one can also</a:t>
            </a:r>
          </a:p>
          <a:p>
            <a:r>
              <a:rPr lang="en-US" sz="3700">
                <a:solidFill>
                  <a:srgbClr val="252525"/>
                </a:solidFill>
              </a:rPr>
              <a:t>      try the default glist script, which is supposed to give only a list</a:t>
            </a:r>
          </a:p>
          <a:p>
            <a:r>
              <a:rPr lang="en-US" sz="3700">
                <a:solidFill>
                  <a:srgbClr val="252525"/>
                </a:solidFill>
              </a:rPr>
              <a:t>      of images but also gives all subdirectories:</a:t>
            </a:r>
          </a:p>
          <a:p>
            <a:r>
              <a:rPr lang="en-US" sz="3700">
                <a:solidFill>
                  <a:srgbClr val="252525"/>
                </a:solidFill>
              </a:rPr>
              <a:t>         http://theserver/cgi-bin/glist/ht_root/?list=now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In any case, on this particular server the directory script_local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4" id="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is given in /robots.txt so it is not difficult to see that it exists.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4.2.7 The list of cgi scripts can easily be obtained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It is not possible to see the list of cgi scripts with the url</a:t>
            </a:r>
          </a:p>
          <a:p>
            <a:r>
              <a:rPr lang="en-US" sz="3700">
                <a:solidFill>
                  <a:srgbClr val="252525"/>
                </a:solidFill>
              </a:rPr>
              <a:t>      http://theserver/cgi-bin/*.* however the scripts are generally in</a:t>
            </a:r>
          </a:p>
          <a:p>
            <a:r>
              <a:rPr lang="en-US" sz="3700">
                <a:solidFill>
                  <a:srgbClr val="252525"/>
                </a:solidFill>
              </a:rPr>
              <a:t>      ht_root/script/ or ht_root/script_local.  If a configuration rule is</a:t>
            </a:r>
          </a:p>
          <a:p>
            <a:r>
              <a:rPr lang="en-US" sz="3700">
                <a:solidFill>
                  <a:srgbClr val="252525"/>
                </a:solidFill>
              </a:rPr>
              <a:t>      supposed to block access to these directories (either because the</a:t>
            </a:r>
          </a:p>
          <a:p>
            <a:r>
              <a:rPr lang="en-US" sz="3700">
                <a:solidFill>
                  <a:srgbClr val="252525"/>
                </a:solidFill>
              </a:rPr>
              <a:t>      document root is correctly separated from the server root, or because</a:t>
            </a:r>
          </a:p>
          <a:p>
            <a:r>
              <a:rPr lang="en-US" sz="3700">
                <a:solidFill>
                  <a:srgbClr val="252525"/>
                </a:solidFill>
              </a:rPr>
              <a:t>      there is an explicit rule blocking script/*), it is generally possible</a:t>
            </a:r>
          </a:p>
          <a:p>
            <a:r>
              <a:rPr lang="en-US" sz="3700">
                <a:solidFill>
                  <a:srgbClr val="252525"/>
                </a:solidFill>
              </a:rPr>
              <a:t>      to get the list of scripts and their sources with an url such as: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6" id="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http://theserver/ht_root/wwwroot/-/script_local/*.*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For cgi scripts of users, which can be run with url</a:t>
            </a:r>
          </a:p>
          <a:p>
            <a:r>
              <a:rPr lang="en-US" sz="3700">
                <a:solidFill>
                  <a:srgbClr val="252525"/>
                </a:solidFill>
              </a:rPr>
              <a:t>        http://theserver/~username/cgi-bin/scriptname</a:t>
            </a:r>
          </a:p>
          <a:p>
            <a:r>
              <a:rPr lang="en-US" sz="3700">
                <a:solidFill>
                  <a:srgbClr val="252525"/>
                </a:solidFill>
              </a:rPr>
              <a:t>      it is a bit less trivial to obtain the list of scripts because</a:t>
            </a:r>
          </a:p>
          <a:p>
            <a:r>
              <a:rPr lang="en-US" sz="3700">
                <a:solidFill>
                  <a:srgbClr val="252525"/>
                </a:solidFill>
              </a:rPr>
              <a:t>      the obvious attempts fail:</a:t>
            </a:r>
          </a:p>
          <a:p>
            <a:r>
              <a:rPr lang="en-US" sz="3700">
                <a:solidFill>
                  <a:srgbClr val="252525"/>
                </a:solidFill>
              </a:rPr>
              <a:t>        http://theserver/~username/cgi-bin/*.*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but the following generally works:</a:t>
            </a:r>
          </a:p>
          <a:p>
            <a:r>
              <a:rPr lang="en-US" sz="3700">
                <a:solidFill>
                  <a:srgbClr val="252525"/>
                </a:solidFill>
              </a:rPr>
              <a:t>        http://theserver/~username/xxx/-/cgi-bin/*.*</a:t>
            </a:r>
          </a:p>
          <a:p>
            <a:r>
              <a:rPr lang="en-US" sz="3700">
                <a:solidFill>
                  <a:srgbClr val="252525"/>
                </a:solidFill>
              </a:rPr>
              <a:t>      where xxx doesn't have to be an existing directory.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If it doesn't work, then the search feature can generally be used: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8" id="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http://theserver/~username/.../*.com?search=$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(note: on OpenVMS "..." indicates directory recursion).  This searches</a:t>
            </a:r>
          </a:p>
          <a:p>
            <a:r>
              <a:rPr lang="en-US" sz="3700">
                <a:solidFill>
                  <a:srgbClr val="252525"/>
                </a:solidFill>
              </a:rPr>
              <a:t>      all the *.com scripts for the character $ which always starts a command</a:t>
            </a:r>
          </a:p>
          <a:p>
            <a:r>
              <a:rPr lang="en-US" sz="3700">
                <a:solidFill>
                  <a:srgbClr val="252525"/>
                </a:solidFill>
              </a:rPr>
              <a:t>      on OpenVMS, and so gives as a result the full list of all .com scripts</a:t>
            </a:r>
          </a:p>
          <a:p>
            <a:r>
              <a:rPr lang="en-US" sz="3700">
                <a:solidFill>
                  <a:srgbClr val="252525"/>
                </a:solidFill>
              </a:rPr>
              <a:t>      under all subdirectories of the home directory. It is even possible to</a:t>
            </a:r>
          </a:p>
          <a:p>
            <a:r>
              <a:rPr lang="en-US" sz="3700">
                <a:solidFill>
                  <a:srgbClr val="252525"/>
                </a:solidFill>
              </a:rPr>
              <a:t>      search *.* instead of *.com.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4.2.8 The sources of cgi scripts can easily be obtained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After the list of scripts has been obtained as above, it is trivial</a:t>
            </a:r>
          </a:p>
          <a:p>
            <a:r>
              <a:rPr lang="en-US" sz="3700">
                <a:solidFill>
                  <a:srgbClr val="252525"/>
                </a:solidFill>
              </a:rPr>
              <a:t>      to get the sources of the scripts by clicking on a link. For general</a:t>
            </a:r>
          </a:p>
          <a:p>
            <a:r>
              <a:rPr lang="en-US" sz="3700">
                <a:solidFill>
                  <a:srgbClr val="252525"/>
                </a:solidFill>
              </a:rPr>
              <a:t>      server scripts the link can be of the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0" id="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form:</a:t>
            </a:r>
          </a:p>
          <a:p>
            <a:r>
              <a:rPr lang="en-US" sz="3700">
                <a:solidFill>
                  <a:srgbClr val="252525"/>
                </a:solidFill>
              </a:rPr>
              <a:t>        http://theserver/ht_root/wwwroot/-/script_local/scriptname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For user scripts obtained by the search feature, the link is:</a:t>
            </a:r>
          </a:p>
          <a:p>
            <a:r>
              <a:rPr lang="en-US" sz="3700">
                <a:solidFill>
                  <a:srgbClr val="252525"/>
                </a:solidFill>
              </a:rPr>
              <a:t>        http://theserver/extract/~username/cgi-bin/scriptname.com?highlight=$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Here "extract" is a script provided by default by WASD. It allows</a:t>
            </a:r>
          </a:p>
          <a:p>
            <a:r>
              <a:rPr lang="en-US" sz="3700">
                <a:solidFill>
                  <a:srgbClr val="252525"/>
                </a:solidFill>
              </a:rPr>
              <a:t>      getting the source of a script instead of executing it, even if the</a:t>
            </a:r>
          </a:p>
          <a:p>
            <a:r>
              <a:rPr lang="en-US" sz="3700">
                <a:solidFill>
                  <a:srgbClr val="252525"/>
                </a:solidFill>
              </a:rPr>
              <a:t>      directory containing the script is named cgi-bin.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4.2.9 OpenVMS system files can generally be read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On several tested sites, a configuration rule is supposed to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2" id="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give access to only a selected portion of system files: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pass /sys$common/syslib/* /sys$common/syslib/*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However other system files can easily be read, for example</a:t>
            </a:r>
          </a:p>
          <a:p>
            <a:r>
              <a:rPr lang="en-US" sz="3700">
                <a:solidFill>
                  <a:srgbClr val="252525"/>
                </a:solidFill>
              </a:rPr>
              <a:t>       http://theserver/sys$common/syslib/-/sysmgr/systartup_vms.com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4.2.10 User home directories might be readable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It is common practice to map url http://theserver/~username/ to </a:t>
            </a:r>
          </a:p>
          <a:p>
            <a:r>
              <a:rPr lang="en-US" sz="3700">
                <a:solidFill>
                  <a:srgbClr val="252525"/>
                </a:solidFill>
              </a:rPr>
              <a:t>       a subdirectory /user_disk/username/web/ of the home directory</a:t>
            </a:r>
          </a:p>
          <a:p>
            <a:r>
              <a:rPr lang="en-US" sz="3700">
                <a:solidFill>
                  <a:srgbClr val="252525"/>
                </a:solidFill>
              </a:rPr>
              <a:t>       /user_disk/username/. But if the OpenVMS protections and ACLs on</a:t>
            </a:r>
          </a:p>
          <a:p>
            <a:r>
              <a:rPr lang="en-US" sz="3700">
                <a:solidFill>
                  <a:srgbClr val="252525"/>
                </a:solidFill>
              </a:rPr>
              <a:t>       the home directory are not set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4" id="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correctly, it is possible to traverse</a:t>
            </a:r>
          </a:p>
          <a:p>
            <a:r>
              <a:rPr lang="en-US" sz="3700">
                <a:solidFill>
                  <a:srgbClr val="252525"/>
                </a:solidFill>
              </a:rPr>
              <a:t>       it with: </a:t>
            </a:r>
          </a:p>
          <a:p>
            <a:r>
              <a:rPr lang="en-US" sz="3700">
                <a:solidFill>
                  <a:srgbClr val="252525"/>
                </a:solidFill>
              </a:rPr>
              <a:t>         http://theserver/~username/-/*.*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Actually this often returns an error because of a strange mapping rule:</a:t>
            </a:r>
          </a:p>
          <a:p>
            <a:r>
              <a:rPr lang="en-US" sz="3700">
                <a:solidFill>
                  <a:srgbClr val="252525"/>
                </a:solidFill>
              </a:rPr>
              <a:t>         pass /*/-/* /ht_root/runtime/*/*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but it is easy to work around this rule with:</a:t>
            </a:r>
          </a:p>
          <a:p>
            <a:r>
              <a:rPr lang="en-US" sz="3700">
                <a:solidFill>
                  <a:srgbClr val="252525"/>
                </a:solidFill>
              </a:rPr>
              <a:t>         http://theserver/~username/x/--/*.*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where x doesn't have to be the name of an existing directory,</a:t>
            </a:r>
          </a:p>
          <a:p>
            <a:r>
              <a:rPr lang="en-US" sz="3700">
                <a:solidFill>
                  <a:srgbClr val="252525"/>
                </a:solidFill>
              </a:rPr>
              <a:t>       and "--" represents for VMS the equivalent of "../.."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In one of the sites tested, there was even no mapping to a subdirectory</a:t>
            </a:r>
          </a:p>
          <a:p>
            <a:r>
              <a:rPr lang="en-US" sz="3700">
                <a:solidFill>
                  <a:srgbClr val="252525"/>
                </a:solidFill>
              </a:rPr>
              <a:t>       so the whole user home directory was available with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6" id="6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6" id="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http://theserver/~username/*.*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4.3  CGI scripts are run by default under the identity of the main server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By default the server runs the image httpd.exe (or httpd_ssl.exe)</a:t>
            </a:r>
          </a:p>
          <a:p>
            <a:r>
              <a:rPr lang="en-US" sz="3700">
                <a:solidFill>
                  <a:srgbClr val="252525"/>
                </a:solidFill>
              </a:rPr>
              <a:t>     under the identity of user http$server. CGI scripts are also run by</a:t>
            </a:r>
          </a:p>
          <a:p>
            <a:r>
              <a:rPr lang="en-US" sz="3700">
                <a:solidFill>
                  <a:srgbClr val="252525"/>
                </a:solidFill>
              </a:rPr>
              <a:t>     default under the same identity. Thus a flaw in one CGI script can affect</a:t>
            </a:r>
          </a:p>
          <a:p>
            <a:r>
              <a:rPr lang="en-US" sz="3700">
                <a:solidFill>
                  <a:srgbClr val="252525"/>
                </a:solidFill>
              </a:rPr>
              <a:t>     the entire server.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On Unix, the main server is typically run as root but CGI scripts are</a:t>
            </a:r>
          </a:p>
          <a:p>
            <a:r>
              <a:rPr lang="en-US" sz="3700">
                <a:solidFill>
                  <a:srgbClr val="252525"/>
                </a:solidFill>
              </a:rPr>
              <a:t>     typically run under user "nobody". Thus a bad script cannot affect the</a:t>
            </a:r>
          </a:p>
          <a:p>
            <a:r>
              <a:rPr lang="en-US" sz="3700">
                <a:solidFill>
                  <a:srgbClr val="252525"/>
                </a:solidFill>
              </a:rPr>
              <a:t>     entire server.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The WASD server allows running CGI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8" id="68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8" id="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scripts as a user other than</a:t>
            </a:r>
          </a:p>
          <a:p>
            <a:r>
              <a:rPr lang="en-US" sz="3700">
                <a:solidFill>
                  <a:srgbClr val="252525"/>
                </a:solidFill>
              </a:rPr>
              <a:t>     http$server. This will be the default in WASD 8.1.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4.4 Problems with some cgi scripts enabled by default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I have not studied all scripts provided in a default installation</a:t>
            </a:r>
          </a:p>
          <a:p>
            <a:r>
              <a:rPr lang="en-US" sz="3700">
                <a:solidFill>
                  <a:srgbClr val="252525"/>
                </a:solidFill>
              </a:rPr>
              <a:t>     of WASD. But at least one is very dangerous and there are some bugs</a:t>
            </a:r>
          </a:p>
          <a:p>
            <a:r>
              <a:rPr lang="en-US" sz="3700">
                <a:solidFill>
                  <a:srgbClr val="252525"/>
                </a:solidFill>
              </a:rPr>
              <a:t>     in others.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4.4.1 Write to an arbitrary file on the web server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One script enabled by default allows writing contents of the attacker's</a:t>
            </a:r>
          </a:p>
          <a:p>
            <a:r>
              <a:rPr lang="en-US" sz="3700">
                <a:solidFill>
                  <a:srgbClr val="252525"/>
                </a:solidFill>
              </a:rPr>
              <a:t>       choice to an arbitrary file on the server, as long as the VMS ACLs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0" id="70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0" id="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allows it. This flaw can be exploited to get a remote SYSTEM (root)</a:t>
            </a:r>
          </a:p>
          <a:p>
            <a:r>
              <a:rPr lang="en-US" sz="3700">
                <a:solidFill>
                  <a:srgbClr val="252525"/>
                </a:solidFill>
              </a:rPr>
              <a:t>       compromise.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Given the severity of this flaw, no details are given here. See the</a:t>
            </a:r>
          </a:p>
          <a:p>
            <a:r>
              <a:rPr lang="en-US" sz="3700">
                <a:solidFill>
                  <a:srgbClr val="252525"/>
                </a:solidFill>
              </a:rPr>
              <a:t>       "Solutions" section below for temporary workarounds.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4.4.2 Severe leakage of information in cgi_process.com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Running http://theserver/cgi-bin/cgi_process gives a *lot* of useful</a:t>
            </a:r>
          </a:p>
          <a:p>
            <a:r>
              <a:rPr lang="en-US" sz="3700">
                <a:solidFill>
                  <a:srgbClr val="252525"/>
                </a:solidFill>
              </a:rPr>
              <a:t>       information for an intruder. In particular it gives all the privileges</a:t>
            </a:r>
          </a:p>
          <a:p>
            <a:r>
              <a:rPr lang="en-US" sz="3700">
                <a:solidFill>
                  <a:srgbClr val="252525"/>
                </a:solidFill>
              </a:rPr>
              <a:t>       owned by the script while running. (For Unix users: a script run with</a:t>
            </a:r>
          </a:p>
          <a:p>
            <a:r>
              <a:rPr lang="en-US" sz="3700">
                <a:solidFill>
                  <a:srgbClr val="252525"/>
                </a:solidFill>
              </a:rPr>
              <a:t>       privileges is somewhat equivalent to a setuid or setgid program, but</a:t>
            </a:r>
          </a:p>
          <a:p>
            <a:r>
              <a:rPr lang="en-US" sz="3700">
                <a:solidFill>
                  <a:srgbClr val="252525"/>
                </a:solidFill>
              </a:rPr>
              <a:t>       with much finer control on the actions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2" id="72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2" id="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allowed for the program.)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On one system, the script could be run with the SETPRV privilege, which</a:t>
            </a:r>
          </a:p>
          <a:p>
            <a:r>
              <a:rPr lang="en-US" sz="3700">
                <a:solidFill>
                  <a:srgbClr val="252525"/>
                </a:solidFill>
              </a:rPr>
              <a:t>       is equivalent to setuid root on Unix. This tells an intruder that</a:t>
            </a:r>
          </a:p>
          <a:p>
            <a:r>
              <a:rPr lang="en-US" sz="3700">
                <a:solidFill>
                  <a:srgbClr val="252525"/>
                </a:solidFill>
              </a:rPr>
              <a:t>       efforts should be concentrated on this particularly vulnerable server.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4.4.3 Format string bug in PerlRTE_example1.pl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See </a:t>
            </a:r>
          </a:p>
          <a:p>
            <a:r>
              <a:rPr lang="en-US" sz="3700">
                <a:solidFill>
                  <a:srgbClr val="252525"/>
                </a:solidFill>
              </a:rPr>
              <a:t>       for a description of this script and its sources. It contains</a:t>
            </a:r>
          </a:p>
          <a:p>
            <a:r>
              <a:rPr lang="en-US" sz="3700">
                <a:solidFill>
                  <a:srgbClr val="252525"/>
                </a:solidFill>
              </a:rPr>
              <a:t>       in particular:</a:t>
            </a:r>
          </a:p>
          <a:p>
            <a:r>
              <a:rPr lang="en-US" sz="3700">
                <a:solidFill>
                  <a:srgbClr val="252525"/>
                </a:solidFill>
              </a:rPr>
              <a:t>	   printf ("$name=\"$ENV{$name}\"\n");</a:t>
            </a:r>
          </a:p>
        </p:txBody>
      </p:sp>
      <p:pic>
        <p:nvPicPr>
          <p:cNvPr name="Picture 74" id="74">
            <a:hlinkClick r:id="rId75"/>
          </p:cNvPr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6" id="76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6" id="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The variable $name comes from the user and is not filtered, so a</a:t>
            </a:r>
          </a:p>
          <a:p>
            <a:r>
              <a:rPr lang="en-US" sz="3700">
                <a:solidFill>
                  <a:srgbClr val="252525"/>
                </a:solidFill>
              </a:rPr>
              <a:t>       classic format string attack is possible. For example:</a:t>
            </a:r>
          </a:p>
          <a:p>
            <a:r>
              <a:rPr lang="en-US" sz="3700">
                <a:solidFill>
                  <a:srgbClr val="252525"/>
                </a:solidFill>
              </a:rPr>
              <a:t>	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(where %25 is the hex encoding of the character '%') gives: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	  PATH_INFO="/000"</a:t>
            </a:r>
          </a:p>
          <a:p>
            <a:r>
              <a:rPr lang="en-US" sz="3700">
                <a:solidFill>
                  <a:srgbClr val="252525"/>
                </a:solidFill>
              </a:rPr>
              <a:t>	  PATH_TRANSLATED="HT_ROOT:[000000]000"</a:t>
            </a:r>
          </a:p>
          <a:p>
            <a:r>
              <a:rPr lang="en-US" sz="3700">
                <a:solidFill>
                  <a:srgbClr val="252525"/>
                </a:solidFill>
              </a:rPr>
              <a:t>	  REQUEST_URI="/plrte/PerlRTE_example1/   0   0   0"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where the number of zeroes is the number of %x format indicators.</a:t>
            </a:r>
          </a:p>
          <a:p>
            <a:r>
              <a:rPr lang="en-US" sz="3700">
                <a:solidFill>
                  <a:srgbClr val="252525"/>
                </a:solidFill>
              </a:rPr>
              <a:t>       This bug is probably not exploitable, </a:t>
            </a:r>
          </a:p>
        </p:txBody>
      </p:sp>
      <p:pic>
        <p:nvPicPr>
          <p:cNvPr name="Picture 78" id="78">
            <a:hlinkClick r:id="rId79"/>
          </p:cNvPr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>
            <a:off x="6451600" y="9817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0" id="80"/>
          <p:cNvPicPr>
            <a:picLocks noChangeAspect="true"/>
          </p:cNvPicPr>
          <p:nvPr/>
        </p:nvPicPr>
        <p:blipFill>
          <a:blip r:embed="rId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0" id="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but this should be checked.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This script also gives away a lot of potentially useful information</a:t>
            </a:r>
          </a:p>
          <a:p>
            <a:r>
              <a:rPr lang="en-US" sz="3700">
                <a:solidFill>
                  <a:srgbClr val="252525"/>
                </a:solidFill>
              </a:rPr>
              <a:t>       for an intruder (all logical names).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4.4.4 Potential denial of service in print.com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The cgi script print.com allows printing a file on the server</a:t>
            </a:r>
          </a:p>
          <a:p>
            <a:r>
              <a:rPr lang="en-US" sz="3700">
                <a:solidFill>
                  <a:srgbClr val="252525"/>
                </a:solidFill>
              </a:rPr>
              <a:t>       from a remote location. This script is enabled by default. The source</a:t>
            </a:r>
          </a:p>
          <a:p>
            <a:r>
              <a:rPr lang="en-US" sz="3700">
                <a:solidFill>
                  <a:srgbClr val="252525"/>
                </a:solidFill>
              </a:rPr>
              <a:t>       is available at </a:t>
            </a:r>
          </a:p>
          <a:p>
            <a:r>
              <a:rPr lang="en-US" sz="3700">
                <a:solidFill>
                  <a:srgbClr val="252525"/>
                </a:solidFill>
              </a:rPr>
              <a:t>       This script attempts to restrict the IP addresses allowed to print: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$ HPRINTS_ALLOWED = </a:t>
            </a:r>
          </a:p>
        </p:txBody>
      </p:sp>
      <p:pic>
        <p:nvPicPr>
          <p:cNvPr name="Picture 82" id="82">
            <a:hlinkClick r:id="rId83"/>
          </p:cNvPr>
          <p:cNvPicPr>
            <a:picLocks noChangeAspect="true"/>
          </p:cNvPicPr>
          <p:nvPr/>
        </p:nvPicPr>
        <p:blipFill>
          <a:blip r:embed="rId82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4" id="84"/>
          <p:cNvPicPr>
            <a:picLocks noChangeAspect="true"/>
          </p:cNvPicPr>
          <p:nvPr/>
        </p:nvPicPr>
        <p:blipFill>
          <a:blip r:embed="rId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4" id="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"131.185.250.*"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Anyone in this IP range can force the printer to run out of paper.</a:t>
            </a:r>
          </a:p>
          <a:p>
            <a:r>
              <a:rPr lang="en-US" sz="3700">
                <a:solidFill>
                  <a:srgbClr val="252525"/>
                </a:solidFill>
              </a:rPr>
              <a:t>       Anyway, it should be fairly easy to spoof the source IP address.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5. Solutions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The WASD documentation has a section "Securing the site":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This is essential reading for any administrator of a WASD server.</a:t>
            </a:r>
          </a:p>
          <a:p>
            <a:r>
              <a:rPr lang="en-US" sz="3700">
                <a:solidFill>
                  <a:srgbClr val="252525"/>
                </a:solidFill>
              </a:rPr>
              <a:t>  However some of the recommendations </a:t>
            </a:r>
          </a:p>
        </p:txBody>
      </p:sp>
      <p:pic>
        <p:nvPicPr>
          <p:cNvPr name="Picture 86" id="86">
            <a:hlinkClick r:id="rId87"/>
          </p:cNvPr>
          <p:cNvPicPr>
            <a:picLocks noChangeAspect="true"/>
          </p:cNvPicPr>
          <p:nvPr/>
        </p:nvPicPr>
        <p:blipFill>
          <a:blip r:embed="rId86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8" id="88"/>
          <p:cNvPicPr>
            <a:picLocks noChangeAspect="true"/>
          </p:cNvPicPr>
          <p:nvPr/>
        </p:nvPicPr>
        <p:blipFill>
          <a:blip r:embed="rId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8" id="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are not effective. In particular</a:t>
            </a:r>
          </a:p>
          <a:p>
            <a:r>
              <a:rPr lang="en-US" sz="3700">
                <a:solidFill>
                  <a:srgbClr val="252525"/>
                </a:solidFill>
              </a:rPr>
              <a:t>  the example given in section "Package tree" to block all access to the</a:t>
            </a:r>
          </a:p>
          <a:p>
            <a:r>
              <a:rPr lang="en-US" sz="3700">
                <a:solidFill>
                  <a:srgbClr val="252525"/>
                </a:solidFill>
              </a:rPr>
              <a:t>  /ht_root/ tree except for selected areas, does not work correctly</a:t>
            </a:r>
          </a:p>
          <a:p>
            <a:r>
              <a:rPr lang="en-US" sz="3700">
                <a:solidFill>
                  <a:srgbClr val="252525"/>
                </a:solidFill>
              </a:rPr>
              <a:t>  for WASD versions up to 8.0.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Here is a list of minimum recommendations, which can be put in place</a:t>
            </a:r>
          </a:p>
          <a:p>
            <a:r>
              <a:rPr lang="en-US" sz="3700">
                <a:solidFill>
                  <a:srgbClr val="252525"/>
                </a:solidFill>
              </a:rPr>
              <a:t>  even with the existing versions WASD (up to 8.0). Such recommendations</a:t>
            </a:r>
          </a:p>
          <a:p>
            <a:r>
              <a:rPr lang="en-US" sz="3700">
                <a:solidFill>
                  <a:srgbClr val="252525"/>
                </a:solidFill>
              </a:rPr>
              <a:t>  might seem obvious for Apache users, but unfortunately many of the WASD</a:t>
            </a:r>
          </a:p>
          <a:p>
            <a:r>
              <a:rPr lang="en-US" sz="3700">
                <a:solidFill>
                  <a:srgbClr val="252525"/>
                </a:solidFill>
              </a:rPr>
              <a:t>  sites which were tested didn't follow these basic recommendations.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5.1 Check for new WASD versions at </a:t>
            </a:r>
          </a:p>
        </p:txBody>
      </p:sp>
      <p:pic>
        <p:nvPicPr>
          <p:cNvPr name="Picture 90" id="90">
            <a:hlinkClick r:id="rId91"/>
          </p:cNvPr>
          <p:cNvPicPr>
            <a:picLocks noChangeAspect="true"/>
          </p:cNvPicPr>
          <p:nvPr/>
        </p:nvPicPr>
        <p:blipFill>
          <a:blip r:embed="rId90"/>
          <a:stretch>
            <a:fillRect/>
          </a:stretch>
        </p:blipFill>
        <p:spPr>
          <a:xfrm>
            <a:off x="6451600" y="3352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2" id="92"/>
          <p:cNvPicPr>
            <a:picLocks noChangeAspect="true"/>
          </p:cNvPicPr>
          <p:nvPr/>
        </p:nvPicPr>
        <p:blipFill>
          <a:blip r:embed="rId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2" id="93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At the time of writing this advisory, version 8.1 of WASD is in</a:t>
            </a:r>
          </a:p>
          <a:p>
            <a:r>
              <a:rPr lang="en-US" sz="3700">
                <a:solidFill>
                  <a:srgbClr val="252525"/>
                </a:solidFill>
              </a:rPr>
              <a:t>    preparation. It will fix all the known security problems, provide</a:t>
            </a:r>
          </a:p>
          <a:p>
            <a:r>
              <a:rPr lang="en-US" sz="3700">
                <a:solidFill>
                  <a:srgbClr val="252525"/>
                </a:solidFill>
              </a:rPr>
              <a:t>    from installation a directory structure and associated permissions</a:t>
            </a:r>
          </a:p>
          <a:p>
            <a:r>
              <a:rPr lang="en-US" sz="3700">
                <a:solidFill>
                  <a:srgbClr val="252525"/>
                </a:solidFill>
              </a:rPr>
              <a:t>    facilitating minimum necessary upward security adjustments, and use</a:t>
            </a:r>
          </a:p>
          <a:p>
            <a:r>
              <a:rPr lang="en-US" sz="3700">
                <a:solidFill>
                  <a:srgbClr val="252525"/>
                </a:solidFill>
              </a:rPr>
              <a:t>    much more restrictive default access rules than previous versions.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An advisory written by the WASD author should be available at</a:t>
            </a:r>
          </a:p>
          <a:p>
            <a:r>
              <a:rPr lang="en-US" sz="3700">
                <a:solidFill>
                  <a:srgbClr val="252525"/>
                </a:solidFill>
              </a:rPr>
              <a:t>  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Existing versions 8.0 and 7.2 will each have an update kit</a:t>
            </a:r>
          </a:p>
        </p:txBody>
      </p:sp>
      <p:pic>
        <p:nvPicPr>
          <p:cNvPr name="Picture 94" id="94">
            <a:hlinkClick r:id="rId95"/>
          </p:cNvPr>
          <p:cNvPicPr>
            <a:picLocks noChangeAspect="true"/>
          </p:cNvPicPr>
          <p:nvPr/>
        </p:nvPicPr>
        <p:blipFill>
          <a:blip r:embed="rId94"/>
          <a:stretch>
            <a:fillRect/>
          </a:stretch>
        </p:blipFill>
        <p:spPr>
          <a:xfrm>
            <a:off x="6451600" y="1079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6" id="96"/>
          <p:cNvPicPr>
            <a:picLocks noChangeAspect="true"/>
          </p:cNvPicPr>
          <p:nvPr/>
        </p:nvPicPr>
        <p:blipFill>
          <a:blip r:embed="rId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6" id="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available (8.0.1 and 7.2.4 or later).  These will include a server</a:t>
            </a:r>
          </a:p>
          <a:p>
            <a:r>
              <a:rPr lang="en-US" sz="3700">
                <a:solidFill>
                  <a:srgbClr val="252525"/>
                </a:solidFill>
              </a:rPr>
              <a:t>    with fixes for all known security issues and a script</a:t>
            </a:r>
          </a:p>
          <a:p>
            <a:r>
              <a:rPr lang="en-US" sz="3700">
                <a:solidFill>
                  <a:srgbClr val="252525"/>
                </a:solidFill>
              </a:rPr>
              <a:t>    install_secure.com which adjusts the existing directory structure</a:t>
            </a:r>
          </a:p>
          <a:p>
            <a:r>
              <a:rPr lang="en-US" sz="3700">
                <a:solidFill>
                  <a:srgbClr val="252525"/>
                </a:solidFill>
              </a:rPr>
              <a:t>    and permissions to conform with that implemented for 8.1.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If these updates and/or version 8.1 or later is not available or</a:t>
            </a:r>
          </a:p>
          <a:p>
            <a:r>
              <a:rPr lang="en-US" sz="3700">
                <a:solidFill>
                  <a:srgbClr val="252525"/>
                </a:solidFill>
              </a:rPr>
              <a:t>    not applicable to a given site, then check for a kit that provides</a:t>
            </a:r>
          </a:p>
          <a:p>
            <a:r>
              <a:rPr lang="en-US" sz="3700">
                <a:solidFill>
                  <a:srgbClr val="252525"/>
                </a:solidFill>
              </a:rPr>
              <a:t>    just the install_secure.com script.  This can be used standalone on</a:t>
            </a:r>
          </a:p>
          <a:p>
            <a:r>
              <a:rPr lang="en-US" sz="3700">
                <a:solidFill>
                  <a:srgbClr val="252525"/>
                </a:solidFill>
              </a:rPr>
              <a:t>    7.x and 8.0 installations for significant improvements to site</a:t>
            </a:r>
          </a:p>
          <a:p>
            <a:r>
              <a:rPr lang="en-US" sz="3700">
                <a:solidFill>
                  <a:srgbClr val="252525"/>
                </a:solidFill>
              </a:rPr>
              <a:t>    security.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If none of these are available or applicable to a given site, then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8" id="98"/>
          <p:cNvPicPr>
            <a:picLocks noChangeAspect="true"/>
          </p:cNvPicPr>
          <p:nvPr/>
        </p:nvPicPr>
        <p:blipFill>
          <a:blip r:embed="rId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8" id="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take at least the minimum precautions described below in sections</a:t>
            </a:r>
          </a:p>
          <a:p>
            <a:r>
              <a:rPr lang="en-US" sz="3700">
                <a:solidFill>
                  <a:srgbClr val="252525"/>
                </a:solidFill>
              </a:rPr>
              <a:t>    5.2 to 5.6.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5.2 Use a separate document root, not the whole web server root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Put the document root in /ht_root/wwwroot, not /ht_root, with mapping</a:t>
            </a:r>
          </a:p>
          <a:p>
            <a:r>
              <a:rPr lang="en-US" sz="3700">
                <a:solidFill>
                  <a:srgbClr val="252525"/>
                </a:solidFill>
              </a:rPr>
              <a:t>    rules such as:</a:t>
            </a:r>
          </a:p>
          <a:p>
            <a:r>
              <a:rPr lang="en-US" sz="3700">
                <a:solidFill>
                  <a:srgbClr val="252525"/>
                </a:solidFill>
              </a:rPr>
              <a:t>       pass /* /ht_root/wwwroot/*</a:t>
            </a:r>
          </a:p>
          <a:p>
            <a:r>
              <a:rPr lang="en-US" sz="3700">
                <a:solidFill>
                  <a:srgbClr val="252525"/>
                </a:solidFill>
              </a:rPr>
              <a:t>       fail /ht_root/*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You can add a rule such as</a:t>
            </a:r>
          </a:p>
          <a:p>
            <a:r>
              <a:rPr lang="en-US" sz="3700">
                <a:solidFill>
                  <a:srgbClr val="252525"/>
                </a:solidFill>
              </a:rPr>
              <a:t>       fail /-/*</a:t>
            </a:r>
          </a:p>
          <a:p>
            <a:r>
              <a:rPr lang="en-US" sz="3700">
                <a:solidFill>
                  <a:srgbClr val="252525"/>
                </a:solidFill>
              </a:rPr>
              <a:t>    but unfortunately it will not be very effective because it can be</a:t>
            </a:r>
          </a:p>
          <a:p>
            <a:r>
              <a:rPr lang="en-US" sz="3700">
                <a:solidFill>
                  <a:srgbClr val="252525"/>
                </a:solidFill>
              </a:rPr>
              <a:t>    trivially bypassed with all versions of the WASD server up to 8.0.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5.3 Use a subdirectory for a user 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0" id="100"/>
          <p:cNvPicPr>
            <a:picLocks noChangeAspect="true"/>
          </p:cNvPicPr>
          <p:nvPr/>
        </p:nvPicPr>
        <p:blipFill>
          <a:blip r:embed="rId1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0" id="1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document root, not the home directory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Use rules such as:</a:t>
            </a:r>
          </a:p>
          <a:p>
            <a:r>
              <a:rPr lang="en-US" sz="3700">
                <a:solidFill>
                  <a:srgbClr val="252525"/>
                </a:solidFill>
              </a:rPr>
              <a:t>      user /~*/*    /user_disk/*/web/*</a:t>
            </a:r>
          </a:p>
          <a:p>
            <a:r>
              <a:rPr lang="en-US" sz="3700">
                <a:solidFill>
                  <a:srgbClr val="252525"/>
                </a:solidFill>
              </a:rPr>
              <a:t>      redirect /~*  /~*/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5.4 Set file protections and ACLs correctly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Since the WASD access restrictions can be bypassed, the only effective</a:t>
            </a:r>
          </a:p>
          <a:p>
            <a:r>
              <a:rPr lang="en-US" sz="3700">
                <a:solidFill>
                  <a:srgbClr val="252525"/>
                </a:solidFill>
              </a:rPr>
              <a:t>    protection is that provided by the system itself, OpenVMS. The web server</a:t>
            </a:r>
          </a:p>
          <a:p>
            <a:r>
              <a:rPr lang="en-US" sz="3700">
                <a:solidFill>
                  <a:srgbClr val="252525"/>
                </a:solidFill>
              </a:rPr>
              <a:t>    runs by default as user http$server, so make sure that directories</a:t>
            </a:r>
          </a:p>
          <a:p>
            <a:r>
              <a:rPr lang="en-US" sz="3700">
                <a:solidFill>
                  <a:srgbClr val="252525"/>
                </a:solidFill>
              </a:rPr>
              <a:t>    supposed to be protected are not readable by this user. Take at least</a:t>
            </a:r>
          </a:p>
          <a:p>
            <a:r>
              <a:rPr lang="en-US" sz="3700">
                <a:solidFill>
                  <a:srgbClr val="252525"/>
                </a:solidFill>
              </a:rPr>
              <a:t>    the following minimum precautions: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. Make sure that all directories under ht_root are owned by user</a:t>
            </a:r>
          </a:p>
          <a:p>
            <a:r>
              <a:rPr lang="en-US" sz="3700">
                <a:solidFill>
                  <a:srgbClr val="252525"/>
                </a:solidFill>
              </a:rPr>
              <a:t>      SYSTEM, not by user HTTP$SERVER. Add 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2" id="102"/>
          <p:cNvPicPr>
            <a:picLocks noChangeAspect="true"/>
          </p:cNvPicPr>
          <p:nvPr/>
        </p:nvPicPr>
        <p:blipFill>
          <a:blip r:embed="rId1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2" id="1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specific ACLs for directories</a:t>
            </a:r>
          </a:p>
          <a:p>
            <a:r>
              <a:rPr lang="en-US" sz="3700">
                <a:solidFill>
                  <a:srgbClr val="252525"/>
                </a:solidFill>
              </a:rPr>
              <a:t>      and files which must be readable or writable by HTTP$SERVER, but only</a:t>
            </a:r>
          </a:p>
          <a:p>
            <a:r>
              <a:rPr lang="en-US" sz="3700">
                <a:solidFill>
                  <a:srgbClr val="252525"/>
                </a:solidFill>
              </a:rPr>
              <a:t>      these: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$ set file /owner=system /prot=(s:rwed,o:rwed,g,w) -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ht_root:[000000]local.dir, ht_root:[local...]*.*;* , -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ht_root:[000000]http$server.dir, ht_root:[http$server...]*.*;*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$ set security /acl=((ident=http$server,access=e) /delete=all -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ht_root:[000000]local.dir</a:t>
            </a:r>
          </a:p>
          <a:p>
            <a:r>
              <a:rPr lang="en-US" sz="3700">
                <a:solidFill>
                  <a:srgbClr val="252525"/>
                </a:solidFill>
              </a:rPr>
              <a:t>       $ set security /acl=((ident=http$server,access=r+e) /delete=all -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ht_root:[local]*.com;*</a:t>
            </a:r>
          </a:p>
          <a:p>
            <a:r>
              <a:rPr lang="en-US" sz="3700">
                <a:solidFill>
                  <a:srgbClr val="252525"/>
                </a:solidFill>
              </a:rPr>
              <a:t>       $ set security /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4" id="104"/>
          <p:cNvPicPr>
            <a:picLocks noChangeAspect="true"/>
          </p:cNvPicPr>
          <p:nvPr/>
        </p:nvPicPr>
        <p:blipFill>
          <a:blip r:embed="rId1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4" id="1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acl=((ident=http$server,access=r+e) /delete=all -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ht_root:[http$server]*.com;*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Be particularly careful about ACLs on files in directory [local].</a:t>
            </a:r>
          </a:p>
          <a:p>
            <a:r>
              <a:rPr lang="en-US" sz="3700">
                <a:solidFill>
                  <a:srgbClr val="252525"/>
                </a:solidFill>
              </a:rPr>
              <a:t>      Only the .com files there should be readable by http$server; the</a:t>
            </a:r>
          </a:p>
          <a:p>
            <a:r>
              <a:rPr lang="en-US" sz="3700">
                <a:solidFill>
                  <a:srgbClr val="252525"/>
                </a:solidFill>
              </a:rPr>
              <a:t>      rest contains very sensitive information.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. To prevent all the different ways of reading scripts, set protection</a:t>
            </a:r>
          </a:p>
          <a:p>
            <a:r>
              <a:rPr lang="en-US" sz="3700">
                <a:solidFill>
                  <a:srgbClr val="252525"/>
                </a:solidFill>
              </a:rPr>
              <a:t>      Execute only instead of Read+Execute on all essential scripts</a:t>
            </a:r>
          </a:p>
          <a:p>
            <a:r>
              <a:rPr lang="en-US" sz="3700">
                <a:solidFill>
                  <a:srgbClr val="252525"/>
                </a:solidFill>
              </a:rPr>
              <a:t>      (and delete all other scripts as described below). Check at least</a:t>
            </a:r>
          </a:p>
          <a:p>
            <a:r>
              <a:rPr lang="en-US" sz="3700">
                <a:solidFill>
                  <a:srgbClr val="252525"/>
                </a:solidFill>
              </a:rPr>
              <a:t>      the directories /script, /script_local, /vax and /axp, plus any other</a:t>
            </a:r>
          </a:p>
          <a:p>
            <a:r>
              <a:rPr lang="en-US" sz="3700">
                <a:solidFill>
                  <a:srgbClr val="252525"/>
                </a:solidFill>
              </a:rPr>
              <a:t>      directories mentioned in the logical name CGI-BIN.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6" id="106"/>
          <p:cNvPicPr>
            <a:picLocks noChangeAspect="true"/>
          </p:cNvPicPr>
          <p:nvPr/>
        </p:nvPicPr>
        <p:blipFill>
          <a:blip r:embed="rId1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6" id="1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$ set file /owner=system /prot=(s:rwed,o:rwed,g,w) -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ht_root:[000000]script*.dir, ht_root:[script*...]*.*;* , -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ht_root:[000000]axp.dir, ht_root:[axp...]*.*;* , -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ht_root:[000000]vax.dir, ht_root:[vax...]*.*;*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$ set security /acl=((ident=http$server,access=e) /delete=all -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ht_root:[000000]script*.dir</a:t>
            </a:r>
          </a:p>
          <a:p>
            <a:r>
              <a:rPr lang="en-US" sz="3700">
                <a:solidFill>
                  <a:srgbClr val="252525"/>
                </a:solidFill>
              </a:rPr>
              <a:t>       $ set security /acl=((ident=http$server,access=e) /delete=all -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ht_root:[script*]*.*;*</a:t>
            </a:r>
          </a:p>
          <a:p>
            <a:r>
              <a:rPr lang="en-US" sz="3700">
                <a:solidFill>
                  <a:srgbClr val="252525"/>
                </a:solidFill>
              </a:rPr>
              <a:t>       $ set security /acl=((ident=http$server,access=e) /delete=all -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ht_root:[000000]axp.dir ! or vax.dir 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8" id="108"/>
          <p:cNvPicPr>
            <a:picLocks noChangeAspect="true"/>
          </p:cNvPicPr>
          <p:nvPr/>
        </p:nvPicPr>
        <p:blipFill>
          <a:blip r:embed="rId1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8" id="1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depending on architecture</a:t>
            </a:r>
          </a:p>
          <a:p>
            <a:r>
              <a:rPr lang="en-US" sz="3700">
                <a:solidFill>
                  <a:srgbClr val="252525"/>
                </a:solidFill>
              </a:rPr>
              <a:t>       $ set security /acl=((ident=http$server,access=e) /delete=all -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ht_root:[axp]*.*;* ! or [vax]*.*;* depending on architecture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. To prevent reading the web server logs, set ACLs to allow write-only</a:t>
            </a:r>
          </a:p>
          <a:p>
            <a:r>
              <a:rPr lang="en-US" sz="3700">
                <a:solidFill>
                  <a:srgbClr val="252525"/>
                </a:solidFill>
              </a:rPr>
              <a:t>      access for user http$server on directory [log] and its subdirectories.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. To prevent all the forms of directory traversal, set protection</a:t>
            </a:r>
          </a:p>
          <a:p>
            <a:r>
              <a:rPr lang="en-US" sz="3700">
                <a:solidFill>
                  <a:srgbClr val="252525"/>
                </a:solidFill>
              </a:rPr>
              <a:t>      Execute only instead of Read+Execute for directories which must</a:t>
            </a:r>
          </a:p>
          <a:p>
            <a:r>
              <a:rPr lang="en-US" sz="3700">
                <a:solidFill>
                  <a:srgbClr val="252525"/>
                </a:solidFill>
              </a:rPr>
              <a:t>      be protected from traversal. You can also add rules in httpd$map.conf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	fail /tree/</a:t>
            </a:r>
          </a:p>
          <a:p>
            <a:r>
              <a:rPr lang="en-US" sz="3700">
                <a:solidFill>
                  <a:srgbClr val="252525"/>
                </a:solidFill>
              </a:rPr>
              <a:t>	fail /tree/*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0" id="110"/>
          <p:cNvPicPr>
            <a:picLocks noChangeAspect="true"/>
          </p:cNvPicPr>
          <p:nvPr/>
        </p:nvPicPr>
        <p:blipFill>
          <a:blip r:embed="rId1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0" id="1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	fail /upd/*</a:t>
            </a:r>
          </a:p>
          <a:p>
            <a:r>
              <a:rPr lang="en-US" sz="3700">
                <a:solidFill>
                  <a:srgbClr val="252525"/>
                </a:solidFill>
              </a:rPr>
              <a:t>	fail /where/*</a:t>
            </a:r>
          </a:p>
          <a:p>
            <a:r>
              <a:rPr lang="en-US" sz="3700">
                <a:solidFill>
                  <a:srgbClr val="252525"/>
                </a:solidFill>
              </a:rPr>
              <a:t>	fail /query/*</a:t>
            </a:r>
          </a:p>
          <a:p>
            <a:r>
              <a:rPr lang="en-US" sz="3700">
                <a:solidFill>
                  <a:srgbClr val="252525"/>
                </a:solidFill>
              </a:rPr>
              <a:t>	fail /extract/*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but do not rely only on these rules, set ACLs correctly first.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5.5 Remove all unused cgi programs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This is a basic principle, but unfortunately it was not followed in</a:t>
            </a:r>
          </a:p>
          <a:p>
            <a:r>
              <a:rPr lang="en-US" sz="3700">
                <a:solidFill>
                  <a:srgbClr val="252525"/>
                </a:solidFill>
              </a:rPr>
              <a:t>    any of the tested sites: remove *all* unused cgi scripts and executables.</a:t>
            </a:r>
          </a:p>
          <a:p>
            <a:r>
              <a:rPr lang="en-US" sz="3700">
                <a:solidFill>
                  <a:srgbClr val="252525"/>
                </a:solidFill>
              </a:rPr>
              <a:t>    Some of the programs provided by default with the WASD server are</a:t>
            </a:r>
          </a:p>
          <a:p>
            <a:r>
              <a:rPr lang="en-US" sz="3700">
                <a:solidFill>
                  <a:srgbClr val="252525"/>
                </a:solidFill>
              </a:rPr>
              <a:t>    very dangerous. So check at least the directories script, script_local,</a:t>
            </a:r>
          </a:p>
          <a:p>
            <a:r>
              <a:rPr lang="en-US" sz="3700">
                <a:solidFill>
                  <a:srgbClr val="252525"/>
                </a:solidFill>
              </a:rPr>
              <a:t>    axp and vax (all under ht_root) and move anything which is unused</a:t>
            </a:r>
          </a:p>
          <a:p>
            <a:r>
              <a:rPr lang="en-US" sz="3700">
                <a:solidFill>
                  <a:srgbClr val="252525"/>
                </a:solidFill>
              </a:rPr>
              <a:t>    somewhere outside ht_root, with very 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2" id="112"/>
          <p:cNvPicPr>
            <a:picLocks noChangeAspect="true"/>
          </p:cNvPicPr>
          <p:nvPr/>
        </p:nvPicPr>
        <p:blipFill>
          <a:blip r:embed="rId1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2" id="1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strict ACLs.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Let me insist again: at least one of the programs provided by default</a:t>
            </a:r>
          </a:p>
          <a:p>
            <a:r>
              <a:rPr lang="en-US" sz="3700">
                <a:solidFill>
                  <a:srgbClr val="252525"/>
                </a:solidFill>
              </a:rPr>
              <a:t>    with the WASD server is extremely dangerous. I will not name it to avoid</a:t>
            </a:r>
          </a:p>
          <a:p>
            <a:r>
              <a:rPr lang="en-US" sz="3700">
                <a:solidFill>
                  <a:srgbClr val="252525"/>
                </a:solidFill>
              </a:rPr>
              <a:t>    helping too much the script kiddies, so in doubt remove everything</a:t>
            </a:r>
          </a:p>
          <a:p>
            <a:r>
              <a:rPr lang="en-US" sz="3700">
                <a:solidFill>
                  <a:srgbClr val="252525"/>
                </a:solidFill>
              </a:rPr>
              <a:t>    unless you know that you absolutely need it.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If the machine hosting the web server has some untrusted users with</a:t>
            </a:r>
          </a:p>
          <a:p>
            <a:r>
              <a:rPr lang="en-US" sz="3700">
                <a:solidFill>
                  <a:srgbClr val="252525"/>
                </a:solidFill>
              </a:rPr>
              <a:t>    local accounts on the machine, then forbid execution of arbitrary cgi</a:t>
            </a:r>
          </a:p>
          <a:p>
            <a:r>
              <a:rPr lang="en-US" sz="3700">
                <a:solidFill>
                  <a:srgbClr val="252525"/>
                </a:solidFill>
              </a:rPr>
              <a:t>    scripts in ~untrusted/cgi-bin with a rule such as:</a:t>
            </a:r>
          </a:p>
          <a:p>
            <a:r>
              <a:rPr lang="en-US" sz="3700">
                <a:solidFill>
                  <a:srgbClr val="252525"/>
                </a:solidFill>
              </a:rPr>
              <a:t>       fail /~untrusted/cgi-bin/*</a:t>
            </a:r>
          </a:p>
          <a:p>
            <a:r>
              <a:rPr lang="en-US" sz="3700">
                <a:solidFill>
                  <a:srgbClr val="252525"/>
                </a:solidFill>
              </a:rPr>
              <a:t>    put _before_ the rule</a:t>
            </a:r>
          </a:p>
          <a:p>
            <a:r>
              <a:rPr lang="en-US" sz="3700">
                <a:solidFill>
                  <a:srgbClr val="252525"/>
                </a:solidFill>
              </a:rPr>
              <a:t>       exec /~*/cgi-bin/* /user_disk/*/cgi-bin/*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4" id="114"/>
          <p:cNvPicPr>
            <a:picLocks noChangeAspect="true"/>
          </p:cNvPicPr>
          <p:nvPr/>
        </p:nvPicPr>
        <p:blipFill>
          <a:blip r:embed="rId1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4" id="1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or better, block cgi access to all local users.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5.6 Never run cgi scripts under the account of a privileged user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If you really need privileges in your cgi script, then force the</a:t>
            </a:r>
          </a:p>
          <a:p>
            <a:r>
              <a:rPr lang="en-US" sz="3700">
                <a:solidFill>
                  <a:srgbClr val="252525"/>
                </a:solidFill>
              </a:rPr>
              <a:t>    https protocol and force user authentication. Read the WASD documents</a:t>
            </a:r>
          </a:p>
          <a:p>
            <a:r>
              <a:rPr lang="en-US" sz="3700">
                <a:solidFill>
                  <a:srgbClr val="252525"/>
                </a:solidFill>
              </a:rPr>
              <a:t>    </a:t>
            </a:r>
          </a:p>
          <a:p>
            <a:r>
              <a:rPr lang="en-US" sz="3700">
                <a:solidFill>
                  <a:srgbClr val="252525"/>
                </a:solidFill>
              </a:rPr>
              <a:t>    Never do user authentication without SSL (the https protocol).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Do not run cgi scripts as user http$server. Strictly speaking, this</a:t>
            </a:r>
          </a:p>
          <a:p>
            <a:r>
              <a:rPr lang="en-US" sz="3700">
                <a:solidFill>
                  <a:srgbClr val="252525"/>
                </a:solidFill>
              </a:rPr>
              <a:t>    account is not privileged, but since it is also used to run the main</a:t>
            </a:r>
          </a:p>
        </p:txBody>
      </p:sp>
      <p:pic>
        <p:nvPicPr>
          <p:cNvPr name="Picture 116" id="116">
            <a:hlinkClick r:id="rId117"/>
          </p:cNvPr>
          <p:cNvPicPr>
            <a:picLocks noChangeAspect="true"/>
          </p:cNvPicPr>
          <p:nvPr/>
        </p:nvPicPr>
        <p:blipFill>
          <a:blip r:embed="rId116"/>
          <a:stretch>
            <a:fillRect/>
          </a:stretch>
        </p:blipFill>
        <p:spPr>
          <a:xfrm>
            <a:off x="6451600" y="77089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8" id="118"/>
          <p:cNvPicPr>
            <a:picLocks noChangeAspect="true"/>
          </p:cNvPicPr>
          <p:nvPr/>
        </p:nvPicPr>
        <p:blipFill>
          <a:blip r:embed="rId1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8" id="1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server, faulty cgi scripts can cause more harm than totally</a:t>
            </a:r>
          </a:p>
          <a:p>
            <a:r>
              <a:rPr lang="en-US" sz="3700">
                <a:solidFill>
                  <a:srgbClr val="252525"/>
                </a:solidFill>
              </a:rPr>
              <a:t>    unprivileged users.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If the machine hosting the web servers has untrusted local</a:t>
            </a:r>
          </a:p>
          <a:p>
            <a:r>
              <a:rPr lang="en-US" sz="3700">
                <a:solidFill>
                  <a:srgbClr val="252525"/>
                </a:solidFill>
              </a:rPr>
              <a:t>    users with a ~username/cgi-bin directory, then it is preferable to</a:t>
            </a:r>
          </a:p>
          <a:p>
            <a:r>
              <a:rPr lang="en-US" sz="3700">
                <a:solidFill>
                  <a:srgbClr val="252525"/>
                </a:solidFill>
              </a:rPr>
              <a:t>    either remove the ability to run scripts there, or at least run the</a:t>
            </a:r>
          </a:p>
          <a:p>
            <a:r>
              <a:rPr lang="en-US" sz="3700">
                <a:solidFill>
                  <a:srgbClr val="252525"/>
                </a:solidFill>
              </a:rPr>
              <a:t>    scripts as the user. Running those scripts as user http$server</a:t>
            </a:r>
          </a:p>
          <a:p>
            <a:r>
              <a:rPr lang="en-US" sz="3700">
                <a:solidFill>
                  <a:srgbClr val="252525"/>
                </a:solidFill>
              </a:rPr>
              <a:t>    lets the untrusted users do many things to the web server, such</a:t>
            </a:r>
          </a:p>
          <a:p>
            <a:r>
              <a:rPr lang="en-US" sz="3700">
                <a:solidFill>
                  <a:srgbClr val="252525"/>
                </a:solidFill>
              </a:rPr>
              <a:t>    as reading the server logs if ACLs are not set correctly, or killing</a:t>
            </a:r>
          </a:p>
          <a:p>
            <a:r>
              <a:rPr lang="en-US" sz="3700">
                <a:solidFill>
                  <a:srgbClr val="252525"/>
                </a:solidFill>
              </a:rPr>
              <a:t>    the main server process; it would be the equivalent of giving</a:t>
            </a:r>
          </a:p>
          <a:p>
            <a:r>
              <a:rPr lang="en-US" sz="3700">
                <a:solidFill>
                  <a:srgbClr val="252525"/>
                </a:solidFill>
              </a:rPr>
              <a:t>    the additional right [http$server] to the untrusted users.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0" id="120"/>
          <p:cNvPicPr>
            <a:picLocks noChangeAspect="true"/>
          </p:cNvPicPr>
          <p:nvPr/>
        </p:nvPicPr>
        <p:blipFill>
          <a:blip r:embed="rId1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0" id="12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6. Examples of site weaknesses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Several WASD sites were used for testing the various weaknesses. An actual</a:t>
            </a:r>
          </a:p>
          <a:p>
            <a:r>
              <a:rPr lang="en-US" sz="3700">
                <a:solidFill>
                  <a:srgbClr val="252525"/>
                </a:solidFill>
              </a:rPr>
              <a:t>  intrusion was made on two systems only to check that it was indeed feasible.</a:t>
            </a:r>
          </a:p>
          <a:p>
            <a:r>
              <a:rPr lang="en-US" sz="3700">
                <a:solidFill>
                  <a:srgbClr val="252525"/>
                </a:solidFill>
              </a:rPr>
              <a:t>  The system administrators were warned immediately. On other systems</a:t>
            </a:r>
          </a:p>
          <a:p>
            <a:r>
              <a:rPr lang="en-US" sz="3700">
                <a:solidFill>
                  <a:srgbClr val="252525"/>
                </a:solidFill>
              </a:rPr>
              <a:t>  the presence of the vulnerabilities was checked but was not used for</a:t>
            </a:r>
          </a:p>
          <a:p>
            <a:r>
              <a:rPr lang="en-US" sz="3700">
                <a:solidFill>
                  <a:srgbClr val="252525"/>
                </a:solidFill>
              </a:rPr>
              <a:t>  intrusion.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6.1 Site A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The first system compromise was not entirely due to weaknesses in WASD</a:t>
            </a:r>
          </a:p>
          <a:p>
            <a:r>
              <a:rPr lang="en-US" sz="3700">
                <a:solidFill>
                  <a:srgbClr val="252525"/>
                </a:solidFill>
              </a:rPr>
              <a:t>    and was only possible because of a flaw in an independent cgi script</a:t>
            </a:r>
          </a:p>
          <a:p>
            <a:r>
              <a:rPr lang="en-US" sz="3700">
                <a:solidFill>
                  <a:srgbClr val="252525"/>
                </a:solidFill>
              </a:rPr>
              <a:t>    which is not part of the WASD distribution.  However without the WASD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2" id="122"/>
          <p:cNvPicPr>
            <a:picLocks noChangeAspect="true"/>
          </p:cNvPicPr>
          <p:nvPr/>
        </p:nvPicPr>
        <p:blipFill>
          <a:blip r:embed="rId1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2" id="1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vulnerabilities, the faulty script would not have been found and its</a:t>
            </a:r>
          </a:p>
          <a:p>
            <a:r>
              <a:rPr lang="en-US" sz="3700">
                <a:solidFill>
                  <a:srgbClr val="252525"/>
                </a:solidFill>
              </a:rPr>
              <a:t>    source analysed to find the weakness.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The system was rather well (but not perfectly) configured. But the</a:t>
            </a:r>
          </a:p>
          <a:p>
            <a:r>
              <a:rPr lang="en-US" sz="3700">
                <a:solidFill>
                  <a:srgbClr val="252525"/>
                </a:solidFill>
              </a:rPr>
              <a:t>    system administrator had left a faulty script in his cgi-bin directory.</a:t>
            </a:r>
          </a:p>
          <a:p>
            <a:r>
              <a:rPr lang="en-US" sz="3700">
                <a:solidFill>
                  <a:srgbClr val="252525"/>
                </a:solidFill>
              </a:rPr>
              <a:t>    The home directory was correctly protected by ACLs so even the WASD</a:t>
            </a:r>
          </a:p>
          <a:p>
            <a:r>
              <a:rPr lang="en-US" sz="3700">
                <a:solidFill>
                  <a:srgbClr val="252525"/>
                </a:solidFill>
              </a:rPr>
              <a:t>    vulnerabilities didn't allow reading it. The list of scripts and their</a:t>
            </a:r>
          </a:p>
          <a:p>
            <a:r>
              <a:rPr lang="en-US" sz="3700">
                <a:solidFill>
                  <a:srgbClr val="252525"/>
                </a:solidFill>
              </a:rPr>
              <a:t>    sources were supposed to be protected by the WASD configuration, but</a:t>
            </a:r>
          </a:p>
          <a:p>
            <a:r>
              <a:rPr lang="en-US" sz="3700">
                <a:solidFill>
                  <a:srgbClr val="252525"/>
                </a:solidFill>
              </a:rPr>
              <a:t>    it was very easy to work around this using the "upd" and the "extract"</a:t>
            </a:r>
          </a:p>
          <a:p>
            <a:r>
              <a:rPr lang="en-US" sz="3700">
                <a:solidFill>
                  <a:srgbClr val="252525"/>
                </a:solidFill>
              </a:rPr>
              <a:t>    builtin scripts as described in section 4.2.7.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There was an another weakness in the WASD configuration: the script was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4" id="124"/>
          <p:cNvPicPr>
            <a:picLocks noChangeAspect="true"/>
          </p:cNvPicPr>
          <p:nvPr/>
        </p:nvPicPr>
        <p:blipFill>
          <a:blip r:embed="rId1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4" id="1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run under the identity of the owner of the script, which was the system</a:t>
            </a:r>
          </a:p>
          <a:p>
            <a:r>
              <a:rPr lang="en-US" sz="3700">
                <a:solidFill>
                  <a:srgbClr val="252525"/>
                </a:solidFill>
              </a:rPr>
              <a:t>    administrator. This account was not the predefined SYSTEM account but</a:t>
            </a:r>
          </a:p>
          <a:p>
            <a:r>
              <a:rPr lang="en-US" sz="3700">
                <a:solidFill>
                  <a:srgbClr val="252525"/>
                </a:solidFill>
              </a:rPr>
              <a:t>    still had many privileges. It was then possible to remotely run any</a:t>
            </a:r>
          </a:p>
          <a:p>
            <a:r>
              <a:rPr lang="en-US" sz="3700">
                <a:solidFill>
                  <a:srgbClr val="252525"/>
                </a:solidFill>
              </a:rPr>
              <a:t>    command with those privileges. The system administrator was told</a:t>
            </a:r>
          </a:p>
          <a:p>
            <a:r>
              <a:rPr lang="en-US" sz="3700">
                <a:solidFill>
                  <a:srgbClr val="252525"/>
                </a:solidFill>
              </a:rPr>
              <a:t>    how the compromise was done and how to fix the server.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6.2 Site B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The story is very similar, but in this case a flaw in one of the scripts</a:t>
            </a:r>
          </a:p>
          <a:p>
            <a:r>
              <a:rPr lang="en-US" sz="3700">
                <a:solidFill>
                  <a:srgbClr val="252525"/>
                </a:solidFill>
              </a:rPr>
              <a:t>    provided by WASD was used. The flaw was particularly severe because the</a:t>
            </a:r>
          </a:p>
          <a:p>
            <a:r>
              <a:rPr lang="en-US" sz="3700">
                <a:solidFill>
                  <a:srgbClr val="252525"/>
                </a:solidFill>
              </a:rPr>
              <a:t>    particular configuration used at this site allowed some scripts to be run</a:t>
            </a:r>
          </a:p>
          <a:p>
            <a:r>
              <a:rPr lang="en-US" sz="3700">
                <a:solidFill>
                  <a:srgbClr val="252525"/>
                </a:solidFill>
              </a:rPr>
              <a:t>    under the identity of a system administrator, who had all privileges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6" id="126"/>
          <p:cNvPicPr>
            <a:picLocks noChangeAspect="true"/>
          </p:cNvPicPr>
          <p:nvPr/>
        </p:nvPicPr>
        <p:blipFill>
          <a:blip r:embed="rId1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6" id="1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(SETPRV, which is the equivalent of root). The system administrators</a:t>
            </a:r>
          </a:p>
          <a:p>
            <a:r>
              <a:rPr lang="en-US" sz="3700">
                <a:solidFill>
                  <a:srgbClr val="252525"/>
                </a:solidFill>
              </a:rPr>
              <a:t>    were warned about the flaw and fixed it immediately.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6.3 Sites C,D,E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On three different sites, all directories and files were owned by the</a:t>
            </a:r>
          </a:p>
          <a:p>
            <a:r>
              <a:rPr lang="en-US" sz="3700">
                <a:solidFill>
                  <a:srgbClr val="252525"/>
                </a:solidFill>
              </a:rPr>
              <a:t>    user which runs all cgi scripts. So these sites were particularly</a:t>
            </a:r>
          </a:p>
          <a:p>
            <a:r>
              <a:rPr lang="en-US" sz="3700">
                <a:solidFill>
                  <a:srgbClr val="252525"/>
                </a:solidFill>
              </a:rPr>
              <a:t>    vulnerable: any flaw in a scrit can immediately lead to a SYSTEM</a:t>
            </a:r>
          </a:p>
          <a:p>
            <a:r>
              <a:rPr lang="en-US" sz="3700">
                <a:solidFill>
                  <a:srgbClr val="252525"/>
                </a:solidFill>
              </a:rPr>
              <a:t>    compromise because the script has write access to everything. The</a:t>
            </a:r>
          </a:p>
          <a:p>
            <a:r>
              <a:rPr lang="en-US" sz="3700">
                <a:solidFill>
                  <a:srgbClr val="252525"/>
                </a:solidFill>
              </a:rPr>
              <a:t>    system administrators have been warned and the sites have been fixed.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6.4 Almost all sites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In almost all tested sites, it was very easy 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8" id="128"/>
          <p:cNvPicPr>
            <a:picLocks noChangeAspect="true"/>
          </p:cNvPicPr>
          <p:nvPr/>
        </p:nvPicPr>
        <p:blipFill>
          <a:blip r:embed="rId1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8" id="1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to get read access to</a:t>
            </a:r>
          </a:p>
          <a:p>
            <a:r>
              <a:rPr lang="en-US" sz="3700">
                <a:solidFill>
                  <a:srgbClr val="252525"/>
                </a:solidFill>
              </a:rPr>
              <a:t>    important configuration files that are supposed to stay confidential,</a:t>
            </a:r>
          </a:p>
          <a:p>
            <a:r>
              <a:rPr lang="en-US" sz="3700">
                <a:solidFill>
                  <a:srgbClr val="252525"/>
                </a:solidFill>
              </a:rPr>
              <a:t>    and to get the list and sources of all cgi scripts, including site</a:t>
            </a:r>
          </a:p>
          <a:p>
            <a:r>
              <a:rPr lang="en-US" sz="3700">
                <a:solidFill>
                  <a:srgbClr val="252525"/>
                </a:solidFill>
              </a:rPr>
              <a:t>    specific scripts.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7. Conclusion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Do not blindly believe that, if something runs on OpenVMS, then it must</a:t>
            </a:r>
          </a:p>
          <a:p>
            <a:r>
              <a:rPr lang="en-US" sz="3700">
                <a:solidFill>
                  <a:srgbClr val="252525"/>
                </a:solidFill>
              </a:rPr>
              <a:t>  be secure. Common sense precautions such as not giving away the entire</a:t>
            </a:r>
          </a:p>
          <a:p>
            <a:r>
              <a:rPr lang="en-US" sz="3700">
                <a:solidFill>
                  <a:srgbClr val="252525"/>
                </a:solidFill>
              </a:rPr>
              <a:t>  server tree or all script sources, and checking user input in all cgi</a:t>
            </a:r>
          </a:p>
          <a:p>
            <a:r>
              <a:rPr lang="en-US" sz="3700">
                <a:solidFill>
                  <a:srgbClr val="252525"/>
                </a:solidFill>
              </a:rPr>
              <a:t>  scripts, must be taken even on OpenVMS.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If you are using WASD 8.0 or earlier, fix your configuration *immediately*.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0" id="130"/>
          <p:cNvPicPr>
            <a:picLocks noChangeAspect="true"/>
          </p:cNvPicPr>
          <p:nvPr/>
        </p:nvPicPr>
        <p:blipFill>
          <a:blip r:embed="rId1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0" id="1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Jean-loup Gailly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/>
            </a:r>
          </a:p>
          <a:p>
            <a:r>
              <a:rPr lang="en-US" sz="3700">
                <a:solidFill>
                  <a:srgbClr val="252525"/>
                </a:solidFill>
              </a:rPr>
              <a:t>PGP or GPG key: </a:t>
            </a:r>
          </a:p>
          <a:p>
            <a:r>
              <a:rPr lang="en-US" sz="3700">
                <a:solidFill>
                  <a:srgbClr val="252525"/>
                </a:solidFill>
              </a:rPr>
              <a:t>PGP sig: E3EC F4DF 7EDB E724 A3EC  FBC2 D9A2 7D25 0196 71A7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Questions about the WASD server should be sent to its author Mark Daniel</a:t>
            </a:r>
          </a:p>
          <a:p>
            <a:r>
              <a:rPr lang="en-US" sz="3700">
                <a:solidFill>
                  <a:srgbClr val="252525"/>
                </a:solidFill>
              </a:rPr>
              <a:t>&lt;Mark.Daniel@wasd.vsm.com.au&gt;. Questions about this advisory should be</a:t>
            </a:r>
          </a:p>
          <a:p>
            <a:r>
              <a:rPr lang="en-US" sz="3700">
                <a:solidFill>
                  <a:srgbClr val="252525"/>
                </a:solidFill>
              </a:rPr>
              <a:t>sent to Jean-loup Gailly &lt;jloup@gailly.net&gt;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8. Acknowledgments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Thanks to Mark Daniel, author of the </a:t>
            </a:r>
          </a:p>
        </p:txBody>
      </p:sp>
      <p:pic>
        <p:nvPicPr>
          <p:cNvPr name="Picture 132" id="132">
            <a:hlinkClick r:id="rId133"/>
          </p:cNvPr>
          <p:cNvPicPr>
            <a:picLocks noChangeAspect="true"/>
          </p:cNvPicPr>
          <p:nvPr/>
        </p:nvPicPr>
        <p:blipFill>
          <a:blip r:embed="rId132"/>
          <a:stretch>
            <a:fillRect/>
          </a:stretch>
        </p:blipFill>
        <p:spPr>
          <a:xfrm>
            <a:off x="6451600" y="12661900"/>
            <a:ext cx="10820400" cy="1714500"/>
          </a:xfrm>
          <a:prstGeom prst="rect">
            <a:avLst/>
          </a:prstGeom>
        </p:spPr>
      </p:pic>
      <p:pic>
        <p:nvPicPr>
          <p:cNvPr name="Picture 134" id="134">
            <a:hlinkClick r:id="rId135"/>
          </p:cNvPr>
          <p:cNvPicPr>
            <a:picLocks noChangeAspect="true"/>
          </p:cNvPicPr>
          <p:nvPr/>
        </p:nvPicPr>
        <p:blipFill>
          <a:blip r:embed="rId134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6" id="136"/>
          <p:cNvPicPr>
            <a:picLocks noChangeAspect="true"/>
          </p:cNvPicPr>
          <p:nvPr/>
        </p:nvPicPr>
        <p:blipFill>
          <a:blip r:embed="rId1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6" id="1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WASD server, for making it free</a:t>
            </a:r>
          </a:p>
          <a:p>
            <a:r>
              <a:rPr lang="en-US" sz="3700">
                <a:solidFill>
                  <a:srgbClr val="252525"/>
                </a:solidFill>
              </a:rPr>
              <a:t>  software, for quickly answering to my initial report, and for working</a:t>
            </a:r>
          </a:p>
          <a:p>
            <a:r>
              <a:rPr lang="en-US" sz="3700">
                <a:solidFill>
                  <a:srgbClr val="252525"/>
                </a:solidFill>
              </a:rPr>
              <a:t>  insane hours to fix all the problems I reported.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Thanks to Beave and Doc Cypher for providing free accounts on their</a:t>
            </a:r>
          </a:p>
          <a:p>
            <a:r>
              <a:rPr lang="en-US" sz="3700">
                <a:solidFill>
                  <a:srgbClr val="252525"/>
                </a:solidFill>
              </a:rPr>
              <a:t>  respective OpenVMS servers, for testing the proposed solutions and</a:t>
            </a:r>
          </a:p>
          <a:p>
            <a:r>
              <a:rPr lang="en-US" sz="3700">
                <a:solidFill>
                  <a:srgbClr val="252525"/>
                </a:solidFill>
              </a:rPr>
              <a:t>  suggesting improvements.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Thanks to Jeremy Begg for hosting the WASD demonstration server.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9. Document history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- Sept. 16, 2002: draft 0.1, WASD vendor contacted</a:t>
            </a:r>
          </a:p>
          <a:p>
            <a:r>
              <a:rPr lang="en-US" sz="3700">
                <a:solidFill>
                  <a:srgbClr val="252525"/>
                </a:solidFill>
              </a:rPr>
              <a:t> - Sept. 16, 2002: draft 0.2, added section 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8" id="138"/>
          <p:cNvPicPr>
            <a:picLocks noChangeAspect="true"/>
          </p:cNvPicPr>
          <p:nvPr/>
        </p:nvPicPr>
        <p:blipFill>
          <a:blip r:embed="rId1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8" id="1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"don't run cgi as trusted user"</a:t>
            </a:r>
          </a:p>
          <a:p>
            <a:r>
              <a:rPr lang="en-US" sz="3700">
                <a:solidFill>
                  <a:srgbClr val="252525"/>
                </a:solidFill>
              </a:rPr>
              <a:t> - Sept. 19, 2002: draft 0.3  </a:t>
            </a:r>
          </a:p>
          <a:p>
            <a:r>
              <a:rPr lang="en-US" sz="3700">
                <a:solidFill>
                  <a:srgbClr val="252525"/>
                </a:solidFill>
              </a:rPr>
              <a:t>   . mention the possibility of remote SYSTEM compromise</a:t>
            </a:r>
          </a:p>
          <a:p>
            <a:r>
              <a:rPr lang="en-US" sz="3700">
                <a:solidFill>
                  <a:srgbClr val="252525"/>
                </a:solidFill>
              </a:rPr>
              <a:t>   . added disclosure of full physical path in 4.2.2</a:t>
            </a:r>
          </a:p>
          <a:p>
            <a:r>
              <a:rPr lang="en-US" sz="3700">
                <a:solidFill>
                  <a:srgbClr val="252525"/>
                </a:solidFill>
              </a:rPr>
              <a:t>   . added directory traversal with glist.com in 4.2.6</a:t>
            </a:r>
          </a:p>
          <a:p>
            <a:r>
              <a:rPr lang="en-US" sz="3700">
                <a:solidFill>
                  <a:srgbClr val="252525"/>
                </a:solidFill>
              </a:rPr>
              <a:t>   . added section 4.3 "CGI scripts are run under the identity of the server"</a:t>
            </a:r>
          </a:p>
          <a:p>
            <a:r>
              <a:rPr lang="en-US" sz="3700">
                <a:solidFill>
                  <a:srgbClr val="252525"/>
                </a:solidFill>
              </a:rPr>
              <a:t> - Sept. 23, 2002: CERT contacted</a:t>
            </a:r>
          </a:p>
          <a:p>
            <a:r>
              <a:rPr lang="en-US" sz="3700">
                <a:solidFill>
                  <a:srgbClr val="252525"/>
                </a:solidFill>
              </a:rPr>
              <a:t> - Sept. 25, 2002: version 1.0. Added reference to WASD advisory in 5.1</a:t>
            </a:r>
          </a:p>
          <a:p>
            <a:r>
              <a:rPr lang="en-US" sz="3700">
                <a:solidFill>
                  <a:srgbClr val="252525"/>
                </a:solidFill>
              </a:rPr>
              <a:t> - Sept. 25, 2002: Info-WASD mailing list informed</a:t>
            </a:r>
          </a:p>
          <a:p>
            <a:r>
              <a:rPr lang="en-US" sz="3700">
                <a:solidFill>
                  <a:srgbClr val="252525"/>
                </a:solidFill>
              </a:rPr>
              <a:t> - Sept. 26, 2002: sent to Bugtraq for publication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This document is available at</a:t>
            </a:r>
          </a:p>
          <a:p>
            <a:r>
              <a:rPr lang="en-US" sz="3700">
                <a:solidFill>
                  <a:srgbClr val="252525"/>
                </a:solidFill>
              </a:rPr>
              <a:t>  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0" id="140"/>
          <p:cNvPicPr>
            <a:picLocks noChangeAspect="true"/>
          </p:cNvPicPr>
          <p:nvPr/>
        </p:nvPicPr>
        <p:blipFill>
          <a:blip r:embed="rId1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0" id="1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</a:p>
          <a:p>
            <a:r>
              <a:rPr lang="en-US" sz="3700">
                <a:solidFill>
                  <a:srgbClr val="252525"/>
                </a:solidFill>
              </a:rPr>
              <a:t>It is provided under the policy documented at</a:t>
            </a:r>
          </a:p>
          <a:p>
            <a:r>
              <a:rPr lang="en-US" sz="3700">
                <a:solidFill>
                  <a:srgbClr val="252525"/>
                </a:solidFill>
              </a:rPr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-----BEGIN PGP SIGNATURE-----</a:t>
            </a:r>
          </a:p>
          <a:p>
            <a:r>
              <a:rPr lang="en-US" sz="3700">
                <a:solidFill>
                  <a:srgbClr val="252525"/>
                </a:solidFill>
              </a:rPr>
              <a:t>Version: GnuPG v1.0.6 (GNU/Linux)</a:t>
            </a:r>
          </a:p>
          <a:p>
            <a:r>
              <a:rPr lang="en-US" sz="3700">
                <a:solidFill>
                  <a:srgbClr val="252525"/>
                </a:solidFill>
              </a:rPr>
              <a:t>Comment: For info see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iD8DBQE9kYF02aJ9JQGWcacRAiZSAJ9StmBUBUYnWC+Smnq5ZzC7EsrolQCfYeSX</a:t>
            </a:r>
          </a:p>
          <a:p>
            <a:r>
              <a:rPr lang="en-US" sz="3700">
                <a:solidFill>
                  <a:srgbClr val="252525"/>
                </a:solidFill>
              </a:rPr>
              <a:t>LVJofzQzIUzriquN6J847GM=</a:t>
            </a:r>
          </a:p>
          <a:p>
            <a:r>
              <a:rPr lang="en-US" sz="3700">
                <a:solidFill>
                  <a:srgbClr val="252525"/>
                </a:solidFill>
              </a:rPr>
              <a:t>=F2B9</a:t>
            </a:r>
          </a:p>
          <a:p>
            <a:r>
              <a:rPr lang="en-US" sz="3700">
                <a:solidFill>
                  <a:srgbClr val="252525"/>
                </a:solidFill>
              </a:rPr>
              <a:t>-----END PGP SIGNATURE-----</a:t>
            </a:r>
          </a:p>
        </p:txBody>
      </p:sp>
      <p:pic>
        <p:nvPicPr>
          <p:cNvPr name="Picture 142" id="142">
            <a:hlinkClick r:id="rId143"/>
          </p:cNvPr>
          <p:cNvPicPr>
            <a:picLocks noChangeAspect="true"/>
          </p:cNvPicPr>
          <p:nvPr/>
        </p:nvPicPr>
        <p:blipFill>
          <a:blip r:embed="rId142"/>
          <a:stretch>
            <a:fillRect/>
          </a:stretch>
        </p:blipFill>
        <p:spPr>
          <a:xfrm>
            <a:off x="6451600" y="11684000"/>
            <a:ext cx="10820400" cy="1714500"/>
          </a:xfrm>
          <a:prstGeom prst="rect">
            <a:avLst/>
          </a:prstGeom>
        </p:spPr>
      </p:pic>
      <p:pic>
        <p:nvPicPr>
          <p:cNvPr name="Picture 144" id="144">
            <a:hlinkClick r:id="rId145"/>
          </p:cNvPr>
          <p:cNvPicPr>
            <a:picLocks noChangeAspect="true"/>
          </p:cNvPicPr>
          <p:nvPr/>
        </p:nvPicPr>
        <p:blipFill>
          <a:blip r:embed="rId144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  <p:pic>
        <p:nvPicPr>
          <p:cNvPr name="Picture 146" id="146">
            <a:hlinkClick r:id="rId147"/>
          </p:cNvPr>
          <p:cNvPicPr>
            <a:picLocks noChangeAspect="true"/>
          </p:cNvPicPr>
          <p:nvPr/>
        </p:nvPicPr>
        <p:blipFill>
          <a:blip r:embed="rId146"/>
          <a:stretch>
            <a:fillRect/>
          </a:stretch>
        </p:blipFill>
        <p:spPr>
          <a:xfrm>
            <a:off x="6451600" y="5270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8" id="148"/>
          <p:cNvPicPr>
            <a:picLocks noChangeAspect="true"/>
          </p:cNvPicPr>
          <p:nvPr/>
        </p:nvPicPr>
        <p:blipFill>
          <a:blip r:embed="rId1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