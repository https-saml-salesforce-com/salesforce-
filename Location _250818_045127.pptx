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Lst>
  <p:sldSz cx="23749000" cy="168021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5.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 Id="rId106" Type="http://schemas.openxmlformats.org/officeDocument/2006/relationships/slide" Target="slides/slide101.xml"/><Relationship Id="rId107" Type="http://schemas.openxmlformats.org/officeDocument/2006/relationships/slide" Target="slides/slide102.xml"/><Relationship Id="rId108" Type="http://schemas.openxmlformats.org/officeDocument/2006/relationships/slide" Target="slides/slide103.xml"/><Relationship Id="rId109" Type="http://schemas.openxmlformats.org/officeDocument/2006/relationships/slide" Target="slides/slide104.xml"/><Relationship Id="rId11" Type="http://schemas.openxmlformats.org/officeDocument/2006/relationships/slide" Target="slides/slide6.xml"/><Relationship Id="rId110" Type="http://schemas.openxmlformats.org/officeDocument/2006/relationships/slide" Target="slides/slide105.xml"/><Relationship Id="rId111" Type="http://schemas.openxmlformats.org/officeDocument/2006/relationships/slide" Target="slides/slide106.xml"/><Relationship Id="rId112" Type="http://schemas.openxmlformats.org/officeDocument/2006/relationships/slide" Target="slides/slide107.xml"/><Relationship Id="rId113" Type="http://schemas.openxmlformats.org/officeDocument/2006/relationships/slide" Target="slides/slide108.xml"/><Relationship Id="rId114" Type="http://schemas.openxmlformats.org/officeDocument/2006/relationships/slide" Target="slides/slide109.xml"/><Relationship Id="rId115" Type="http://schemas.openxmlformats.org/officeDocument/2006/relationships/slide" Target="slides/slide110.xml"/><Relationship Id="rId116" Type="http://schemas.openxmlformats.org/officeDocument/2006/relationships/slide" Target="slides/slide111.xml"/><Relationship Id="rId117" Type="http://schemas.openxmlformats.org/officeDocument/2006/relationships/slide" Target="slides/slide112.xml"/><Relationship Id="rId118" Type="http://schemas.openxmlformats.org/officeDocument/2006/relationships/slide" Target="slides/slide113.xml"/><Relationship Id="rId119" Type="http://schemas.openxmlformats.org/officeDocument/2006/relationships/slide" Target="slides/slide114.xml"/><Relationship Id="rId12" Type="http://schemas.openxmlformats.org/officeDocument/2006/relationships/slide" Target="slides/slide7.xml"/><Relationship Id="rId120" Type="http://schemas.openxmlformats.org/officeDocument/2006/relationships/slide" Target="slides/slide115.xml"/><Relationship Id="rId121" Type="http://schemas.openxmlformats.org/officeDocument/2006/relationships/slide" Target="slides/slide116.xml"/><Relationship Id="rId122" Type="http://schemas.openxmlformats.org/officeDocument/2006/relationships/slide" Target="slides/slide117.xml"/><Relationship Id="rId123" Type="http://schemas.openxmlformats.org/officeDocument/2006/relationships/slide" Target="slides/slide118.xml"/><Relationship Id="rId124" Type="http://schemas.openxmlformats.org/officeDocument/2006/relationships/slide" Target="slides/slide119.xml"/><Relationship Id="rId125" Type="http://schemas.openxmlformats.org/officeDocument/2006/relationships/slide" Target="slides/slide120.xml"/><Relationship Id="rId126" Type="http://schemas.openxmlformats.org/officeDocument/2006/relationships/slide" Target="slides/slide121.xml"/><Relationship Id="rId127" Type="http://schemas.openxmlformats.org/officeDocument/2006/relationships/slide" Target="slides/slide122.xml"/><Relationship Id="rId128" Type="http://schemas.openxmlformats.org/officeDocument/2006/relationships/slide" Target="slides/slide123.xml"/><Relationship Id="rId129" Type="http://schemas.openxmlformats.org/officeDocument/2006/relationships/slide" Target="slides/slide124.xml"/><Relationship Id="rId13" Type="http://schemas.openxmlformats.org/officeDocument/2006/relationships/slide" Target="slides/slide8.xml"/><Relationship Id="rId130" Type="http://schemas.openxmlformats.org/officeDocument/2006/relationships/slide" Target="slides/slide125.xml"/><Relationship Id="rId131" Type="http://schemas.openxmlformats.org/officeDocument/2006/relationships/slide" Target="slides/slide126.xml"/><Relationship Id="rId132" Type="http://schemas.openxmlformats.org/officeDocument/2006/relationships/slide" Target="slides/slide127.xml"/><Relationship Id="rId133" Type="http://schemas.openxmlformats.org/officeDocument/2006/relationships/slide" Target="slides/slide128.xml"/><Relationship Id="rId134" Type="http://schemas.openxmlformats.org/officeDocument/2006/relationships/slide" Target="slides/slide129.xml"/><Relationship Id="rId135" Type="http://schemas.openxmlformats.org/officeDocument/2006/relationships/slide" Target="slides/slide130.xml"/><Relationship Id="rId136" Type="http://schemas.openxmlformats.org/officeDocument/2006/relationships/slide" Target="slides/slide131.xml"/><Relationship Id="rId137" Type="http://schemas.openxmlformats.org/officeDocument/2006/relationships/slide" Target="slides/slide132.xml"/><Relationship Id="rId138" Type="http://schemas.openxmlformats.org/officeDocument/2006/relationships/slide" Target="slides/slide133.xml"/><Relationship Id="rId139" Type="http://schemas.openxmlformats.org/officeDocument/2006/relationships/slide" Target="slides/slide134.xml"/><Relationship Id="rId14" Type="http://schemas.openxmlformats.org/officeDocument/2006/relationships/slide" Target="slides/slide9.xml"/><Relationship Id="rId140" Type="http://schemas.openxmlformats.org/officeDocument/2006/relationships/slide" Target="slides/slide135.xml"/><Relationship Id="rId141" Type="http://schemas.openxmlformats.org/officeDocument/2006/relationships/slide" Target="slides/slide136.xml"/><Relationship Id="rId142" Type="http://schemas.openxmlformats.org/officeDocument/2006/relationships/slide" Target="slides/slide137.xml"/><Relationship Id="rId143" Type="http://schemas.openxmlformats.org/officeDocument/2006/relationships/slide" Target="slides/slide138.xml"/><Relationship Id="rId144" Type="http://schemas.openxmlformats.org/officeDocument/2006/relationships/slide" Target="slides/slide139.xml"/><Relationship Id="rId145" Type="http://schemas.openxmlformats.org/officeDocument/2006/relationships/slide" Target="slides/slide140.xml"/><Relationship Id="rId146" Type="http://schemas.openxmlformats.org/officeDocument/2006/relationships/slide" Target="slides/slide141.xml"/><Relationship Id="rId147" Type="http://schemas.openxmlformats.org/officeDocument/2006/relationships/slide" Target="slides/slide142.xml"/><Relationship Id="rId148" Type="http://schemas.openxmlformats.org/officeDocument/2006/relationships/slide" Target="slides/slide143.xml"/><Relationship Id="rId149" Type="http://schemas.openxmlformats.org/officeDocument/2006/relationships/slide" Target="slides/slide144.xml"/><Relationship Id="rId15" Type="http://schemas.openxmlformats.org/officeDocument/2006/relationships/slide" Target="slides/slide10.xml"/><Relationship Id="rId150" Type="http://schemas.openxmlformats.org/officeDocument/2006/relationships/slide" Target="slides/slide145.xml"/><Relationship Id="rId151" Type="http://schemas.openxmlformats.org/officeDocument/2006/relationships/slide" Target="slides/slide146.xml"/><Relationship Id="rId152" Type="http://schemas.openxmlformats.org/officeDocument/2006/relationships/slide" Target="slides/slide147.xml"/><Relationship Id="rId153" Type="http://schemas.openxmlformats.org/officeDocument/2006/relationships/slide" Target="slides/slide148.xml"/><Relationship Id="rId154" Type="http://schemas.openxmlformats.org/officeDocument/2006/relationships/slide" Target="slides/slide149.xml"/><Relationship Id="rId155" Type="http://schemas.openxmlformats.org/officeDocument/2006/relationships/slide" Target="slides/slide150.xml"/><Relationship Id="rId156" Type="http://schemas.openxmlformats.org/officeDocument/2006/relationships/slide" Target="slides/slide151.xml"/><Relationship Id="rId157" Type="http://schemas.openxmlformats.org/officeDocument/2006/relationships/slide" Target="slides/slide152.xml"/><Relationship Id="rId158" Type="http://schemas.openxmlformats.org/officeDocument/2006/relationships/slide" Target="slides/slide153.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 Type="http://schemas.openxmlformats.org/officeDocument/2006/relationships/presProps" Target="presProps.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 Type="http://schemas.openxmlformats.org/officeDocument/2006/relationships/viewProps" Target="viewProps.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 Type="http://schemas.openxmlformats.org/officeDocument/2006/relationships/theme" Target="theme/theme1.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 Type="http://schemas.openxmlformats.org/officeDocument/2006/relationships/tableStyles" Target="tableStyles.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 Type="http://schemas.openxmlformats.org/officeDocument/2006/relationships/slide" Target="slides/slide1.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 Type="http://schemas.openxmlformats.org/officeDocument/2006/relationships/slide" Target="slides/slide2.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 Type="http://schemas.openxmlformats.org/officeDocument/2006/relationships/slide" Target="slides/slide3.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 Type="http://schemas.openxmlformats.org/officeDocument/2006/relationships/slide" Target="slides/slide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6" Type="http://schemas.openxmlformats.org/officeDocument/2006/relationships/image" Target="../media/image6.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8" Type="http://schemas.openxmlformats.org/officeDocument/2006/relationships/image" Target="../media/image8.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10" Type="http://schemas.openxmlformats.org/officeDocument/2006/relationships/image" Target="../media/image10.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12" Type="http://schemas.openxmlformats.org/officeDocument/2006/relationships/image" Target="../media/image12.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14" Type="http://schemas.openxmlformats.org/officeDocument/2006/relationships/image" Target="../media/image14.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16" Type="http://schemas.openxmlformats.org/officeDocument/2006/relationships/image" Target="../media/image16.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18" Type="http://schemas.openxmlformats.org/officeDocument/2006/relationships/image" Target="../media/image18.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0" Type="http://schemas.openxmlformats.org/officeDocument/2006/relationships/image" Target="../media/image20.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2" Type="http://schemas.openxmlformats.org/officeDocument/2006/relationships/image" Target="../media/image22.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4" Type="http://schemas.openxmlformats.org/officeDocument/2006/relationships/image" Target="../media/image24.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6" Type="http://schemas.openxmlformats.org/officeDocument/2006/relationships/image" Target="../media/image26.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8" Type="http://schemas.openxmlformats.org/officeDocument/2006/relationships/image" Target="../media/image28.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30" Type="http://schemas.openxmlformats.org/officeDocument/2006/relationships/image" Target="../media/image30.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32" Type="http://schemas.openxmlformats.org/officeDocument/2006/relationships/image" Target="../media/image32.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34" Type="http://schemas.openxmlformats.org/officeDocument/2006/relationships/image" Target="../media/image34.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36" Type="http://schemas.openxmlformats.org/officeDocument/2006/relationships/image" Target="../media/image36.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38" Type="http://schemas.openxmlformats.org/officeDocument/2006/relationships/image" Target="../media/image38.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40" Type="http://schemas.openxmlformats.org/officeDocument/2006/relationships/image" Target="../media/image40.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 Id="rId42" Type="http://schemas.openxmlformats.org/officeDocument/2006/relationships/image" Target="../media/image42.pn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7.xml"/><Relationship Id="rId44" Type="http://schemas.openxmlformats.org/officeDocument/2006/relationships/image" Target="../media/image44.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7.xml"/><Relationship Id="rId46" Type="http://schemas.openxmlformats.org/officeDocument/2006/relationships/image" Target="../media/image46.pn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7.xml"/><Relationship Id="rId48" Type="http://schemas.openxmlformats.org/officeDocument/2006/relationships/image" Target="../media/image48.pn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7.xml"/><Relationship Id="rId50" Type="http://schemas.openxmlformats.org/officeDocument/2006/relationships/image" Target="../media/image50.pn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7.xml"/><Relationship Id="rId52" Type="http://schemas.openxmlformats.org/officeDocument/2006/relationships/image" Target="../media/image52.pn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7.xml"/><Relationship Id="rId54" Type="http://schemas.openxmlformats.org/officeDocument/2006/relationships/image" Target="../media/image54.pn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7.xml"/><Relationship Id="rId56" Type="http://schemas.openxmlformats.org/officeDocument/2006/relationships/image" Target="../media/image56.pn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7.xml"/><Relationship Id="rId58" Type="http://schemas.openxmlformats.org/officeDocument/2006/relationships/image" Target="../media/image58.pn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7.xml"/><Relationship Id="rId60" Type="http://schemas.openxmlformats.org/officeDocument/2006/relationships/image" Target="../media/image60.png"/></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7.xml"/><Relationship Id="rId62" Type="http://schemas.openxmlformats.org/officeDocument/2006/relationships/image" Target="../media/image62.pn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7.xml"/><Relationship Id="rId64" Type="http://schemas.openxmlformats.org/officeDocument/2006/relationships/image" Target="../media/image64.pn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7.xml"/><Relationship Id="rId66" Type="http://schemas.openxmlformats.org/officeDocument/2006/relationships/image" Target="../media/image66.pn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7.xml"/><Relationship Id="rId68" Type="http://schemas.openxmlformats.org/officeDocument/2006/relationships/image" Target="../media/image68.pn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7.xml"/><Relationship Id="rId70" Type="http://schemas.openxmlformats.org/officeDocument/2006/relationships/image" Target="../media/image70.pn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7.xml"/><Relationship Id="rId72" Type="http://schemas.openxmlformats.org/officeDocument/2006/relationships/image" Target="../media/image72.pn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7.xml"/><Relationship Id="rId74" Type="http://schemas.openxmlformats.org/officeDocument/2006/relationships/image" Target="../media/image74.png"/></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7.xml"/><Relationship Id="rId76" Type="http://schemas.openxmlformats.org/officeDocument/2006/relationships/image" Target="../media/image76.png"/></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7.xml"/><Relationship Id="rId78" Type="http://schemas.openxmlformats.org/officeDocument/2006/relationships/image" Target="../media/image78.png"/></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7.xml"/><Relationship Id="rId80" Type="http://schemas.openxmlformats.org/officeDocument/2006/relationships/image" Target="../media/image80.pn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7.xml"/><Relationship Id="rId82" Type="http://schemas.openxmlformats.org/officeDocument/2006/relationships/image" Target="../media/image82.png"/></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7.xml"/><Relationship Id="rId84" Type="http://schemas.openxmlformats.org/officeDocument/2006/relationships/image" Target="../media/image84.png"/></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7.xml"/><Relationship Id="rId86" Type="http://schemas.openxmlformats.org/officeDocument/2006/relationships/image" Target="../media/image86.png"/></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7.xml"/><Relationship Id="rId88" Type="http://schemas.openxmlformats.org/officeDocument/2006/relationships/image" Target="../media/image88.png"/></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7.xml"/><Relationship Id="rId90" Type="http://schemas.openxmlformats.org/officeDocument/2006/relationships/image" Target="../media/image90.png"/></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7.xml"/><Relationship Id="rId92" Type="http://schemas.openxmlformats.org/officeDocument/2006/relationships/image" Target="../media/image92.png"/></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7.xml"/><Relationship Id="rId94" Type="http://schemas.openxmlformats.org/officeDocument/2006/relationships/image" Target="../media/image94.png"/></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7.xml"/><Relationship Id="rId96" Type="http://schemas.openxmlformats.org/officeDocument/2006/relationships/image" Target="../media/image96.png"/></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7.xml"/><Relationship Id="rId98" Type="http://schemas.openxmlformats.org/officeDocument/2006/relationships/image" Target="../media/image98.png"/></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7.xml"/><Relationship Id="rId100" Type="http://schemas.openxmlformats.org/officeDocument/2006/relationships/image" Target="../media/image100.png"/></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7.xml"/><Relationship Id="rId102" Type="http://schemas.openxmlformats.org/officeDocument/2006/relationships/image" Target="../media/image102.png"/></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7.xml"/><Relationship Id="rId104" Type="http://schemas.openxmlformats.org/officeDocument/2006/relationships/image" Target="../media/image104.png"/></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7.xml"/><Relationship Id="rId106" Type="http://schemas.openxmlformats.org/officeDocument/2006/relationships/image" Target="../media/image106.png"/></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7.xml"/><Relationship Id="rId108" Type="http://schemas.openxmlformats.org/officeDocument/2006/relationships/image" Target="../media/image108.png"/></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7.xml"/><Relationship Id="rId110" Type="http://schemas.openxmlformats.org/officeDocument/2006/relationships/image" Target="../media/image110.png"/></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7.xml"/><Relationship Id="rId112" Type="http://schemas.openxmlformats.org/officeDocument/2006/relationships/image" Target="../media/image112.png"/></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7.xml"/><Relationship Id="rId114" Type="http://schemas.openxmlformats.org/officeDocument/2006/relationships/image" Target="../media/image114.png"/></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7.xml"/><Relationship Id="rId116" Type="http://schemas.openxmlformats.org/officeDocument/2006/relationships/image" Target="../media/image116.png"/></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7.xml"/><Relationship Id="rId118" Type="http://schemas.openxmlformats.org/officeDocument/2006/relationships/image" Target="../media/image118.png"/></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7.xml"/><Relationship Id="rId120" Type="http://schemas.openxmlformats.org/officeDocument/2006/relationships/image" Target="../media/image120.png"/></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7.xml"/><Relationship Id="rId122" Type="http://schemas.openxmlformats.org/officeDocument/2006/relationships/image" Target="../media/image122.png"/></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7.xml"/><Relationship Id="rId124" Type="http://schemas.openxmlformats.org/officeDocument/2006/relationships/image" Target="../media/image124.png"/></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7.xml"/><Relationship Id="rId126" Type="http://schemas.openxmlformats.org/officeDocument/2006/relationships/image" Target="../media/image126.png"/></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7.xml"/><Relationship Id="rId128" Type="http://schemas.openxmlformats.org/officeDocument/2006/relationships/image" Target="../media/image128.png"/></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7.xml"/><Relationship Id="rId130" Type="http://schemas.openxmlformats.org/officeDocument/2006/relationships/image" Target="../media/image130.png"/></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7.xml"/><Relationship Id="rId132" Type="http://schemas.openxmlformats.org/officeDocument/2006/relationships/image" Target="../media/image132.png"/></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7.xml"/><Relationship Id="rId134" Type="http://schemas.openxmlformats.org/officeDocument/2006/relationships/image" Target="../media/image134.png"/></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7.xml"/><Relationship Id="rId136" Type="http://schemas.openxmlformats.org/officeDocument/2006/relationships/image" Target="../media/image136.png"/></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7.xml"/><Relationship Id="rId138" Type="http://schemas.openxmlformats.org/officeDocument/2006/relationships/image" Target="../media/image138.png"/></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7.xml"/><Relationship Id="rId140" Type="http://schemas.openxmlformats.org/officeDocument/2006/relationships/image" Target="../media/image140.png"/></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7.xml"/><Relationship Id="rId142" Type="http://schemas.openxmlformats.org/officeDocument/2006/relationships/image" Target="../media/image142.png"/></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7.xml"/><Relationship Id="rId144" Type="http://schemas.openxmlformats.org/officeDocument/2006/relationships/image" Target="../media/image144.png"/></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7.xml"/><Relationship Id="rId146" Type="http://schemas.openxmlformats.org/officeDocument/2006/relationships/image" Target="../media/image146.png"/></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7.xml"/><Relationship Id="rId148" Type="http://schemas.openxmlformats.org/officeDocument/2006/relationships/image" Target="../media/image148.png"/></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7.xml"/><Relationship Id="rId150" Type="http://schemas.openxmlformats.org/officeDocument/2006/relationships/image" Target="../media/image150.png"/></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7.xml"/><Relationship Id="rId152" Type="http://schemas.openxmlformats.org/officeDocument/2006/relationships/image" Target="../media/image152.png"/></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7.xml"/><Relationship Id="rId154" Type="http://schemas.openxmlformats.org/officeDocument/2006/relationships/image" Target="../media/image154.png"/></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7.xml"/><Relationship Id="rId156" Type="http://schemas.openxmlformats.org/officeDocument/2006/relationships/image" Target="../media/image156.png"/></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7.xml"/><Relationship Id="rId158" Type="http://schemas.openxmlformats.org/officeDocument/2006/relationships/image" Target="../media/image158.png"/></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7.xml"/><Relationship Id="rId160" Type="http://schemas.openxmlformats.org/officeDocument/2006/relationships/image" Target="../media/image160.png"/></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7.xml"/><Relationship Id="rId162" Type="http://schemas.openxmlformats.org/officeDocument/2006/relationships/image" Target="../media/image162.png"/></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7.xml"/><Relationship Id="rId164" Type="http://schemas.openxmlformats.org/officeDocument/2006/relationships/image" Target="../media/image164.png"/></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7.xml"/><Relationship Id="rId166" Type="http://schemas.openxmlformats.org/officeDocument/2006/relationships/image" Target="../media/image166.png"/></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7.xml"/><Relationship Id="rId168" Type="http://schemas.openxmlformats.org/officeDocument/2006/relationships/image" Target="../media/image168.png"/></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7.xml"/><Relationship Id="rId170" Type="http://schemas.openxmlformats.org/officeDocument/2006/relationships/image" Target="../media/image170.png"/></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7.xml"/><Relationship Id="rId172" Type="http://schemas.openxmlformats.org/officeDocument/2006/relationships/image" Target="../media/image172.png"/></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7.xml"/><Relationship Id="rId174" Type="http://schemas.openxmlformats.org/officeDocument/2006/relationships/image" Target="../media/image174.png"/></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7.xml"/><Relationship Id="rId176" Type="http://schemas.openxmlformats.org/officeDocument/2006/relationships/image" Target="../media/image176.png"/></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7.xml"/><Relationship Id="rId178" Type="http://schemas.openxmlformats.org/officeDocument/2006/relationships/image" Target="../media/image178.png"/></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7.xml"/><Relationship Id="rId180" Type="http://schemas.openxmlformats.org/officeDocument/2006/relationships/image" Target="../media/image180.png"/></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7.xml"/><Relationship Id="rId182" Type="http://schemas.openxmlformats.org/officeDocument/2006/relationships/image" Target="../media/image182.png"/></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7.xml"/><Relationship Id="rId184" Type="http://schemas.openxmlformats.org/officeDocument/2006/relationships/image" Target="../media/image184.png"/></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7.xml"/><Relationship Id="rId186" Type="http://schemas.openxmlformats.org/officeDocument/2006/relationships/image" Target="../media/image186.png"/></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7.xml"/><Relationship Id="rId188" Type="http://schemas.openxmlformats.org/officeDocument/2006/relationships/image" Target="../media/image188.png"/></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7.xml"/><Relationship Id="rId190" Type="http://schemas.openxmlformats.org/officeDocument/2006/relationships/image" Target="../media/image190.png"/></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7.xml"/><Relationship Id="rId192" Type="http://schemas.openxmlformats.org/officeDocument/2006/relationships/image" Target="../media/image192.png"/></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7.xml"/><Relationship Id="rId194" Type="http://schemas.openxmlformats.org/officeDocument/2006/relationships/image" Target="../media/image194.png"/></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7.xml"/><Relationship Id="rId196" Type="http://schemas.openxmlformats.org/officeDocument/2006/relationships/image" Target="../media/image196.png"/></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7.xml"/><Relationship Id="rId198" Type="http://schemas.openxmlformats.org/officeDocument/2006/relationships/image" Target="../media/image198.png"/></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7.xml"/><Relationship Id="rId200" Type="http://schemas.openxmlformats.org/officeDocument/2006/relationships/image" Target="../media/image200.png"/></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7.xml"/><Relationship Id="rId202" Type="http://schemas.openxmlformats.org/officeDocument/2006/relationships/image" Target="../media/image202.png"/></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7.xml"/><Relationship Id="rId204" Type="http://schemas.openxmlformats.org/officeDocument/2006/relationships/image" Target="../media/image204.png"/></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7.xml"/><Relationship Id="rId206" Type="http://schemas.openxmlformats.org/officeDocument/2006/relationships/image" Target="../media/image206.png"/></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7.xml"/><Relationship Id="rId208" Type="http://schemas.openxmlformats.org/officeDocument/2006/relationships/image" Target="../media/image208.png"/></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7.xml"/><Relationship Id="rId210" Type="http://schemas.openxmlformats.org/officeDocument/2006/relationships/image" Target="../media/image210.png"/></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7.xml"/><Relationship Id="rId212" Type="http://schemas.openxmlformats.org/officeDocument/2006/relationships/image" Target="../media/image212.png"/></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7.xml"/><Relationship Id="rId214" Type="http://schemas.openxmlformats.org/officeDocument/2006/relationships/image" Target="../media/image214.png"/></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7.xml"/><Relationship Id="rId216" Type="http://schemas.openxmlformats.org/officeDocument/2006/relationships/image" Target="../media/image216.png"/></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7.xml"/><Relationship Id="rId218" Type="http://schemas.openxmlformats.org/officeDocument/2006/relationships/image" Target="../media/image218.png"/></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7.xml"/><Relationship Id="rId220" Type="http://schemas.openxmlformats.org/officeDocument/2006/relationships/image" Target="../media/image220.png"/></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7.xml"/><Relationship Id="rId222" Type="http://schemas.openxmlformats.org/officeDocument/2006/relationships/image" Target="../media/image222.png"/></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7.xml"/><Relationship Id="rId224" Type="http://schemas.openxmlformats.org/officeDocument/2006/relationships/image" Target="../media/image224.png"/></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7.xml"/><Relationship Id="rId226" Type="http://schemas.openxmlformats.org/officeDocument/2006/relationships/image" Target="../media/image226.png"/></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7.xml"/><Relationship Id="rId228" Type="http://schemas.openxmlformats.org/officeDocument/2006/relationships/image" Target="../media/image228.png"/></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7.xml"/><Relationship Id="rId230" Type="http://schemas.openxmlformats.org/officeDocument/2006/relationships/image" Target="../media/image230.png"/></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7.xml"/><Relationship Id="rId232" Type="http://schemas.openxmlformats.org/officeDocument/2006/relationships/image" Target="../media/image232.png"/></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7.xml"/><Relationship Id="rId234" Type="http://schemas.openxmlformats.org/officeDocument/2006/relationships/image" Target="../media/image234.png"/></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7.xml"/><Relationship Id="rId236" Type="http://schemas.openxmlformats.org/officeDocument/2006/relationships/image" Target="../media/image236.png"/></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7.xml"/><Relationship Id="rId238" Type="http://schemas.openxmlformats.org/officeDocument/2006/relationships/image" Target="../media/image238.png"/></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7.xml"/><Relationship Id="rId240" Type="http://schemas.openxmlformats.org/officeDocument/2006/relationships/image" Target="../media/image240.png"/></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7.xml"/><Relationship Id="rId242" Type="http://schemas.openxmlformats.org/officeDocument/2006/relationships/image" Target="../media/image242.png"/></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7.xml"/><Relationship Id="rId244" Type="http://schemas.openxmlformats.org/officeDocument/2006/relationships/image" Target="../media/image244.png"/></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7.xml"/><Relationship Id="rId246" Type="http://schemas.openxmlformats.org/officeDocument/2006/relationships/image" Target="../media/image246.png"/></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7.xml"/><Relationship Id="rId248" Type="http://schemas.openxmlformats.org/officeDocument/2006/relationships/image" Target="../media/image248.png"/></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7.xml"/><Relationship Id="rId250" Type="http://schemas.openxmlformats.org/officeDocument/2006/relationships/image" Target="../media/image250.png"/></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7.xml"/><Relationship Id="rId252" Type="http://schemas.openxmlformats.org/officeDocument/2006/relationships/image" Target="../media/image252.png"/></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7.xml"/><Relationship Id="rId254" Type="http://schemas.openxmlformats.org/officeDocument/2006/relationships/image" Target="../media/image254.png"/></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7.xml"/><Relationship Id="rId256" Type="http://schemas.openxmlformats.org/officeDocument/2006/relationships/image" Target="../media/image256.png"/></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7.xml"/><Relationship Id="rId258" Type="http://schemas.openxmlformats.org/officeDocument/2006/relationships/image" Target="../media/image258.png"/></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7.xml"/><Relationship Id="rId260" Type="http://schemas.openxmlformats.org/officeDocument/2006/relationships/image" Target="../media/image260.png"/></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7.xml"/><Relationship Id="rId262" Type="http://schemas.openxmlformats.org/officeDocument/2006/relationships/image" Target="../media/image262.png"/></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7.xml"/><Relationship Id="rId264" Type="http://schemas.openxmlformats.org/officeDocument/2006/relationships/image" Target="../media/image264.png"/></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7.xml"/><Relationship Id="rId266" Type="http://schemas.openxmlformats.org/officeDocument/2006/relationships/image" Target="../media/image266.png"/></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7.xml"/><Relationship Id="rId268" Type="http://schemas.openxmlformats.org/officeDocument/2006/relationships/image" Target="../media/image268.png"/></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7.xml"/><Relationship Id="rId270" Type="http://schemas.openxmlformats.org/officeDocument/2006/relationships/image" Target="../media/image270.png"/></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7.xml"/><Relationship Id="rId272" Type="http://schemas.openxmlformats.org/officeDocument/2006/relationships/image" Target="../media/image272.png"/></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7.xml"/><Relationship Id="rId274" Type="http://schemas.openxmlformats.org/officeDocument/2006/relationships/image" Target="../media/image274.png"/></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7.xml"/><Relationship Id="rId276" Type="http://schemas.openxmlformats.org/officeDocument/2006/relationships/image" Target="../media/image276.png"/></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7.xml"/><Relationship Id="rId278" Type="http://schemas.openxmlformats.org/officeDocument/2006/relationships/image" Target="../media/image278.png"/></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7.xml"/><Relationship Id="rId280" Type="http://schemas.openxmlformats.org/officeDocument/2006/relationships/image" Target="../media/image280.png"/></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7.xml"/><Relationship Id="rId282" Type="http://schemas.openxmlformats.org/officeDocument/2006/relationships/image" Target="../media/image282.png"/></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7.xml"/><Relationship Id="rId284" Type="http://schemas.openxmlformats.org/officeDocument/2006/relationships/image" Target="../media/image284.png"/></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7.xml"/><Relationship Id="rId286" Type="http://schemas.openxmlformats.org/officeDocument/2006/relationships/image" Target="../media/image286.png"/></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7.xml"/><Relationship Id="rId288" Type="http://schemas.openxmlformats.org/officeDocument/2006/relationships/image" Target="../media/image288.png"/></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7.xml"/><Relationship Id="rId290" Type="http://schemas.openxmlformats.org/officeDocument/2006/relationships/image" Target="../media/image290.png"/></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7.xml"/><Relationship Id="rId292" Type="http://schemas.openxmlformats.org/officeDocument/2006/relationships/image" Target="../media/image292.png"/></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7.xml"/><Relationship Id="rId294" Type="http://schemas.openxmlformats.org/officeDocument/2006/relationships/image" Target="../media/image294.png"/></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7.xml"/><Relationship Id="rId296" Type="http://schemas.openxmlformats.org/officeDocument/2006/relationships/image" Target="../media/image296.png"/></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7.xml"/><Relationship Id="rId298" Type="http://schemas.openxmlformats.org/officeDocument/2006/relationships/image" Target="../media/image298.png"/></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7.xml"/><Relationship Id="rId300" Type="http://schemas.openxmlformats.org/officeDocument/2006/relationships/image" Target="../media/image300.png"/></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7.xml"/><Relationship Id="rId302" Type="http://schemas.openxmlformats.org/officeDocument/2006/relationships/image" Target="../media/image302.png"/></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7.xml"/><Relationship Id="rId304" Type="http://schemas.openxmlformats.org/officeDocument/2006/relationships/image" Target="../media/image304.png"/></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7.xml"/><Relationship Id="rId306" Type="http://schemas.openxmlformats.org/officeDocument/2006/relationships/image" Target="../media/image306.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127000"/>
            <a:ext cx="23749000" cy="16548100"/>
          </a:xfrm>
          <a:prstGeom prst="rect">
            <a:avLst/>
          </a:prstGeom>
        </p:spPr>
      </p:pic>
      <p:sp>
        <p:nvSpPr>
          <p:cNvPr name="TextBox 2" id="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t>
            </a:r>
          </a:p>
          <a:p>
            <a:r>
              <a:rPr lang="en-US" sz="3700">
                <a:solidFill>
                  <a:srgbClr val="252525"/>
                </a:solidFill>
              </a:rPr>
              <a:t>  "schemas": {</a:t>
            </a:r>
          </a:p>
          <a:p>
            <a:r>
              <a:rPr lang="en-US" sz="3700">
                <a:solidFill>
                  <a:srgbClr val="252525"/>
                </a:solidFill>
              </a:rPr>
              <a:t>    "Lodging": {</a:t>
            </a:r>
          </a:p>
          <a:p>
            <a:r>
              <a:rPr lang="en-US" sz="3700">
                <a:solidFill>
                  <a:srgbClr val="252525"/>
                </a:solidFill>
              </a:rPr>
              <a:t>      "id": "Lodging",</a:t>
            </a:r>
          </a:p>
          <a:p>
            <a:r>
              <a:rPr lang="en-US" sz="3700">
                <a:solidFill>
                  <a:srgbClr val="252525"/>
                </a:solidFill>
              </a:rPr>
              <a:t>      "description": "Lodging of a location that provides accomodations.",</a:t>
            </a:r>
          </a:p>
          <a:p>
            <a:r>
              <a:rPr lang="en-US" sz="3700">
                <a:solidFill>
                  <a:srgbClr val="252525"/>
                </a:solidFill>
              </a:rPr>
              <a:t>      "type": "object",</a:t>
            </a:r>
          </a:p>
          <a:p>
            <a:r>
              <a:rPr lang="en-US" sz="3700">
                <a:solidFill>
                  <a:srgbClr val="252525"/>
                </a:solidFill>
              </a:rPr>
              <a:t>      "properties": {</a:t>
            </a:r>
          </a:p>
          <a:p>
            <a:r>
              <a:rPr lang="en-US" sz="3700">
                <a:solidFill>
                  <a:srgbClr val="252525"/>
                </a:solidFill>
              </a:rPr>
              <a:t>        "name": {</a:t>
            </a:r>
          </a:p>
          <a:p>
            <a:r>
              <a:rPr lang="en-US" sz="3700">
                <a:solidFill>
                  <a:srgbClr val="252525"/>
                </a:solidFill>
              </a:rPr>
              <a:t>          "description": "Required. Google identifier for this location in the form: `locations/{location_id}/lodging`",</a:t>
            </a:r>
          </a:p>
          <a:p>
            <a:r>
              <a:rPr lang="en-US" sz="3700">
                <a:solidFill>
                  <a:srgbClr val="252525"/>
                </a:solidFill>
              </a:rPr>
              <a:t>          "type": "string"</a:t>
            </a:r>
          </a:p>
          <a:p>
            <a:r>
              <a:rPr lang="en-US" sz="3700">
                <a:solidFill>
                  <a:srgbClr val="252525"/>
                </a:solidFill>
              </a:rPr>
              <a:t>        },</a:t>
            </a:r>
          </a:p>
          <a:p>
            <a:r>
              <a:rPr lang="en-US" sz="3700">
                <a:solidFill>
                  <a:srgbClr val="252525"/>
                </a:solidFill>
              </a:rPr>
              <a:t>        "metadata": {</a:t>
            </a:r>
          </a:p>
          <a:p>
            <a:r>
              <a:rPr lang="en-US" sz="3700">
                <a:solidFill>
                  <a:srgbClr val="252525"/>
                </a:solidFill>
              </a:rPr>
              <a:t>          "description": "Required. Metadata for the lodging.",</a:t>
            </a:r>
          </a:p>
          <a:p>
            <a:r>
              <a:rPr lang="en-US" sz="3700">
                <a:solidFill>
                  <a:srgbClr val="252525"/>
                </a:solidFill>
              </a:rPr>
              <a:t>          "$ref": "LodgingMetadata"</a:t>
            </a:r>
          </a:p>
          <a:p>
            <a:r>
              <a:rPr lang="en-US" sz="3700">
                <a:solidFill>
                  <a:srgbClr val="252525"/>
                </a:solidFill>
              </a:rPr>
              <a:t>        },</a:t>
            </a:r>
          </a:p>
          <a:p>
            <a:r>
              <a:rPr lang="en-US" sz="3700">
                <a:solidFill>
                  <a:srgbClr val="252525"/>
                </a:solidFill>
              </a:rPr>
              <a:t>        "property": {</a:t>
            </a:r>
          </a:p>
          <a:p>
            <a:r>
              <a:rPr lang="en-US" sz="3700">
                <a:solidFill>
                  <a:srgbClr val="252525"/>
                </a:solidFill>
              </a:rPr>
              <a:t>          "description": "General factual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 id="4"/>
          <p:cNvPicPr>
            <a:picLocks noChangeAspect="true"/>
          </p:cNvPicPr>
          <p:nvPr/>
        </p:nvPicPr>
        <p:blipFill>
          <a:blip r:embed="rId4"/>
          <a:stretch>
            <a:fillRect/>
          </a:stretch>
        </p:blipFill>
        <p:spPr>
          <a:xfrm>
            <a:off x="0" y="127000"/>
            <a:ext cx="23749000" cy="16548100"/>
          </a:xfrm>
          <a:prstGeom prst="rect">
            <a:avLst/>
          </a:prstGeom>
        </p:spPr>
      </p:pic>
      <p:sp>
        <p:nvSpPr>
          <p:cNvPr name="TextBox 4" id="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information about the property's physical structure and important dates.",</a:t>
            </a:r>
          </a:p>
          <a:p>
            <a:r>
              <a:rPr lang="en-US" sz="3700">
                <a:solidFill>
                  <a:srgbClr val="252525"/>
                </a:solidFill>
              </a:rPr>
              <a:t>          "$ref": "Property"</a:t>
            </a:r>
          </a:p>
          <a:p>
            <a:r>
              <a:rPr lang="en-US" sz="3700">
                <a:solidFill>
                  <a:srgbClr val="252525"/>
                </a:solidFill>
              </a:rPr>
              <a:t>        },</a:t>
            </a:r>
          </a:p>
          <a:p>
            <a:r>
              <a:rPr lang="en-US" sz="3700">
                <a:solidFill>
                  <a:srgbClr val="252525"/>
                </a:solidFill>
              </a:rPr>
              <a:t>        "services": {</a:t>
            </a:r>
          </a:p>
          <a:p>
            <a:r>
              <a:rPr lang="en-US" sz="3700">
                <a:solidFill>
                  <a:srgbClr val="252525"/>
                </a:solidFill>
              </a:rPr>
              <a:t>          "description": "Conveniences or help provided by the property to facilitate an easier, more comfortable stay.",</a:t>
            </a:r>
          </a:p>
          <a:p>
            <a:r>
              <a:rPr lang="en-US" sz="3700">
                <a:solidFill>
                  <a:srgbClr val="252525"/>
                </a:solidFill>
              </a:rPr>
              <a:t>          "$ref": "Services"</a:t>
            </a:r>
          </a:p>
          <a:p>
            <a:r>
              <a:rPr lang="en-US" sz="3700">
                <a:solidFill>
                  <a:srgbClr val="252525"/>
                </a:solidFill>
              </a:rPr>
              <a:t>        },</a:t>
            </a:r>
          </a:p>
          <a:p>
            <a:r>
              <a:rPr lang="en-US" sz="3700">
                <a:solidFill>
                  <a:srgbClr val="252525"/>
                </a:solidFill>
              </a:rPr>
              <a:t>        "policies": {</a:t>
            </a:r>
          </a:p>
          <a:p>
            <a:r>
              <a:rPr lang="en-US" sz="3700">
                <a:solidFill>
                  <a:srgbClr val="252525"/>
                </a:solidFill>
              </a:rPr>
              <a:t>          "description": "Property rules that impact guests.",</a:t>
            </a:r>
          </a:p>
          <a:p>
            <a:r>
              <a:rPr lang="en-US" sz="3700">
                <a:solidFill>
                  <a:srgbClr val="252525"/>
                </a:solidFill>
              </a:rPr>
              <a:t>          "$ref": "Policies"</a:t>
            </a:r>
          </a:p>
          <a:p>
            <a:r>
              <a:rPr lang="en-US" sz="3700">
                <a:solidFill>
                  <a:srgbClr val="252525"/>
                </a:solidFill>
              </a:rPr>
              <a:t>        },</a:t>
            </a:r>
          </a:p>
          <a:p>
            <a:r>
              <a:rPr lang="en-US" sz="3700">
                <a:solidFill>
                  <a:srgbClr val="252525"/>
                </a:solidFill>
              </a:rPr>
              <a:t>        "foodAndDrink": {</a:t>
            </a:r>
          </a:p>
          <a:p>
            <a:r>
              <a:rPr lang="en-US" sz="3700">
                <a:solidFill>
                  <a:srgbClr val="252525"/>
                </a:solidFill>
              </a:rPr>
              <a:t>          "description": "Meals, snacks, and beverages available at the property.",</a:t>
            </a:r>
          </a:p>
          <a:p>
            <a:r>
              <a:rPr lang="en-US" sz="3700">
                <a:solidFill>
                  <a:srgbClr val="252525"/>
                </a:solidFill>
              </a:rPr>
              <a:t>          "$ref": "FoodAndDrink"</a:t>
            </a:r>
          </a:p>
          <a:p>
            <a:r>
              <a:rPr lang="en-US" sz="3700">
                <a:solidFill>
                  <a:srgbClr val="252525"/>
                </a:solidFill>
              </a:rPr>
              <a:t>        },</a:t>
            </a:r>
          </a:p>
          <a:p>
            <a:r>
              <a:rPr lang="en-US" sz="3700">
                <a:solidFill>
                  <a:srgbClr val="252525"/>
                </a:solidFill>
              </a:rPr>
              <a:t>        "pools":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 id="6"/>
          <p:cNvPicPr>
            <a:picLocks noChangeAspect="true"/>
          </p:cNvPicPr>
          <p:nvPr/>
        </p:nvPicPr>
        <p:blipFill>
          <a:blip r:embed="rId6"/>
          <a:stretch>
            <a:fillRect/>
          </a:stretch>
        </p:blipFill>
        <p:spPr>
          <a:xfrm>
            <a:off x="0" y="127000"/>
            <a:ext cx="23749000" cy="16548100"/>
          </a:xfrm>
          <a:prstGeom prst="rect">
            <a:avLst/>
          </a:prstGeom>
        </p:spPr>
      </p:pic>
      <p:sp>
        <p:nvSpPr>
          <p:cNvPr name="TextBox 6" id="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"description": "Swimming pool or recreational water facilities available at the hotel.",</a:t>
            </a:r>
          </a:p>
          <a:p>
            <a:r>
              <a:rPr lang="en-US" sz="3700">
                <a:solidFill>
                  <a:srgbClr val="252525"/>
                </a:solidFill>
              </a:rPr>
              <a:t>          "$ref": "Pools"</a:t>
            </a:r>
          </a:p>
          <a:p>
            <a:r>
              <a:rPr lang="en-US" sz="3700">
                <a:solidFill>
                  <a:srgbClr val="252525"/>
                </a:solidFill>
              </a:rPr>
              <a:t>        },</a:t>
            </a:r>
          </a:p>
          <a:p>
            <a:r>
              <a:rPr lang="en-US" sz="3700">
                <a:solidFill>
                  <a:srgbClr val="252525"/>
                </a:solidFill>
              </a:rPr>
              <a:t>        "wellness": {</a:t>
            </a:r>
          </a:p>
          <a:p>
            <a:r>
              <a:rPr lang="en-US" sz="3700">
                <a:solidFill>
                  <a:srgbClr val="252525"/>
                </a:solidFill>
              </a:rPr>
              <a:t>          "description": "Guest facilities at the property to promote or maintain health, beauty, and fitness.",</a:t>
            </a:r>
          </a:p>
          <a:p>
            <a:r>
              <a:rPr lang="en-US" sz="3700">
                <a:solidFill>
                  <a:srgbClr val="252525"/>
                </a:solidFill>
              </a:rPr>
              <a:t>          "$ref": "Wellness"</a:t>
            </a:r>
          </a:p>
          <a:p>
            <a:r>
              <a:rPr lang="en-US" sz="3700">
                <a:solidFill>
                  <a:srgbClr val="252525"/>
                </a:solidFill>
              </a:rPr>
              <a:t>        },</a:t>
            </a:r>
          </a:p>
          <a:p>
            <a:r>
              <a:rPr lang="en-US" sz="3700">
                <a:solidFill>
                  <a:srgbClr val="252525"/>
                </a:solidFill>
              </a:rPr>
              <a:t>        "activities": {</a:t>
            </a:r>
          </a:p>
          <a:p>
            <a:r>
              <a:rPr lang="en-US" sz="3700">
                <a:solidFill>
                  <a:srgbClr val="252525"/>
                </a:solidFill>
              </a:rPr>
              <a:t>          "description": "Amenities and features related to leisure and play.",</a:t>
            </a:r>
          </a:p>
          <a:p>
            <a:r>
              <a:rPr lang="en-US" sz="3700">
                <a:solidFill>
                  <a:srgbClr val="252525"/>
                </a:solidFill>
              </a:rPr>
              <a:t>          "$ref": "Activities"</a:t>
            </a:r>
          </a:p>
          <a:p>
            <a:r>
              <a:rPr lang="en-US" sz="3700">
                <a:solidFill>
                  <a:srgbClr val="252525"/>
                </a:solidFill>
              </a:rPr>
              <a:t>        },</a:t>
            </a:r>
          </a:p>
          <a:p>
            <a:r>
              <a:rPr lang="en-US" sz="3700">
                <a:solidFill>
                  <a:srgbClr val="252525"/>
                </a:solidFill>
              </a:rPr>
              <a:t>        "transportation": {</a:t>
            </a:r>
          </a:p>
          <a:p>
            <a:r>
              <a:rPr lang="en-US" sz="3700">
                <a:solidFill>
                  <a:srgbClr val="252525"/>
                </a:solidFill>
              </a:rPr>
              <a:t>          "description": "Vehicles or vehicular services facilitated or owned by the property.",</a:t>
            </a:r>
          </a:p>
          <a:p>
            <a:r>
              <a:rPr lang="en-US" sz="3700">
                <a:solidFill>
                  <a:srgbClr val="252525"/>
                </a:solidFill>
              </a:rPr>
              <a:t>          "$ref": "Transportation"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 id="8"/>
          <p:cNvPicPr>
            <a:picLocks noChangeAspect="true"/>
          </p:cNvPicPr>
          <p:nvPr/>
        </p:nvPicPr>
        <p:blipFill>
          <a:blip r:embed="rId8"/>
          <a:stretch>
            <a:fillRect/>
          </a:stretch>
        </p:blipFill>
        <p:spPr>
          <a:xfrm>
            <a:off x="0" y="127000"/>
            <a:ext cx="23749000" cy="16548100"/>
          </a:xfrm>
          <a:prstGeom prst="rect">
            <a:avLst/>
          </a:prstGeom>
        </p:spPr>
      </p:pic>
      <p:sp>
        <p:nvSpPr>
          <p:cNvPr name="TextBox 8" id="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"families": {</a:t>
            </a:r>
          </a:p>
          <a:p>
            <a:r>
              <a:rPr lang="en-US" sz="3700">
                <a:solidFill>
                  <a:srgbClr val="252525"/>
                </a:solidFill>
              </a:rPr>
              <a:t>          "description": "Services and amenities for families and young guests.",</a:t>
            </a:r>
          </a:p>
          <a:p>
            <a:r>
              <a:rPr lang="en-US" sz="3700">
                <a:solidFill>
                  <a:srgbClr val="252525"/>
                </a:solidFill>
              </a:rPr>
              <a:t>          "$ref": "Families"</a:t>
            </a:r>
          </a:p>
          <a:p>
            <a:r>
              <a:rPr lang="en-US" sz="3700">
                <a:solidFill>
                  <a:srgbClr val="252525"/>
                </a:solidFill>
              </a:rPr>
              <a:t>        },</a:t>
            </a:r>
          </a:p>
          <a:p>
            <a:r>
              <a:rPr lang="en-US" sz="3700">
                <a:solidFill>
                  <a:srgbClr val="252525"/>
                </a:solidFill>
              </a:rPr>
              <a:t>        "connectivity": {</a:t>
            </a:r>
          </a:p>
          <a:p>
            <a:r>
              <a:rPr lang="en-US" sz="3700">
                <a:solidFill>
                  <a:srgbClr val="252525"/>
                </a:solidFill>
              </a:rPr>
              <a:t>          "description": "The ways in which the property provides guests with the ability to access the internet.",</a:t>
            </a:r>
          </a:p>
          <a:p>
            <a:r>
              <a:rPr lang="en-US" sz="3700">
                <a:solidFill>
                  <a:srgbClr val="252525"/>
                </a:solidFill>
              </a:rPr>
              <a:t>          "$ref": "Connectivity"</a:t>
            </a:r>
          </a:p>
          <a:p>
            <a:r>
              <a:rPr lang="en-US" sz="3700">
                <a:solidFill>
                  <a:srgbClr val="252525"/>
                </a:solidFill>
              </a:rPr>
              <a:t>        },</a:t>
            </a:r>
          </a:p>
          <a:p>
            <a:r>
              <a:rPr lang="en-US" sz="3700">
                <a:solidFill>
                  <a:srgbClr val="252525"/>
                </a:solidFill>
              </a:rPr>
              <a:t>        "business": {</a:t>
            </a:r>
          </a:p>
          <a:p>
            <a:r>
              <a:rPr lang="en-US" sz="3700">
                <a:solidFill>
                  <a:srgbClr val="252525"/>
                </a:solidFill>
              </a:rPr>
              <a:t>          "description": "Features of the property of specific interest to the business traveler.",</a:t>
            </a:r>
          </a:p>
          <a:p>
            <a:r>
              <a:rPr lang="en-US" sz="3700">
                <a:solidFill>
                  <a:srgbClr val="252525"/>
                </a:solidFill>
              </a:rPr>
              <a:t>          "$ref": "Business"</a:t>
            </a:r>
          </a:p>
          <a:p>
            <a:r>
              <a:rPr lang="en-US" sz="3700">
                <a:solidFill>
                  <a:srgbClr val="252525"/>
                </a:solidFill>
              </a:rPr>
              <a:t>        },</a:t>
            </a:r>
          </a:p>
          <a:p>
            <a:r>
              <a:rPr lang="en-US" sz="3700">
                <a:solidFill>
                  <a:srgbClr val="252525"/>
                </a:solidFill>
              </a:rPr>
              <a:t>        "accessibility": {</a:t>
            </a:r>
          </a:p>
          <a:p>
            <a:r>
              <a:rPr lang="en-US" sz="3700">
                <a:solidFill>
                  <a:srgbClr val="252525"/>
                </a:solidFill>
              </a:rPr>
              <a:t>          "description": "Physical adaptations made to the property in consideration of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 id="10"/>
          <p:cNvPicPr>
            <a:picLocks noChangeAspect="true"/>
          </p:cNvPicPr>
          <p:nvPr/>
        </p:nvPicPr>
        <p:blipFill>
          <a:blip r:embed="rId10"/>
          <a:stretch>
            <a:fillRect/>
          </a:stretch>
        </p:blipFill>
        <p:spPr>
          <a:xfrm>
            <a:off x="0" y="127000"/>
            <a:ext cx="23749000" cy="16548100"/>
          </a:xfrm>
          <a:prstGeom prst="rect">
            <a:avLst/>
          </a:prstGeom>
        </p:spPr>
      </p:pic>
      <p:sp>
        <p:nvSpPr>
          <p:cNvPr name="TextBox 10" id="1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varying levels of human physical ability.",</a:t>
            </a:r>
          </a:p>
          <a:p>
            <a:r>
              <a:rPr lang="en-US" sz="3700">
                <a:solidFill>
                  <a:srgbClr val="252525"/>
                </a:solidFill>
              </a:rPr>
              <a:t>          "$ref": "Accessibility"</a:t>
            </a:r>
          </a:p>
          <a:p>
            <a:r>
              <a:rPr lang="en-US" sz="3700">
                <a:solidFill>
                  <a:srgbClr val="252525"/>
                </a:solidFill>
              </a:rPr>
              <a:t>        },</a:t>
            </a:r>
          </a:p>
          <a:p>
            <a:r>
              <a:rPr lang="en-US" sz="3700">
                <a:solidFill>
                  <a:srgbClr val="252525"/>
                </a:solidFill>
              </a:rPr>
              <a:t>        "pets": {</a:t>
            </a:r>
          </a:p>
          <a:p>
            <a:r>
              <a:rPr lang="en-US" sz="3700">
                <a:solidFill>
                  <a:srgbClr val="252525"/>
                </a:solidFill>
              </a:rPr>
              <a:t>          "description": "Policies regarding guest-owned animals.",</a:t>
            </a:r>
          </a:p>
          <a:p>
            <a:r>
              <a:rPr lang="en-US" sz="3700">
                <a:solidFill>
                  <a:srgbClr val="252525"/>
                </a:solidFill>
              </a:rPr>
              <a:t>          "$ref": "Pets"</a:t>
            </a:r>
          </a:p>
          <a:p>
            <a:r>
              <a:rPr lang="en-US" sz="3700">
                <a:solidFill>
                  <a:srgbClr val="252525"/>
                </a:solidFill>
              </a:rPr>
              <a:t>        },</a:t>
            </a:r>
          </a:p>
          <a:p>
            <a:r>
              <a:rPr lang="en-US" sz="3700">
                <a:solidFill>
                  <a:srgbClr val="252525"/>
                </a:solidFill>
              </a:rPr>
              <a:t>        "parking": {</a:t>
            </a:r>
          </a:p>
          <a:p>
            <a:r>
              <a:rPr lang="en-US" sz="3700">
                <a:solidFill>
                  <a:srgbClr val="252525"/>
                </a:solidFill>
              </a:rPr>
              <a:t>          "description": "Parking options at the property.",</a:t>
            </a:r>
          </a:p>
          <a:p>
            <a:r>
              <a:rPr lang="en-US" sz="3700">
                <a:solidFill>
                  <a:srgbClr val="252525"/>
                </a:solidFill>
              </a:rPr>
              <a:t>          "$ref": "Parking"</a:t>
            </a:r>
          </a:p>
          <a:p>
            <a:r>
              <a:rPr lang="en-US" sz="3700">
                <a:solidFill>
                  <a:srgbClr val="252525"/>
                </a:solidFill>
              </a:rPr>
              <a:t>        },</a:t>
            </a:r>
          </a:p>
          <a:p>
            <a:r>
              <a:rPr lang="en-US" sz="3700">
                <a:solidFill>
                  <a:srgbClr val="252525"/>
                </a:solidFill>
              </a:rPr>
              <a:t>        "housekeeping": {</a:t>
            </a:r>
          </a:p>
          <a:p>
            <a:r>
              <a:rPr lang="en-US" sz="3700">
                <a:solidFill>
                  <a:srgbClr val="252525"/>
                </a:solidFill>
              </a:rPr>
              <a:t>          "description": "Conveniences provided in guest units to facilitate an easier, more comfortable stay.",</a:t>
            </a:r>
          </a:p>
          <a:p>
            <a:r>
              <a:rPr lang="en-US" sz="3700">
                <a:solidFill>
                  <a:srgbClr val="252525"/>
                </a:solidFill>
              </a:rPr>
              <a:t>          "$ref": "Housekeeping"</a:t>
            </a:r>
          </a:p>
          <a:p>
            <a:r>
              <a:rPr lang="en-US" sz="3700">
                <a:solidFill>
                  <a:srgbClr val="252525"/>
                </a:solidFill>
              </a:rPr>
              <a:t>        },</a:t>
            </a:r>
          </a:p>
          <a:p>
            <a:r>
              <a:rPr lang="en-US" sz="3700">
                <a:solidFill>
                  <a:srgbClr val="252525"/>
                </a:solidFill>
              </a:rPr>
              <a:t>        "healthAndSafety": {</a:t>
            </a:r>
          </a:p>
          <a:p>
            <a:r>
              <a:rPr lang="en-US" sz="3700">
                <a:solidFill>
                  <a:srgbClr val="252525"/>
                </a:solidFill>
              </a:rPr>
              <a:t>          "description": "Health and safety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 id="12"/>
          <p:cNvPicPr>
            <a:picLocks noChangeAspect="true"/>
          </p:cNvPicPr>
          <p:nvPr/>
        </p:nvPicPr>
        <p:blipFill>
          <a:blip r:embed="rId12"/>
          <a:stretch>
            <a:fillRect/>
          </a:stretch>
        </p:blipFill>
        <p:spPr>
          <a:xfrm>
            <a:off x="0" y="127000"/>
            <a:ext cx="23749000" cy="16548100"/>
          </a:xfrm>
          <a:prstGeom prst="rect">
            <a:avLst/>
          </a:prstGeom>
        </p:spPr>
      </p:pic>
      <p:sp>
        <p:nvSpPr>
          <p:cNvPr name="TextBox 12" id="1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measures implemented by the hotel during COVID-19.",</a:t>
            </a:r>
          </a:p>
          <a:p>
            <a:r>
              <a:rPr lang="en-US" sz="3700">
                <a:solidFill>
                  <a:srgbClr val="252525"/>
                </a:solidFill>
              </a:rPr>
              <a:t>          "$ref": "HealthAndSafety"</a:t>
            </a:r>
          </a:p>
          <a:p>
            <a:r>
              <a:rPr lang="en-US" sz="3700">
                <a:solidFill>
                  <a:srgbClr val="252525"/>
                </a:solidFill>
              </a:rPr>
              <a:t>        },</a:t>
            </a:r>
          </a:p>
          <a:p>
            <a:r>
              <a:rPr lang="en-US" sz="3700">
                <a:solidFill>
                  <a:srgbClr val="252525"/>
                </a:solidFill>
              </a:rPr>
              <a:t>        "sustainability": {</a:t>
            </a:r>
          </a:p>
          <a:p>
            <a:r>
              <a:rPr lang="en-US" sz="3700">
                <a:solidFill>
                  <a:srgbClr val="252525"/>
                </a:solidFill>
              </a:rPr>
              <a:t>          "description": "Sustainability practices implemented at the hotel.",</a:t>
            </a:r>
          </a:p>
          <a:p>
            <a:r>
              <a:rPr lang="en-US" sz="3700">
                <a:solidFill>
                  <a:srgbClr val="252525"/>
                </a:solidFill>
              </a:rPr>
              <a:t>          "$ref": "Sustainability"</a:t>
            </a:r>
          </a:p>
          <a:p>
            <a:r>
              <a:rPr lang="en-US" sz="3700">
                <a:solidFill>
                  <a:srgbClr val="252525"/>
                </a:solidFill>
              </a:rPr>
              <a:t>        },</a:t>
            </a:r>
          </a:p>
          <a:p>
            <a:r>
              <a:rPr lang="en-US" sz="3700">
                <a:solidFill>
                  <a:srgbClr val="252525"/>
                </a:solidFill>
              </a:rPr>
              <a:t>        "commonLivingArea": {</a:t>
            </a:r>
          </a:p>
          <a:p>
            <a:r>
              <a:rPr lang="en-US" sz="3700">
                <a:solidFill>
                  <a:srgbClr val="252525"/>
                </a:solidFill>
              </a:rPr>
              <a:t>          "description": "Features of the shared living areas available in this Lodging.",</a:t>
            </a:r>
          </a:p>
          <a:p>
            <a:r>
              <a:rPr lang="en-US" sz="3700">
                <a:solidFill>
                  <a:srgbClr val="252525"/>
                </a:solidFill>
              </a:rPr>
              <a:t>          "$ref": "LivingArea"</a:t>
            </a:r>
          </a:p>
          <a:p>
            <a:r>
              <a:rPr lang="en-US" sz="3700">
                <a:solidFill>
                  <a:srgbClr val="252525"/>
                </a:solidFill>
              </a:rPr>
              <a:t>        },</a:t>
            </a:r>
          </a:p>
          <a:p>
            <a:r>
              <a:rPr lang="en-US" sz="3700">
                <a:solidFill>
                  <a:srgbClr val="252525"/>
                </a:solidFill>
              </a:rPr>
              <a:t>        "guestUnits": {</a:t>
            </a:r>
          </a:p>
          <a:p>
            <a:r>
              <a:rPr lang="en-US" sz="3700">
                <a:solidFill>
                  <a:srgbClr val="252525"/>
                </a:solidFill>
              </a:rPr>
              <a:t>          "description": "Individual GuestUnitTypes that are available in this Lodging.",</a:t>
            </a:r>
          </a:p>
          <a:p>
            <a:r>
              <a:rPr lang="en-US" sz="3700">
                <a:solidFill>
                  <a:srgbClr val="252525"/>
                </a:solidFill>
              </a:rPr>
              <a:t>          "type": "array",</a:t>
            </a:r>
          </a:p>
          <a:p>
            <a:r>
              <a:rPr lang="en-US" sz="3700">
                <a:solidFill>
                  <a:srgbClr val="252525"/>
                </a:solidFill>
              </a:rPr>
              <a:t>          "items": {</a:t>
            </a:r>
          </a:p>
          <a:p>
            <a:r>
              <a:rPr lang="en-US" sz="3700">
                <a:solidFill>
                  <a:srgbClr val="252525"/>
                </a:solidFill>
              </a:rPr>
              <a:t>            "$ref": "GuestUnitType"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 id="14"/>
          <p:cNvPicPr>
            <a:picLocks noChangeAspect="true"/>
          </p:cNvPicPr>
          <p:nvPr/>
        </p:nvPicPr>
        <p:blipFill>
          <a:blip r:embed="rId14"/>
          <a:stretch>
            <a:fillRect/>
          </a:stretch>
        </p:blipFill>
        <p:spPr>
          <a:xfrm>
            <a:off x="0" y="127000"/>
            <a:ext cx="23749000" cy="16548100"/>
          </a:xfrm>
          <a:prstGeom prst="rect">
            <a:avLst/>
          </a:prstGeom>
        </p:spPr>
      </p:pic>
      <p:sp>
        <p:nvSpPr>
          <p:cNvPr name="TextBox 14" id="1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a:t>
            </a:r>
          </a:p>
          <a:p>
            <a:r>
              <a:rPr lang="en-US" sz="3700">
                <a:solidFill>
                  <a:srgbClr val="252525"/>
                </a:solidFill>
              </a:rPr>
              <a:t>        "allUnits": {</a:t>
            </a:r>
          </a:p>
          <a:p>
            <a:r>
              <a:rPr lang="en-US" sz="3700">
                <a:solidFill>
                  <a:srgbClr val="252525"/>
                </a:solidFill>
              </a:rPr>
              <a:t>          "description": "Output only. All units on the property have at least these attributes.",</a:t>
            </a:r>
          </a:p>
          <a:p>
            <a:r>
              <a:rPr lang="en-US" sz="3700">
                <a:solidFill>
                  <a:srgbClr val="252525"/>
                </a:solidFill>
              </a:rPr>
              <a:t>          "readOnly": true,</a:t>
            </a:r>
          </a:p>
          <a:p>
            <a:r>
              <a:rPr lang="en-US" sz="3700">
                <a:solidFill>
                  <a:srgbClr val="252525"/>
                </a:solidFill>
              </a:rPr>
              <a:t>          "$ref": "GuestUnitFeatures"</a:t>
            </a:r>
          </a:p>
          <a:p>
            <a:r>
              <a:rPr lang="en-US" sz="3700">
                <a:solidFill>
                  <a:srgbClr val="252525"/>
                </a:solidFill>
              </a:rPr>
              <a:t>        },</a:t>
            </a:r>
          </a:p>
          <a:p>
            <a:r>
              <a:rPr lang="en-US" sz="3700">
                <a:solidFill>
                  <a:srgbClr val="252525"/>
                </a:solidFill>
              </a:rPr>
              <a:t>        "someUnits": {</a:t>
            </a:r>
          </a:p>
          <a:p>
            <a:r>
              <a:rPr lang="en-US" sz="3700">
                <a:solidFill>
                  <a:srgbClr val="252525"/>
                </a:solidFill>
              </a:rPr>
              <a:t>          "description": "Output only. Some units on the property have as much as these attributes.",</a:t>
            </a:r>
          </a:p>
          <a:p>
            <a:r>
              <a:rPr lang="en-US" sz="3700">
                <a:solidFill>
                  <a:srgbClr val="252525"/>
                </a:solidFill>
              </a:rPr>
              <a:t>          "readOnly": true,</a:t>
            </a:r>
          </a:p>
          <a:p>
            <a:r>
              <a:rPr lang="en-US" sz="3700">
                <a:solidFill>
                  <a:srgbClr val="252525"/>
                </a:solidFill>
              </a:rPr>
              <a:t>          "$ref": "GuestUnitFeatures"</a:t>
            </a:r>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"LodgingMetadata": {</a:t>
            </a:r>
          </a:p>
          <a:p>
            <a:r>
              <a:rPr lang="en-US" sz="3700">
                <a:solidFill>
                  <a:srgbClr val="252525"/>
                </a:solidFill>
              </a:rPr>
              <a:t>      "id": "LodgingMetadata",</a:t>
            </a:r>
          </a:p>
          <a:p>
            <a:r>
              <a:rPr lang="en-US" sz="3700">
                <a:solidFill>
                  <a:srgbClr val="252525"/>
                </a:solidFill>
              </a:rPr>
              <a:t>      "description": "Metadata for the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 id="16"/>
          <p:cNvPicPr>
            <a:picLocks noChangeAspect="true"/>
          </p:cNvPicPr>
          <p:nvPr/>
        </p:nvPicPr>
        <p:blipFill>
          <a:blip r:embed="rId16"/>
          <a:stretch>
            <a:fillRect/>
          </a:stretch>
        </p:blipFill>
        <p:spPr>
          <a:xfrm>
            <a:off x="0" y="127000"/>
            <a:ext cx="23749000" cy="16548100"/>
          </a:xfrm>
          <a:prstGeom prst="rect">
            <a:avLst/>
          </a:prstGeom>
        </p:spPr>
      </p:pic>
      <p:sp>
        <p:nvSpPr>
          <p:cNvPr name="TextBox 16" id="1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Lodging.",</a:t>
            </a:r>
          </a:p>
          <a:p>
            <a:r>
              <a:rPr lang="en-US" sz="3700">
                <a:solidFill>
                  <a:srgbClr val="252525"/>
                </a:solidFill>
              </a:rPr>
              <a:t>      "type": "object",</a:t>
            </a:r>
          </a:p>
          <a:p>
            <a:r>
              <a:rPr lang="en-US" sz="3700">
                <a:solidFill>
                  <a:srgbClr val="252525"/>
                </a:solidFill>
              </a:rPr>
              <a:t>      "properties": {</a:t>
            </a:r>
          </a:p>
          <a:p>
            <a:r>
              <a:rPr lang="en-US" sz="3700">
                <a:solidFill>
                  <a:srgbClr val="252525"/>
                </a:solidFill>
              </a:rPr>
              <a:t>        "updateTime": {</a:t>
            </a:r>
          </a:p>
          <a:p>
            <a:r>
              <a:rPr lang="en-US" sz="3700">
                <a:solidFill>
                  <a:srgbClr val="252525"/>
                </a:solidFill>
              </a:rPr>
              <a:t>          "description": "Required. The latest time at which the Lodging data is asserted to be true in the real world. This is not necessarily the time at which the request is made.",</a:t>
            </a:r>
          </a:p>
          <a:p>
            <a:r>
              <a:rPr lang="en-US" sz="3700">
                <a:solidFill>
                  <a:srgbClr val="252525"/>
                </a:solidFill>
              </a:rPr>
              <a:t>          "type": "string",</a:t>
            </a:r>
          </a:p>
          <a:p>
            <a:r>
              <a:rPr lang="en-US" sz="3700">
                <a:solidFill>
                  <a:srgbClr val="252525"/>
                </a:solidFill>
              </a:rPr>
              <a:t>          "format": "google-datetime"</a:t>
            </a:r>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"Property": {</a:t>
            </a:r>
          </a:p>
          <a:p>
            <a:r>
              <a:rPr lang="en-US" sz="3700">
                <a:solidFill>
                  <a:srgbClr val="252525"/>
                </a:solidFill>
              </a:rPr>
              <a:t>      "id": "Property",</a:t>
            </a:r>
          </a:p>
          <a:p>
            <a:r>
              <a:rPr lang="en-US" sz="3700">
                <a:solidFill>
                  <a:srgbClr val="252525"/>
                </a:solidFill>
              </a:rPr>
              <a:t>      "description": "General factual information about the property's physical structure and important dates.",</a:t>
            </a:r>
          </a:p>
          <a:p>
            <a:r>
              <a:rPr lang="en-US" sz="3700">
                <a:solidFill>
                  <a:srgbClr val="252525"/>
                </a:solidFill>
              </a:rPr>
              <a:t>      "type": "object",</a:t>
            </a:r>
          </a:p>
          <a:p>
            <a:r>
              <a:rPr lang="en-US" sz="3700">
                <a:solidFill>
                  <a:srgbClr val="252525"/>
                </a:solidFill>
              </a:rPr>
              <a:t>      "properties":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 id="18"/>
          <p:cNvPicPr>
            <a:picLocks noChangeAspect="true"/>
          </p:cNvPicPr>
          <p:nvPr/>
        </p:nvPicPr>
        <p:blipFill>
          <a:blip r:embed="rId18"/>
          <a:stretch>
            <a:fillRect/>
          </a:stretch>
        </p:blipFill>
        <p:spPr>
          <a:xfrm>
            <a:off x="0" y="127000"/>
            <a:ext cx="23749000" cy="16548100"/>
          </a:xfrm>
          <a:prstGeom prst="rect">
            <a:avLst/>
          </a:prstGeom>
        </p:spPr>
      </p:pic>
      <p:sp>
        <p:nvSpPr>
          <p:cNvPr name="TextBox 18" id="1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"builtYear": {</a:t>
            </a:r>
          </a:p>
          <a:p>
            <a:r>
              <a:rPr lang="en-US" sz="3700">
                <a:solidFill>
                  <a:srgbClr val="252525"/>
                </a:solidFill>
              </a:rPr>
              <a:t>          "description": "Built year. The year that construction of the property was completed.",</a:t>
            </a:r>
          </a:p>
          <a:p>
            <a:r>
              <a:rPr lang="en-US" sz="3700">
                <a:solidFill>
                  <a:srgbClr val="252525"/>
                </a:solidFill>
              </a:rPr>
              <a:t>          "type": "integer",</a:t>
            </a:r>
          </a:p>
          <a:p>
            <a:r>
              <a:rPr lang="en-US" sz="3700">
                <a:solidFill>
                  <a:srgbClr val="252525"/>
                </a:solidFill>
              </a:rPr>
              <a:t>          "format": "int32"</a:t>
            </a:r>
          </a:p>
          <a:p>
            <a:r>
              <a:rPr lang="en-US" sz="3700">
                <a:solidFill>
                  <a:srgbClr val="252525"/>
                </a:solidFill>
              </a:rPr>
              <a:t>        },</a:t>
            </a:r>
          </a:p>
          <a:p>
            <a:r>
              <a:rPr lang="en-US" sz="3700">
                <a:solidFill>
                  <a:srgbClr val="252525"/>
                </a:solidFill>
              </a:rPr>
              <a:t>        "builtYearException": {</a:t>
            </a:r>
          </a:p>
          <a:p>
            <a:r>
              <a:rPr lang="en-US" sz="3700">
                <a:solidFill>
                  <a:srgbClr val="252525"/>
                </a:solidFill>
              </a:rPr>
              <a:t>          "description": "Built year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 id="20"/>
          <p:cNvPicPr>
            <a:picLocks noChangeAspect="true"/>
          </p:cNvPicPr>
          <p:nvPr/>
        </p:nvPicPr>
        <p:blipFill>
          <a:blip r:embed="rId20"/>
          <a:stretch>
            <a:fillRect/>
          </a:stretch>
        </p:blipFill>
        <p:spPr>
          <a:xfrm>
            <a:off x="0" y="127000"/>
            <a:ext cx="23749000" cy="16548100"/>
          </a:xfrm>
          <a:prstGeom prst="rect">
            <a:avLst/>
          </a:prstGeom>
        </p:spPr>
      </p:pic>
      <p:sp>
        <p:nvSpPr>
          <p:cNvPr name="TextBox 20" id="2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"lastRenovatedYear": {</a:t>
            </a:r>
          </a:p>
          <a:p>
            <a:r>
              <a:rPr lang="en-US" sz="3700">
                <a:solidFill>
                  <a:srgbClr val="252525"/>
                </a:solidFill>
              </a:rPr>
              <a:t>          "description": "Last renovated year. The year when the most recent renovation of the property was completed. Renovation may include all or any combination of the following: the units, the public spaces, the exterior, or the interior.",</a:t>
            </a:r>
          </a:p>
          <a:p>
            <a:r>
              <a:rPr lang="en-US" sz="3700">
                <a:solidFill>
                  <a:srgbClr val="252525"/>
                </a:solidFill>
              </a:rPr>
              <a:t>          "type": "integer",</a:t>
            </a:r>
          </a:p>
          <a:p>
            <a:r>
              <a:rPr lang="en-US" sz="3700">
                <a:solidFill>
                  <a:srgbClr val="252525"/>
                </a:solidFill>
              </a:rPr>
              <a:t>          "format": "int32"</a:t>
            </a:r>
          </a:p>
          <a:p>
            <a:r>
              <a:rPr lang="en-US" sz="3700">
                <a:solidFill>
                  <a:srgbClr val="252525"/>
                </a:solidFill>
              </a:rPr>
              <a:t>        },</a:t>
            </a:r>
          </a:p>
          <a:p>
            <a:r>
              <a:rPr lang="en-US" sz="3700">
                <a:solidFill>
                  <a:srgbClr val="252525"/>
                </a:solidFill>
              </a:rPr>
              <a:t>        "lastRenovatedYearException": {</a:t>
            </a:r>
          </a:p>
          <a:p>
            <a:r>
              <a:rPr lang="en-US" sz="3700">
                <a:solidFill>
                  <a:srgbClr val="252525"/>
                </a:solidFill>
              </a:rPr>
              <a:t>          "description": "Last renovated year exception.",</a:t>
            </a:r>
          </a:p>
          <a:p>
            <a:r>
              <a:rPr lang="en-US" sz="3700">
                <a:solidFill>
                  <a:srgbClr val="252525"/>
                </a:solidFill>
              </a:rPr>
              <a:t>          "type": "string",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 id="22"/>
          <p:cNvPicPr>
            <a:picLocks noChangeAspect="true"/>
          </p:cNvPicPr>
          <p:nvPr/>
        </p:nvPicPr>
        <p:blipFill>
          <a:blip r:embed="rId22"/>
          <a:stretch>
            <a:fillRect/>
          </a:stretch>
        </p:blipFill>
        <p:spPr>
          <a:xfrm>
            <a:off x="0" y="127000"/>
            <a:ext cx="23749000" cy="16548100"/>
          </a:xfrm>
          <a:prstGeom prst="rect">
            <a:avLst/>
          </a:prstGeom>
        </p:spPr>
      </p:pic>
      <p:sp>
        <p:nvSpPr>
          <p:cNvPr name="TextBox 22" id="2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"roomsCount": {</a:t>
            </a:r>
          </a:p>
          <a:p>
            <a:r>
              <a:rPr lang="en-US" sz="3700">
                <a:solidFill>
                  <a:srgbClr val="252525"/>
                </a:solidFill>
              </a:rPr>
              <a:t>          "description": "Rooms count. The total number of rooms and suites bookable by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 id="24"/>
          <p:cNvPicPr>
            <a:picLocks noChangeAspect="true"/>
          </p:cNvPicPr>
          <p:nvPr/>
        </p:nvPicPr>
        <p:blipFill>
          <a:blip r:embed="rId24"/>
          <a:stretch>
            <a:fillRect/>
          </a:stretch>
        </p:blipFill>
        <p:spPr>
          <a:xfrm>
            <a:off x="0" y="127000"/>
            <a:ext cx="23749000" cy="16548100"/>
          </a:xfrm>
          <a:prstGeom prst="rect">
            <a:avLst/>
          </a:prstGeom>
        </p:spPr>
      </p:pic>
      <p:sp>
        <p:nvSpPr>
          <p:cNvPr name="TextBox 24" id="2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guests for an overnight stay. Does not include event space, public spaces, conference rooms, fitness rooms, business centers, spa, salon, restaurants/bars, or shops.",</a:t>
            </a:r>
          </a:p>
          <a:p>
            <a:r>
              <a:rPr lang="en-US" sz="3700">
                <a:solidFill>
                  <a:srgbClr val="252525"/>
                </a:solidFill>
              </a:rPr>
              <a:t>          "type": "integer",</a:t>
            </a:r>
          </a:p>
          <a:p>
            <a:r>
              <a:rPr lang="en-US" sz="3700">
                <a:solidFill>
                  <a:srgbClr val="252525"/>
                </a:solidFill>
              </a:rPr>
              <a:t>          "format": "int32"</a:t>
            </a:r>
          </a:p>
          <a:p>
            <a:r>
              <a:rPr lang="en-US" sz="3700">
                <a:solidFill>
                  <a:srgbClr val="252525"/>
                </a:solidFill>
              </a:rPr>
              <a:t>        },</a:t>
            </a:r>
          </a:p>
          <a:p>
            <a:r>
              <a:rPr lang="en-US" sz="3700">
                <a:solidFill>
                  <a:srgbClr val="252525"/>
                </a:solidFill>
              </a:rPr>
              <a:t>        "roomsCountException": {</a:t>
            </a:r>
          </a:p>
          <a:p>
            <a:r>
              <a:rPr lang="en-US" sz="3700">
                <a:solidFill>
                  <a:srgbClr val="252525"/>
                </a:solidFill>
              </a:rPr>
              <a:t>          "description": "Rooms count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 id="26"/>
          <p:cNvPicPr>
            <a:picLocks noChangeAspect="true"/>
          </p:cNvPicPr>
          <p:nvPr/>
        </p:nvPicPr>
        <p:blipFill>
          <a:blip r:embed="rId26"/>
          <a:stretch>
            <a:fillRect/>
          </a:stretch>
        </p:blipFill>
        <p:spPr>
          <a:xfrm>
            <a:off x="0" y="127000"/>
            <a:ext cx="23749000" cy="16548100"/>
          </a:xfrm>
          <a:prstGeom prst="rect">
            <a:avLst/>
          </a:prstGeom>
        </p:spPr>
      </p:pic>
      <p:sp>
        <p:nvSpPr>
          <p:cNvPr name="TextBox 26" id="2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"floorsCount": {</a:t>
            </a:r>
          </a:p>
          <a:p>
            <a:r>
              <a:rPr lang="en-US" sz="3700">
                <a:solidFill>
                  <a:srgbClr val="252525"/>
                </a:solidFill>
              </a:rPr>
              <a:t>          "description": "Floors count. The number of stories the building has from the ground floor to the top floor that are accessible to guests.",</a:t>
            </a:r>
          </a:p>
          <a:p>
            <a:r>
              <a:rPr lang="en-US" sz="3700">
                <a:solidFill>
                  <a:srgbClr val="252525"/>
                </a:solidFill>
              </a:rPr>
              <a:t>          "type": "integer",</a:t>
            </a:r>
          </a:p>
          <a:p>
            <a:r>
              <a:rPr lang="en-US" sz="3700">
                <a:solidFill>
                  <a:srgbClr val="252525"/>
                </a:solidFill>
              </a:rPr>
              <a:t>          "format": "int32"</a:t>
            </a:r>
          </a:p>
          <a:p>
            <a:r>
              <a:rPr lang="en-US" sz="3700">
                <a:solidFill>
                  <a:srgbClr val="252525"/>
                </a:solidFill>
              </a:rPr>
              <a:t>        },</a:t>
            </a:r>
          </a:p>
          <a:p>
            <a:r>
              <a:rPr lang="en-US" sz="3700">
                <a:solidFill>
                  <a:srgbClr val="252525"/>
                </a:solidFill>
              </a:rPr>
              <a:t>        "floorsCountException": {</a:t>
            </a:r>
          </a:p>
          <a:p>
            <a:r>
              <a:rPr lang="en-US" sz="3700">
                <a:solidFill>
                  <a:srgbClr val="252525"/>
                </a:solidFill>
              </a:rPr>
              <a:t>          "description": "Floors count exception.",</a:t>
            </a:r>
          </a:p>
          <a:p>
            <a:r>
              <a:rPr lang="en-US" sz="3700">
                <a:solidFill>
                  <a:srgbClr val="252525"/>
                </a:solidFill>
              </a:rPr>
              <a:t>          "type": "string",</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 id="28"/>
          <p:cNvPicPr>
            <a:picLocks noChangeAspect="true"/>
          </p:cNvPicPr>
          <p:nvPr/>
        </p:nvPicPr>
        <p:blipFill>
          <a:blip r:embed="rId28"/>
          <a:stretch>
            <a:fillRect/>
          </a:stretch>
        </p:blipFill>
        <p:spPr>
          <a:xfrm>
            <a:off x="0" y="127000"/>
            <a:ext cx="23749000" cy="16548100"/>
          </a:xfrm>
          <a:prstGeom prst="rect">
            <a:avLst/>
          </a:prstGeom>
        </p:spPr>
      </p:pic>
      <p:sp>
        <p:nvSpPr>
          <p:cNvPr name="TextBox 28" id="2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"Services":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 id="30"/>
          <p:cNvPicPr>
            <a:picLocks noChangeAspect="true"/>
          </p:cNvPicPr>
          <p:nvPr/>
        </p:nvPicPr>
        <p:blipFill>
          <a:blip r:embed="rId30"/>
          <a:stretch>
            <a:fillRect/>
          </a:stretch>
        </p:blipFill>
        <p:spPr>
          <a:xfrm>
            <a:off x="0" y="127000"/>
            <a:ext cx="23749000" cy="16548100"/>
          </a:xfrm>
          <a:prstGeom prst="rect">
            <a:avLst/>
          </a:prstGeom>
        </p:spPr>
      </p:pic>
      <p:sp>
        <p:nvSpPr>
          <p:cNvPr name="TextBox 30" id="3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"id": "Services",</a:t>
            </a:r>
          </a:p>
          <a:p>
            <a:r>
              <a:rPr lang="en-US" sz="3700">
                <a:solidFill>
                  <a:srgbClr val="252525"/>
                </a:solidFill>
              </a:rPr>
              <a:t>      "description": "Conveniences or help provided by the property to facilitate an easier, more comfortable stay.",</a:t>
            </a:r>
          </a:p>
          <a:p>
            <a:r>
              <a:rPr lang="en-US" sz="3700">
                <a:solidFill>
                  <a:srgbClr val="252525"/>
                </a:solidFill>
              </a:rPr>
              <a:t>      "type": "object",</a:t>
            </a:r>
          </a:p>
          <a:p>
            <a:r>
              <a:rPr lang="en-US" sz="3700">
                <a:solidFill>
                  <a:srgbClr val="252525"/>
                </a:solidFill>
              </a:rPr>
              <a:t>      "properties": {</a:t>
            </a:r>
          </a:p>
          <a:p>
            <a:r>
              <a:rPr lang="en-US" sz="3700">
                <a:solidFill>
                  <a:srgbClr val="252525"/>
                </a:solidFill>
              </a:rPr>
              <a:t>        "frontDesk": {</a:t>
            </a:r>
          </a:p>
          <a:p>
            <a:r>
              <a:rPr lang="en-US" sz="3700">
                <a:solidFill>
                  <a:srgbClr val="252525"/>
                </a:solidFill>
              </a:rPr>
              <a:t>          "description": "Front desk. A counter or desk in the lobby or the immediate interior of the hotel where a member of the staff greets guests and processes the information related to their stay (including check-in and check-out). May or may not be manned and open 24/7.",</a:t>
            </a:r>
          </a:p>
          <a:p>
            <a:r>
              <a:rPr lang="en-US" sz="3700">
                <a:solidFill>
                  <a:srgbClr val="252525"/>
                </a:solidFill>
              </a:rPr>
              <a:t>          "type": "boolean"</a:t>
            </a:r>
          </a:p>
          <a:p>
            <a:r>
              <a:rPr lang="en-US" sz="3700">
                <a:solidFill>
                  <a:srgbClr val="252525"/>
                </a:solidFill>
              </a:rPr>
              <a:t>        },</a:t>
            </a:r>
          </a:p>
          <a:p>
            <a:r>
              <a:rPr lang="en-US" sz="3700">
                <a:solidFill>
                  <a:srgbClr val="252525"/>
                </a:solidFill>
              </a:rPr>
              <a:t>        "frontDeskException": {</a:t>
            </a:r>
          </a:p>
          <a:p>
            <a:r>
              <a:rPr lang="en-US" sz="3700">
                <a:solidFill>
                  <a:srgbClr val="252525"/>
                </a:solidFill>
              </a:rPr>
              <a:t>          "description": "Front desk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2" id="32"/>
          <p:cNvPicPr>
            <a:picLocks noChangeAspect="true"/>
          </p:cNvPicPr>
          <p:nvPr/>
        </p:nvPicPr>
        <p:blipFill>
          <a:blip r:embed="rId32"/>
          <a:stretch>
            <a:fillRect/>
          </a:stretch>
        </p:blipFill>
        <p:spPr>
          <a:xfrm>
            <a:off x="0" y="127000"/>
            <a:ext cx="23749000" cy="16548100"/>
          </a:xfrm>
          <a:prstGeom prst="rect">
            <a:avLst/>
          </a:prstGeom>
        </p:spPr>
      </p:pic>
      <p:sp>
        <p:nvSpPr>
          <p:cNvPr name="TextBox 32" id="3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"twentyFourHourFrontDesk": {</a:t>
            </a:r>
          </a:p>
          <a:p>
            <a:r>
              <a:rPr lang="en-US" sz="3700">
                <a:solidFill>
                  <a:srgbClr val="252525"/>
                </a:solidFill>
              </a:rPr>
              <a:t>          "description": "24hr front desk. Front desk is staffed 24 hours a day.",</a:t>
            </a:r>
          </a:p>
          <a:p>
            <a:r>
              <a:rPr lang="en-US" sz="3700">
                <a:solidFill>
                  <a:srgbClr val="252525"/>
                </a:solidFill>
              </a:rPr>
              <a:t>          "type": "boolean"</a:t>
            </a:r>
          </a:p>
          <a:p>
            <a:r>
              <a:rPr lang="en-US" sz="3700">
                <a:solidFill>
                  <a:srgbClr val="252525"/>
                </a:solidFill>
              </a:rPr>
              <a:t>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4" id="34"/>
          <p:cNvPicPr>
            <a:picLocks noChangeAspect="true"/>
          </p:cNvPicPr>
          <p:nvPr/>
        </p:nvPicPr>
        <p:blipFill>
          <a:blip r:embed="rId34"/>
          <a:stretch>
            <a:fillRect/>
          </a:stretch>
        </p:blipFill>
        <p:spPr>
          <a:xfrm>
            <a:off x="0" y="127000"/>
            <a:ext cx="23749000" cy="16548100"/>
          </a:xfrm>
          <a:prstGeom prst="rect">
            <a:avLst/>
          </a:prstGeom>
        </p:spPr>
      </p:pic>
      <p:sp>
        <p:nvSpPr>
          <p:cNvPr name="TextBox 34" id="3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"twentyFourHourFrontDeskException": {</a:t>
            </a:r>
          </a:p>
          <a:p>
            <a:r>
              <a:rPr lang="en-US" sz="3700">
                <a:solidFill>
                  <a:srgbClr val="252525"/>
                </a:solidFill>
              </a:rPr>
              <a:t>          "description": "24hr front desk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6" id="36"/>
          <p:cNvPicPr>
            <a:picLocks noChangeAspect="true"/>
          </p:cNvPicPr>
          <p:nvPr/>
        </p:nvPicPr>
        <p:blipFill>
          <a:blip r:embed="rId36"/>
          <a:stretch>
            <a:fillRect/>
          </a:stretch>
        </p:blipFill>
        <p:spPr>
          <a:xfrm>
            <a:off x="0" y="127000"/>
            <a:ext cx="23749000" cy="16548100"/>
          </a:xfrm>
          <a:prstGeom prst="rect">
            <a:avLst/>
          </a:prstGeom>
        </p:spPr>
      </p:pic>
      <p:sp>
        <p:nvSpPr>
          <p:cNvPr name="TextBox 36" id="3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a:t>
            </a:r>
          </a:p>
          <a:p>
            <a:r>
              <a:rPr lang="en-US" sz="3700">
                <a:solidFill>
                  <a:srgbClr val="252525"/>
                </a:solidFill>
              </a:rPr>
              <a:t>        "concierge": {</a:t>
            </a:r>
          </a:p>
          <a:p>
            <a:r>
              <a:rPr lang="en-US" sz="3700">
                <a:solidFill>
                  <a:srgbClr val="252525"/>
                </a:solidFill>
              </a:rPr>
              <a:t>          "description": "Concierge. Hotel staff member(s) responsible for facilitating an easy, comfortable stay through making reservations for meals, sourcing theater tickets, arranging tours, finding a doctor, making recommendations, and answering questions.",</a:t>
            </a:r>
          </a:p>
          <a:p>
            <a:r>
              <a:rPr lang="en-US" sz="3700">
                <a:solidFill>
                  <a:srgbClr val="252525"/>
                </a:solidFill>
              </a:rPr>
              <a:t>          "type": "boolean"</a:t>
            </a:r>
          </a:p>
          <a:p>
            <a:r>
              <a:rPr lang="en-US" sz="3700">
                <a:solidFill>
                  <a:srgbClr val="252525"/>
                </a:solidFill>
              </a:rPr>
              <a:t>        },</a:t>
            </a:r>
          </a:p>
          <a:p>
            <a:r>
              <a:rPr lang="en-US" sz="3700">
                <a:solidFill>
                  <a:srgbClr val="252525"/>
                </a:solidFill>
              </a:rPr>
              <a:t>        "conciergeException": {</a:t>
            </a:r>
          </a:p>
          <a:p>
            <a:r>
              <a:rPr lang="en-US" sz="3700">
                <a:solidFill>
                  <a:srgbClr val="252525"/>
                </a:solidFill>
              </a:rPr>
              <a:t>          "description": "Concierge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8" id="38"/>
          <p:cNvPicPr>
            <a:picLocks noChangeAspect="true"/>
          </p:cNvPicPr>
          <p:nvPr/>
        </p:nvPicPr>
        <p:blipFill>
          <a:blip r:embed="rId38"/>
          <a:stretch>
            <a:fillRect/>
          </a:stretch>
        </p:blipFill>
        <p:spPr>
          <a:xfrm>
            <a:off x="0" y="127000"/>
            <a:ext cx="23749000" cy="16548100"/>
          </a:xfrm>
          <a:prstGeom prst="rect">
            <a:avLst/>
          </a:prstGeom>
        </p:spPr>
      </p:pic>
      <p:sp>
        <p:nvSpPr>
          <p:cNvPr name="TextBox 38" id="3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"elevator": {</a:t>
            </a:r>
          </a:p>
          <a:p>
            <a:r>
              <a:rPr lang="en-US" sz="3700">
                <a:solidFill>
                  <a:srgbClr val="252525"/>
                </a:solidFill>
              </a:rPr>
              <a:t>          "description": "Elevator. A passenger elevator that transports guests from one story to another. Also known as lift.",</a:t>
            </a:r>
          </a:p>
          <a:p>
            <a:r>
              <a:rPr lang="en-US" sz="3700">
                <a:solidFill>
                  <a:srgbClr val="252525"/>
                </a:solidFill>
              </a:rPr>
              <a:t>          "type": "boolean"</a:t>
            </a:r>
          </a:p>
          <a:p>
            <a:r>
              <a:rPr lang="en-US" sz="3700">
                <a:solidFill>
                  <a:srgbClr val="252525"/>
                </a:solidFill>
              </a:rPr>
              <a:t>        },</a:t>
            </a:r>
          </a:p>
          <a:p>
            <a:r>
              <a:rPr lang="en-US" sz="3700">
                <a:solidFill>
                  <a:srgbClr val="252525"/>
                </a:solidFill>
              </a:rPr>
              <a:t>        "elevatorException": {</a:t>
            </a:r>
          </a:p>
          <a:p>
            <a:r>
              <a:rPr lang="en-US" sz="3700">
                <a:solidFill>
                  <a:srgbClr val="252525"/>
                </a:solidFill>
              </a:rPr>
              <a:t>          "description": "Elevator exception.",</a:t>
            </a:r>
          </a:p>
          <a:p>
            <a:r>
              <a:rPr lang="en-US" sz="3700">
                <a:solidFill>
                  <a:srgbClr val="252525"/>
                </a:solidFill>
              </a:rPr>
              <a:t>          "type": "string",</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0" id="40"/>
          <p:cNvPicPr>
            <a:picLocks noChangeAspect="true"/>
          </p:cNvPicPr>
          <p:nvPr/>
        </p:nvPicPr>
        <p:blipFill>
          <a:blip r:embed="rId40"/>
          <a:stretch>
            <a:fillRect/>
          </a:stretch>
        </p:blipFill>
        <p:spPr>
          <a:xfrm>
            <a:off x="0" y="127000"/>
            <a:ext cx="23749000" cy="16548100"/>
          </a:xfrm>
          <a:prstGeom prst="rect">
            <a:avLst/>
          </a:prstGeom>
        </p:spPr>
      </p:pic>
      <p:sp>
        <p:nvSpPr>
          <p:cNvPr name="TextBox 40" id="4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"baggageStorage": {</a:t>
            </a:r>
          </a:p>
          <a:p>
            <a:r>
              <a:rPr lang="en-US" sz="3700">
                <a:solidFill>
                  <a:srgbClr val="252525"/>
                </a:solidFill>
              </a:rPr>
              <a:t>          "description": "Baggage storage. A provision for guests to leave their bags at </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2" id="42"/>
          <p:cNvPicPr>
            <a:picLocks noChangeAspect="true"/>
          </p:cNvPicPr>
          <p:nvPr/>
        </p:nvPicPr>
        <p:blipFill>
          <a:blip r:embed="rId42"/>
          <a:stretch>
            <a:fillRect/>
          </a:stretch>
        </p:blipFill>
        <p:spPr>
          <a:xfrm>
            <a:off x="0" y="127000"/>
            <a:ext cx="23749000" cy="16548100"/>
          </a:xfrm>
          <a:prstGeom prst="rect">
            <a:avLst/>
          </a:prstGeom>
        </p:spPr>
      </p:pic>
      <p:sp>
        <p:nvSpPr>
          <p:cNvPr name="TextBox 42" id="4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the hotel when they arrive for their stay before the official check-in time. May or may not apply for guests who wish to leave their bags after check-out and before departing the locale. Also known as bag dropoff.",</a:t>
            </a:r>
          </a:p>
          <a:p>
            <a:r>
              <a:rPr lang="en-US" sz="3700">
                <a:solidFill>
                  <a:srgbClr val="252525"/>
                </a:solidFill>
              </a:rPr>
              <a:t>          "type": "boolean"</a:t>
            </a:r>
          </a:p>
          <a:p>
            <a:r>
              <a:rPr lang="en-US" sz="3700">
                <a:solidFill>
                  <a:srgbClr val="252525"/>
                </a:solidFill>
              </a:rPr>
              <a:t>        },</a:t>
            </a:r>
          </a:p>
          <a:p>
            <a:r>
              <a:rPr lang="en-US" sz="3700">
                <a:solidFill>
                  <a:srgbClr val="252525"/>
                </a:solidFill>
              </a:rPr>
              <a:t>        "baggageStorageException": {</a:t>
            </a:r>
          </a:p>
          <a:p>
            <a:r>
              <a:rPr lang="en-US" sz="3700">
                <a:solidFill>
                  <a:srgbClr val="252525"/>
                </a:solidFill>
              </a:rPr>
              <a:t>          "description": "Baggage storage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4" id="44"/>
          <p:cNvPicPr>
            <a:picLocks noChangeAspect="true"/>
          </p:cNvPicPr>
          <p:nvPr/>
        </p:nvPicPr>
        <p:blipFill>
          <a:blip r:embed="rId44"/>
          <a:stretch>
            <a:fillRect/>
          </a:stretch>
        </p:blipFill>
        <p:spPr>
          <a:xfrm>
            <a:off x="0" y="127000"/>
            <a:ext cx="23749000" cy="16548100"/>
          </a:xfrm>
          <a:prstGeom prst="rect">
            <a:avLst/>
          </a:prstGeom>
        </p:spPr>
      </p:pic>
      <p:sp>
        <p:nvSpPr>
          <p:cNvPr name="TextBox 44" id="4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"fullServiceLaundry": {</a:t>
            </a:r>
          </a:p>
          <a:p>
            <a:r>
              <a:rPr lang="en-US" sz="3700">
                <a:solidFill>
                  <a:srgbClr val="252525"/>
                </a:solidFill>
              </a:rPr>
              <a:t>          "description": "Full service laundry. Laundry and dry cleaning facilitated and handled by the hotel on behalf of the guest. Does not include the provision for guests to do their own laundry in on-site machines.",</a:t>
            </a:r>
          </a:p>
          <a:p>
            <a:r>
              <a:rPr lang="en-US" sz="3700">
                <a:solidFill>
                  <a:srgbClr val="252525"/>
                </a:solidFill>
              </a:rPr>
              <a:t>          "type": "boolean"</a:t>
            </a:r>
          </a:p>
          <a:p>
            <a:r>
              <a:rPr lang="en-US" sz="3700">
                <a:solidFill>
                  <a:srgbClr val="252525"/>
                </a:solidFill>
              </a:rPr>
              <a:t>        },</a:t>
            </a:r>
          </a:p>
          <a:p>
            <a:r>
              <a:rPr lang="en-US" sz="3700">
                <a:solidFill>
                  <a:srgbClr val="252525"/>
                </a:solidFill>
              </a:rPr>
              <a:t>        "fullServiceLaundryException": {</a:t>
            </a:r>
          </a:p>
          <a:p>
            <a:r>
              <a:rPr lang="en-US" sz="3700">
                <a:solidFill>
                  <a:srgbClr val="252525"/>
                </a:solidFill>
              </a:rPr>
              <a:t>          "description": "Full service laundry exception.",</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6" id="46"/>
          <p:cNvPicPr>
            <a:picLocks noChangeAspect="true"/>
          </p:cNvPicPr>
          <p:nvPr/>
        </p:nvPicPr>
        <p:blipFill>
          <a:blip r:embed="rId46"/>
          <a:stretch>
            <a:fillRect/>
          </a:stretch>
        </p:blipFill>
        <p:spPr>
          <a:xfrm>
            <a:off x="0" y="127000"/>
            <a:ext cx="23749000" cy="16548100"/>
          </a:xfrm>
          <a:prstGeom prst="rect">
            <a:avLst/>
          </a:prstGeom>
        </p:spPr>
      </p:pic>
      <p:sp>
        <p:nvSpPr>
          <p:cNvPr name="TextBox 46" id="4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"selfServiceLaundry": {</a:t>
            </a:r>
          </a:p>
          <a:p>
            <a:r>
              <a:rPr lang="en-US" sz="3700">
                <a:solidFill>
                  <a:srgbClr val="252525"/>
                </a:solidFill>
              </a:rPr>
              <a:t>          "description": "Self service laundry. </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48" id="48"/>
          <p:cNvPicPr>
            <a:picLocks noChangeAspect="true"/>
          </p:cNvPicPr>
          <p:nvPr/>
        </p:nvPicPr>
        <p:blipFill>
          <a:blip r:embed="rId48"/>
          <a:stretch>
            <a:fillRect/>
          </a:stretch>
        </p:blipFill>
        <p:spPr>
          <a:xfrm>
            <a:off x="0" y="127000"/>
            <a:ext cx="23749000" cy="16548100"/>
          </a:xfrm>
          <a:prstGeom prst="rect">
            <a:avLst/>
          </a:prstGeom>
        </p:spPr>
      </p:pic>
      <p:sp>
        <p:nvSpPr>
          <p:cNvPr name="TextBox 48" id="4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On-site clothes washers and dryers accessible to guests for the purpose of washing and drying their own clothes. May or may not require payment to use the machines.",</a:t>
            </a:r>
          </a:p>
          <a:p>
            <a:r>
              <a:rPr lang="en-US" sz="3700">
                <a:solidFill>
                  <a:srgbClr val="252525"/>
                </a:solidFill>
              </a:rPr>
              <a:t>          "type": "boolean"</a:t>
            </a:r>
          </a:p>
          <a:p>
            <a:r>
              <a:rPr lang="en-US" sz="3700">
                <a:solidFill>
                  <a:srgbClr val="252525"/>
                </a:solidFill>
              </a:rPr>
              <a:t>        },</a:t>
            </a:r>
          </a:p>
          <a:p>
            <a:r>
              <a:rPr lang="en-US" sz="3700">
                <a:solidFill>
                  <a:srgbClr val="252525"/>
                </a:solidFill>
              </a:rPr>
              <a:t>        "selfServiceLaundryException": {</a:t>
            </a:r>
          </a:p>
          <a:p>
            <a:r>
              <a:rPr lang="en-US" sz="3700">
                <a:solidFill>
                  <a:srgbClr val="252525"/>
                </a:solidFill>
              </a:rPr>
              <a:t>          "description": "Self service laundry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0" id="50"/>
          <p:cNvPicPr>
            <a:picLocks noChangeAspect="true"/>
          </p:cNvPicPr>
          <p:nvPr/>
        </p:nvPicPr>
        <p:blipFill>
          <a:blip r:embed="rId50"/>
          <a:stretch>
            <a:fillRect/>
          </a:stretch>
        </p:blipFill>
        <p:spPr>
          <a:xfrm>
            <a:off x="0" y="127000"/>
            <a:ext cx="23749000" cy="16548100"/>
          </a:xfrm>
          <a:prstGeom prst="rect">
            <a:avLst/>
          </a:prstGeom>
        </p:spPr>
      </p:pic>
      <p:sp>
        <p:nvSpPr>
          <p:cNvPr name="TextBox 50" id="5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"socialHour": {</a:t>
            </a:r>
          </a:p>
          <a:p>
            <a:r>
              <a:rPr lang="en-US" sz="3700">
                <a:solidFill>
                  <a:srgbClr val="252525"/>
                </a:solidFill>
              </a:rPr>
              <a:t>          "description": "Social hour. A reception with complimentary soft drinks, tea, coffee, wine and/or cocktails in the afternoon or evening. Can be hosted by hotel staff or guests may serve themselves. Also known as wine hour. The availability of coffee/tea in the lobby throughout the day does not constitute a social or wine hour.",</a:t>
            </a:r>
          </a:p>
          <a:p>
            <a:r>
              <a:rPr lang="en-US" sz="3700">
                <a:solidFill>
                  <a:srgbClr val="252525"/>
                </a:solidFill>
              </a:rPr>
              <a:t>          "type": "boolean"</a:t>
            </a:r>
          </a:p>
          <a:p>
            <a:r>
              <a:rPr lang="en-US" sz="3700">
                <a:solidFill>
                  <a:srgbClr val="252525"/>
                </a:solidFill>
              </a:rPr>
              <a:t>        },</a:t>
            </a:r>
          </a:p>
          <a:p>
            <a:r>
              <a:rPr lang="en-US" sz="3700">
                <a:solidFill>
                  <a:srgbClr val="252525"/>
                </a:solidFill>
              </a:rPr>
              <a:t>        "socialHourException": {</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2" id="52"/>
          <p:cNvPicPr>
            <a:picLocks noChangeAspect="true"/>
          </p:cNvPicPr>
          <p:nvPr/>
        </p:nvPicPr>
        <p:blipFill>
          <a:blip r:embed="rId52"/>
          <a:stretch>
            <a:fillRect/>
          </a:stretch>
        </p:blipFill>
        <p:spPr>
          <a:xfrm>
            <a:off x="0" y="127000"/>
            <a:ext cx="23749000" cy="16548100"/>
          </a:xfrm>
          <a:prstGeom prst="rect">
            <a:avLst/>
          </a:prstGeom>
        </p:spPr>
      </p:pic>
      <p:sp>
        <p:nvSpPr>
          <p:cNvPr name="TextBox 52" id="5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"description": "Social hour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"wakeUpCalls": {</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4" id="54"/>
          <p:cNvPicPr>
            <a:picLocks noChangeAspect="true"/>
          </p:cNvPicPr>
          <p:nvPr/>
        </p:nvPicPr>
        <p:blipFill>
          <a:blip r:embed="rId54"/>
          <a:stretch>
            <a:fillRect/>
          </a:stretch>
        </p:blipFill>
        <p:spPr>
          <a:xfrm>
            <a:off x="0" y="127000"/>
            <a:ext cx="23749000" cy="16548100"/>
          </a:xfrm>
          <a:prstGeom prst="rect">
            <a:avLst/>
          </a:prstGeom>
        </p:spPr>
      </p:pic>
      <p:sp>
        <p:nvSpPr>
          <p:cNvPr name="TextBox 54" id="5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"description": "Wake up calls. By direction of the guest, a hotel staff member will phone the guest unit at the requested hour. Also known as morning call.",</a:t>
            </a:r>
          </a:p>
          <a:p>
            <a:r>
              <a:rPr lang="en-US" sz="3700">
                <a:solidFill>
                  <a:srgbClr val="252525"/>
                </a:solidFill>
              </a:rPr>
              <a:t>          "type": "boolean"</a:t>
            </a:r>
          </a:p>
          <a:p>
            <a:r>
              <a:rPr lang="en-US" sz="3700">
                <a:solidFill>
                  <a:srgbClr val="252525"/>
                </a:solidFill>
              </a:rPr>
              <a:t>        },</a:t>
            </a:r>
          </a:p>
          <a:p>
            <a:r>
              <a:rPr lang="en-US" sz="3700">
                <a:solidFill>
                  <a:srgbClr val="252525"/>
                </a:solidFill>
              </a:rPr>
              <a:t>        "wakeUpCallsException": {</a:t>
            </a:r>
          </a:p>
          <a:p>
            <a:r>
              <a:rPr lang="en-US" sz="3700">
                <a:solidFill>
                  <a:srgbClr val="252525"/>
                </a:solidFill>
              </a:rPr>
              <a:t>          "description": "Wake up calls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6" id="56"/>
          <p:cNvPicPr>
            <a:picLocks noChangeAspect="true"/>
          </p:cNvPicPr>
          <p:nvPr/>
        </p:nvPicPr>
        <p:blipFill>
          <a:blip r:embed="rId56"/>
          <a:stretch>
            <a:fillRect/>
          </a:stretch>
        </p:blipFill>
        <p:spPr>
          <a:xfrm>
            <a:off x="0" y="127000"/>
            <a:ext cx="23749000" cy="16548100"/>
          </a:xfrm>
          <a:prstGeom prst="rect">
            <a:avLst/>
          </a:prstGeom>
        </p:spPr>
      </p:pic>
      <p:sp>
        <p:nvSpPr>
          <p:cNvPr name="TextBox 56" id="5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"convenienceStore": {</a:t>
            </a:r>
          </a:p>
          <a:p>
            <a:r>
              <a:rPr lang="en-US" sz="3700">
                <a:solidFill>
                  <a:srgbClr val="252525"/>
                </a:solidFill>
              </a:rPr>
              <a:t>          "description": "Convenience store. A shop at the hotel primarily selling snacks, drinks, non-prescription medicines, health and beauty aids, magazines and newspapers.",</a:t>
            </a:r>
          </a:p>
          <a:p>
            <a:r>
              <a:rPr lang="en-US" sz="3700">
                <a:solidFill>
                  <a:srgbClr val="252525"/>
                </a:solidFill>
              </a:rPr>
              <a:t>          "type": "boolean"</a:t>
            </a:r>
          </a:p>
          <a:p>
            <a:r>
              <a:rPr lang="en-US" sz="3700">
                <a:solidFill>
                  <a:srgbClr val="252525"/>
                </a:solidFill>
              </a:rPr>
              <a:t>        },</a:t>
            </a:r>
          </a:p>
          <a:p>
            <a:r>
              <a:rPr lang="en-US" sz="3700">
                <a:solidFill>
                  <a:srgbClr val="252525"/>
                </a:solidFill>
              </a:rPr>
              <a:t>        "convenienceStoreException": {</a:t>
            </a:r>
          </a:p>
          <a:p>
            <a:r>
              <a:rPr lang="en-US" sz="3700">
                <a:solidFill>
                  <a:srgbClr val="252525"/>
                </a:solidFill>
              </a:rPr>
              <a:t>          "description": "Convenience store exception.",</a:t>
            </a:r>
          </a:p>
          <a:p>
            <a:r>
              <a:rPr lang="en-US" sz="3700">
                <a:solidFill>
                  <a:srgbClr val="252525"/>
                </a:solidFill>
              </a:rPr>
              <a:t>          "type": "string",</a:t>
            </a:r>
          </a:p>
          <a:p>
            <a:r>
              <a:rPr lang="en-US" sz="3700">
                <a:solidFill>
                  <a:srgbClr val="252525"/>
                </a:solidFill>
              </a:rPr>
              <a:t>          "enumDescriptions": [</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58" id="58"/>
          <p:cNvPicPr>
            <a:picLocks noChangeAspect="true"/>
          </p:cNvPicPr>
          <p:nvPr/>
        </p:nvPicPr>
        <p:blipFill>
          <a:blip r:embed="rId58"/>
          <a:stretch>
            <a:fillRect/>
          </a:stretch>
        </p:blipFill>
        <p:spPr>
          <a:xfrm>
            <a:off x="0" y="127000"/>
            <a:ext cx="23749000" cy="16548100"/>
          </a:xfrm>
          <a:prstGeom prst="rect">
            <a:avLst/>
          </a:prstGeom>
        </p:spPr>
      </p:pic>
      <p:sp>
        <p:nvSpPr>
          <p:cNvPr name="TextBox 58" id="5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"giftShop": {</a:t>
            </a:r>
          </a:p>
          <a:p>
            <a:r>
              <a:rPr lang="en-US" sz="3700">
                <a:solidFill>
                  <a:srgbClr val="252525"/>
                </a:solidFill>
              </a:rPr>
              <a:t>          "description": "Gift shop. An on-site store primarily selling souvenirs, mementos and other gift items. May or </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0" id="60"/>
          <p:cNvPicPr>
            <a:picLocks noChangeAspect="true"/>
          </p:cNvPicPr>
          <p:nvPr/>
        </p:nvPicPr>
        <p:blipFill>
          <a:blip r:embed="rId60"/>
          <a:stretch>
            <a:fillRect/>
          </a:stretch>
        </p:blipFill>
        <p:spPr>
          <a:xfrm>
            <a:off x="0" y="127000"/>
            <a:ext cx="23749000" cy="16548100"/>
          </a:xfrm>
          <a:prstGeom prst="rect">
            <a:avLst/>
          </a:prstGeom>
        </p:spPr>
      </p:pic>
      <p:sp>
        <p:nvSpPr>
          <p:cNvPr name="TextBox 60" id="6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may not also sell sundries, magazines and newspapers, clothing, or snacks.",</a:t>
            </a:r>
          </a:p>
          <a:p>
            <a:r>
              <a:rPr lang="en-US" sz="3700">
                <a:solidFill>
                  <a:srgbClr val="252525"/>
                </a:solidFill>
              </a:rPr>
              <a:t>          "type": "boolean"</a:t>
            </a:r>
          </a:p>
          <a:p>
            <a:r>
              <a:rPr lang="en-US" sz="3700">
                <a:solidFill>
                  <a:srgbClr val="252525"/>
                </a:solidFill>
              </a:rPr>
              <a:t>        },</a:t>
            </a:r>
          </a:p>
          <a:p>
            <a:r>
              <a:rPr lang="en-US" sz="3700">
                <a:solidFill>
                  <a:srgbClr val="252525"/>
                </a:solidFill>
              </a:rPr>
              <a:t>        "giftShopException": {</a:t>
            </a:r>
          </a:p>
          <a:p>
            <a:r>
              <a:rPr lang="en-US" sz="3700">
                <a:solidFill>
                  <a:srgbClr val="252525"/>
                </a:solidFill>
              </a:rPr>
              <a:t>          "description": "Gift shop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2" id="62"/>
          <p:cNvPicPr>
            <a:picLocks noChangeAspect="true"/>
          </p:cNvPicPr>
          <p:nvPr/>
        </p:nvPicPr>
        <p:blipFill>
          <a:blip r:embed="rId62"/>
          <a:stretch>
            <a:fillRect/>
          </a:stretch>
        </p:blipFill>
        <p:spPr>
          <a:xfrm>
            <a:off x="0" y="127000"/>
            <a:ext cx="23749000" cy="16548100"/>
          </a:xfrm>
          <a:prstGeom prst="rect">
            <a:avLst/>
          </a:prstGeom>
        </p:spPr>
      </p:pic>
      <p:sp>
        <p:nvSpPr>
          <p:cNvPr name="TextBox 62" id="6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"currencyExchange": {</a:t>
            </a:r>
          </a:p>
          <a:p>
            <a:r>
              <a:rPr lang="en-US" sz="3700">
                <a:solidFill>
                  <a:srgbClr val="252525"/>
                </a:solidFill>
              </a:rPr>
              <a:t>          "description": "Currency exchange. A staff member or automated machine tasked with the transaction of providing the native currency of the hotel's locale in exchange for the foreign currency provided by a guest.",</a:t>
            </a:r>
          </a:p>
          <a:p>
            <a:r>
              <a:rPr lang="en-US" sz="3700">
                <a:solidFill>
                  <a:srgbClr val="252525"/>
                </a:solidFill>
              </a:rPr>
              <a:t>          "type": "boolean"</a:t>
            </a:r>
          </a:p>
          <a:p>
            <a:r>
              <a:rPr lang="en-US" sz="3700">
                <a:solidFill>
                  <a:srgbClr val="252525"/>
                </a:solidFill>
              </a:rPr>
              <a:t>        },</a:t>
            </a:r>
          </a:p>
          <a:p>
            <a:r>
              <a:rPr lang="en-US" sz="3700">
                <a:solidFill>
                  <a:srgbClr val="252525"/>
                </a:solidFill>
              </a:rPr>
              <a:t>        "currencyExchangeException": {</a:t>
            </a:r>
          </a:p>
          <a:p>
            <a:r>
              <a:rPr lang="en-US" sz="3700">
                <a:solidFill>
                  <a:srgbClr val="252525"/>
                </a:solidFill>
              </a:rPr>
              <a:t>          "description": "Currency exchange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4" id="64"/>
          <p:cNvPicPr>
            <a:picLocks noChangeAspect="true"/>
          </p:cNvPicPr>
          <p:nvPr/>
        </p:nvPicPr>
        <p:blipFill>
          <a:blip r:embed="rId64"/>
          <a:stretch>
            <a:fillRect/>
          </a:stretch>
        </p:blipFill>
        <p:spPr>
          <a:xfrm>
            <a:off x="0" y="127000"/>
            <a:ext cx="23749000" cy="16548100"/>
          </a:xfrm>
          <a:prstGeom prst="rect">
            <a:avLst/>
          </a:prstGeom>
        </p:spPr>
      </p:pic>
      <p:sp>
        <p:nvSpPr>
          <p:cNvPr name="TextBox 64" id="6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"languagesSpoken": {</a:t>
            </a:r>
          </a:p>
          <a:p>
            <a:r>
              <a:rPr lang="en-US" sz="3700">
                <a:solidFill>
                  <a:srgbClr val="252525"/>
                </a:solidFill>
              </a:rPr>
              <a:t>          "description": "Languages spoken by at least one staff member.",</a:t>
            </a:r>
          </a:p>
          <a:p>
            <a:r>
              <a:rPr lang="en-US" sz="3700">
                <a:solidFill>
                  <a:srgbClr val="252525"/>
                </a:solidFill>
              </a:rPr>
              <a:t>          "type": "array",</a:t>
            </a:r>
          </a:p>
          <a:p>
            <a:r>
              <a:rPr lang="en-US" sz="3700">
                <a:solidFill>
                  <a:srgbClr val="252525"/>
                </a:solidFill>
              </a:rPr>
              <a:t>          "items": {</a:t>
            </a:r>
          </a:p>
          <a:p>
            <a:r>
              <a:rPr lang="en-US" sz="3700">
                <a:solidFill>
                  <a:srgbClr val="252525"/>
                </a:solidFill>
              </a:rPr>
              <a:t>            "$ref": "LanguageSpoken"</a:t>
            </a:r>
          </a:p>
          <a:p>
            <a:r>
              <a:rPr lang="en-US" sz="3700">
                <a:solidFill>
                  <a:srgbClr val="252525"/>
                </a:solidFill>
              </a:rPr>
              <a:t>          }</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6" id="66"/>
          <p:cNvPicPr>
            <a:picLocks noChangeAspect="true"/>
          </p:cNvPicPr>
          <p:nvPr/>
        </p:nvPicPr>
        <p:blipFill>
          <a:blip r:embed="rId66"/>
          <a:stretch>
            <a:fillRect/>
          </a:stretch>
        </p:blipFill>
        <p:spPr>
          <a:xfrm>
            <a:off x="0" y="127000"/>
            <a:ext cx="23749000" cy="16548100"/>
          </a:xfrm>
          <a:prstGeom prst="rect">
            <a:avLst/>
          </a:prstGeom>
        </p:spPr>
      </p:pic>
      <p:sp>
        <p:nvSpPr>
          <p:cNvPr name="TextBox 66" id="6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"LanguageSpoken": {</a:t>
            </a:r>
          </a:p>
          <a:p>
            <a:r>
              <a:rPr lang="en-US" sz="3700">
                <a:solidFill>
                  <a:srgbClr val="252525"/>
                </a:solidFill>
              </a:rPr>
              <a:t>      "id": "LanguageSpoken",</a:t>
            </a:r>
          </a:p>
          <a:p>
            <a:r>
              <a:rPr lang="en-US" sz="3700">
                <a:solidFill>
                  <a:srgbClr val="252525"/>
                </a:solidFill>
              </a:rPr>
              <a:t>      "description": "Language spoken by at least one staff member.",</a:t>
            </a:r>
          </a:p>
          <a:p>
            <a:r>
              <a:rPr lang="en-US" sz="3700">
                <a:solidFill>
                  <a:srgbClr val="252525"/>
                </a:solidFill>
              </a:rPr>
              <a:t>      "type": "object",</a:t>
            </a:r>
          </a:p>
          <a:p>
            <a:r>
              <a:rPr lang="en-US" sz="3700">
                <a:solidFill>
                  <a:srgbClr val="252525"/>
                </a:solidFill>
              </a:rPr>
              <a:t>      "properties": {</a:t>
            </a:r>
          </a:p>
          <a:p>
            <a:r>
              <a:rPr lang="en-US" sz="3700">
                <a:solidFill>
                  <a:srgbClr val="252525"/>
                </a:solidFill>
              </a:rPr>
              <a:t>        "languageCode": {</a:t>
            </a:r>
          </a:p>
          <a:p>
            <a:r>
              <a:rPr lang="en-US" sz="3700">
                <a:solidFill>
                  <a:srgbClr val="252525"/>
                </a:solidFill>
              </a:rPr>
              <a:t>          "description": "Required. The BCP-47 language code for the spoken language. Currently accepted codes: ar, de, en, es, fil, fr, hi, id, it, ja, ko, nl, pt, ru, vi, yue, zh.",</a:t>
            </a:r>
          </a:p>
          <a:p>
            <a:r>
              <a:rPr lang="en-US" sz="3700">
                <a:solidFill>
                  <a:srgbClr val="252525"/>
                </a:solidFill>
              </a:rPr>
              <a:t>          "type": "string"</a:t>
            </a:r>
          </a:p>
          <a:p>
            <a:r>
              <a:rPr lang="en-US" sz="3700">
                <a:solidFill>
                  <a:srgbClr val="252525"/>
                </a:solidFill>
              </a:rPr>
              <a:t>        },</a:t>
            </a:r>
          </a:p>
          <a:p>
            <a:r>
              <a:rPr lang="en-US" sz="3700">
                <a:solidFill>
                  <a:srgbClr val="252525"/>
                </a:solidFill>
              </a:rPr>
              <a:t>        "spoken": {</a:t>
            </a:r>
          </a:p>
          <a:p>
            <a:r>
              <a:rPr lang="en-US" sz="3700">
                <a:solidFill>
                  <a:srgbClr val="252525"/>
                </a:solidFill>
              </a:rPr>
              <a:t>          "description": "At least one member of the staff can speak the language.",</a:t>
            </a:r>
          </a:p>
          <a:p>
            <a:r>
              <a:rPr lang="en-US" sz="3700">
                <a:solidFill>
                  <a:srgbClr val="252525"/>
                </a:solidFill>
              </a:rPr>
              <a:t>          "type": "boolean"</a:t>
            </a:r>
          </a:p>
          <a:p>
            <a:r>
              <a:rPr lang="en-US" sz="3700">
                <a:solidFill>
                  <a:srgbClr val="252525"/>
                </a:solidFill>
              </a:rPr>
              <a:t>        },</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68" id="68"/>
          <p:cNvPicPr>
            <a:picLocks noChangeAspect="true"/>
          </p:cNvPicPr>
          <p:nvPr/>
        </p:nvPicPr>
        <p:blipFill>
          <a:blip r:embed="rId68"/>
          <a:stretch>
            <a:fillRect/>
          </a:stretch>
        </p:blipFill>
        <p:spPr>
          <a:xfrm>
            <a:off x="0" y="127000"/>
            <a:ext cx="23749000" cy="16548100"/>
          </a:xfrm>
          <a:prstGeom prst="rect">
            <a:avLst/>
          </a:prstGeom>
        </p:spPr>
      </p:pic>
      <p:sp>
        <p:nvSpPr>
          <p:cNvPr name="TextBox 68" id="6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"spokenException": {</a:t>
            </a:r>
          </a:p>
          <a:p>
            <a:r>
              <a:rPr lang="en-US" sz="3700">
                <a:solidFill>
                  <a:srgbClr val="252525"/>
                </a:solidFill>
              </a:rPr>
              <a:t>          "description": "Spoken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0" id="70"/>
          <p:cNvPicPr>
            <a:picLocks noChangeAspect="true"/>
          </p:cNvPicPr>
          <p:nvPr/>
        </p:nvPicPr>
        <p:blipFill>
          <a:blip r:embed="rId70"/>
          <a:stretch>
            <a:fillRect/>
          </a:stretch>
        </p:blipFill>
        <p:spPr>
          <a:xfrm>
            <a:off x="0" y="127000"/>
            <a:ext cx="23749000" cy="16548100"/>
          </a:xfrm>
          <a:prstGeom prst="rect">
            <a:avLst/>
          </a:prstGeom>
        </p:spPr>
      </p:pic>
      <p:sp>
        <p:nvSpPr>
          <p:cNvPr name="TextBox 70" id="7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a:t>
            </a:r>
          </a:p>
          <a:p>
            <a:r>
              <a:rPr lang="en-US" sz="3700">
                <a:solidFill>
                  <a:srgbClr val="252525"/>
                </a:solidFill>
              </a:rPr>
              <a:t>    "Policies": {</a:t>
            </a:r>
          </a:p>
          <a:p>
            <a:r>
              <a:rPr lang="en-US" sz="3700">
                <a:solidFill>
                  <a:srgbClr val="252525"/>
                </a:solidFill>
              </a:rPr>
              <a:t>      "id": "Policies",</a:t>
            </a:r>
          </a:p>
          <a:p>
            <a:r>
              <a:rPr lang="en-US" sz="3700">
                <a:solidFill>
                  <a:srgbClr val="252525"/>
                </a:solidFill>
              </a:rPr>
              <a:t>      "description": "Property rules that impact guests.",</a:t>
            </a:r>
          </a:p>
          <a:p>
            <a:r>
              <a:rPr lang="en-US" sz="3700">
                <a:solidFill>
                  <a:srgbClr val="252525"/>
                </a:solidFill>
              </a:rPr>
              <a:t>      "type": "object",</a:t>
            </a:r>
          </a:p>
          <a:p>
            <a:r>
              <a:rPr lang="en-US" sz="3700">
                <a:solidFill>
                  <a:srgbClr val="252525"/>
                </a:solidFill>
              </a:rPr>
              <a:t>      "properties": {</a:t>
            </a:r>
          </a:p>
          <a:p>
            <a:r>
              <a:rPr lang="en-US" sz="3700">
                <a:solidFill>
                  <a:srgbClr val="252525"/>
                </a:solidFill>
              </a:rPr>
              <a:t>        "checkinTime": {</a:t>
            </a:r>
          </a:p>
          <a:p>
            <a:r>
              <a:rPr lang="en-US" sz="3700">
                <a:solidFill>
                  <a:srgbClr val="252525"/>
                </a:solidFill>
              </a:rPr>
              <a:t>          "description": "Check-in time. The time of the day at which the hotel begins providing guests access to their unit at the beginning of their stay.",</a:t>
            </a:r>
          </a:p>
          <a:p>
            <a:r>
              <a:rPr lang="en-US" sz="3700">
                <a:solidFill>
                  <a:srgbClr val="252525"/>
                </a:solidFill>
              </a:rPr>
              <a:t>          "$ref": "TimeOfDay"</a:t>
            </a:r>
          </a:p>
          <a:p>
            <a:r>
              <a:rPr lang="en-US" sz="3700">
                <a:solidFill>
                  <a:srgbClr val="252525"/>
                </a:solidFill>
              </a:rPr>
              <a:t>        },</a:t>
            </a:r>
          </a:p>
          <a:p>
            <a:r>
              <a:rPr lang="en-US" sz="3700">
                <a:solidFill>
                  <a:srgbClr val="252525"/>
                </a:solidFill>
              </a:rPr>
              <a:t>        "checkinTimeException": {</a:t>
            </a:r>
          </a:p>
          <a:p>
            <a:r>
              <a:rPr lang="en-US" sz="3700">
                <a:solidFill>
                  <a:srgbClr val="252525"/>
                </a:solidFill>
              </a:rPr>
              <a:t>          "description": "Check-in time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2" id="72"/>
          <p:cNvPicPr>
            <a:picLocks noChangeAspect="true"/>
          </p:cNvPicPr>
          <p:nvPr/>
        </p:nvPicPr>
        <p:blipFill>
          <a:blip r:embed="rId72"/>
          <a:stretch>
            <a:fillRect/>
          </a:stretch>
        </p:blipFill>
        <p:spPr>
          <a:xfrm>
            <a:off x="0" y="127000"/>
            <a:ext cx="23749000" cy="16548100"/>
          </a:xfrm>
          <a:prstGeom prst="rect">
            <a:avLst/>
          </a:prstGeom>
        </p:spPr>
      </p:pic>
      <p:sp>
        <p:nvSpPr>
          <p:cNvPr name="TextBox 72" id="7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"checkoutTime": {</a:t>
            </a:r>
          </a:p>
          <a:p>
            <a:r>
              <a:rPr lang="en-US" sz="3700">
                <a:solidFill>
                  <a:srgbClr val="252525"/>
                </a:solidFill>
              </a:rPr>
              <a:t>          "description": "Check-out time. The time of the day on the last day of a guest's reserved stay at which the guest must vacate their room and settle their bill. </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4" id="74"/>
          <p:cNvPicPr>
            <a:picLocks noChangeAspect="true"/>
          </p:cNvPicPr>
          <p:nvPr/>
        </p:nvPicPr>
        <p:blipFill>
          <a:blip r:embed="rId74"/>
          <a:stretch>
            <a:fillRect/>
          </a:stretch>
        </p:blipFill>
        <p:spPr>
          <a:xfrm>
            <a:off x="0" y="127000"/>
            <a:ext cx="23749000" cy="16548100"/>
          </a:xfrm>
          <a:prstGeom prst="rect">
            <a:avLst/>
          </a:prstGeom>
        </p:spPr>
      </p:pic>
      <p:sp>
        <p:nvSpPr>
          <p:cNvPr name="TextBox 74" id="7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Some hotels may offer late or early check out for a fee.",</a:t>
            </a:r>
          </a:p>
          <a:p>
            <a:r>
              <a:rPr lang="en-US" sz="3700">
                <a:solidFill>
                  <a:srgbClr val="252525"/>
                </a:solidFill>
              </a:rPr>
              <a:t>          "$ref": "TimeOfDay"</a:t>
            </a:r>
          </a:p>
          <a:p>
            <a:r>
              <a:rPr lang="en-US" sz="3700">
                <a:solidFill>
                  <a:srgbClr val="252525"/>
                </a:solidFill>
              </a:rPr>
              <a:t>        },</a:t>
            </a:r>
          </a:p>
          <a:p>
            <a:r>
              <a:rPr lang="en-US" sz="3700">
                <a:solidFill>
                  <a:srgbClr val="252525"/>
                </a:solidFill>
              </a:rPr>
              <a:t>        "checkoutTimeException": {</a:t>
            </a:r>
          </a:p>
          <a:p>
            <a:r>
              <a:rPr lang="en-US" sz="3700">
                <a:solidFill>
                  <a:srgbClr val="252525"/>
                </a:solidFill>
              </a:rPr>
              <a:t>          "description": "Check-out time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6" id="76"/>
          <p:cNvPicPr>
            <a:picLocks noChangeAspect="true"/>
          </p:cNvPicPr>
          <p:nvPr/>
        </p:nvPicPr>
        <p:blipFill>
          <a:blip r:embed="rId76"/>
          <a:stretch>
            <a:fillRect/>
          </a:stretch>
        </p:blipFill>
        <p:spPr>
          <a:xfrm>
            <a:off x="0" y="127000"/>
            <a:ext cx="23749000" cy="16548100"/>
          </a:xfrm>
          <a:prstGeom prst="rect">
            <a:avLst/>
          </a:prstGeom>
        </p:spPr>
      </p:pic>
      <p:sp>
        <p:nvSpPr>
          <p:cNvPr name="TextBox 76" id="7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"kidsStayFree": {</a:t>
            </a:r>
          </a:p>
          <a:p>
            <a:r>
              <a:rPr lang="en-US" sz="3700">
                <a:solidFill>
                  <a:srgbClr val="252525"/>
                </a:solidFill>
              </a:rPr>
              <a:t>          "description": "Kids stay free. The children of guests are allowed to stay in the room/suite of a parent or adult without an additional fee. The policy may or may not stipulate a limit of the child's age or the overall number of children allowed.",</a:t>
            </a:r>
          </a:p>
          <a:p>
            <a:r>
              <a:rPr lang="en-US" sz="3700">
                <a:solidFill>
                  <a:srgbClr val="252525"/>
                </a:solidFill>
              </a:rPr>
              <a:t>          "type": "boolean"</a:t>
            </a:r>
          </a:p>
          <a:p>
            <a:r>
              <a:rPr lang="en-US" sz="3700">
                <a:solidFill>
                  <a:srgbClr val="252525"/>
                </a:solidFill>
              </a:rPr>
              <a:t>        },</a:t>
            </a:r>
          </a:p>
          <a:p>
            <a:r>
              <a:rPr lang="en-US" sz="3700">
                <a:solidFill>
                  <a:srgbClr val="252525"/>
                </a:solidFill>
              </a:rPr>
              <a:t>        "kidsStayFreeException": {</a:t>
            </a:r>
          </a:p>
          <a:p>
            <a:r>
              <a:rPr lang="en-US" sz="3700">
                <a:solidFill>
                  <a:srgbClr val="252525"/>
                </a:solidFill>
              </a:rPr>
              <a:t>          "description": "Kids stay free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78" id="78"/>
          <p:cNvPicPr>
            <a:picLocks noChangeAspect="true"/>
          </p:cNvPicPr>
          <p:nvPr/>
        </p:nvPicPr>
        <p:blipFill>
          <a:blip r:embed="rId78"/>
          <a:stretch>
            <a:fillRect/>
          </a:stretch>
        </p:blipFill>
        <p:spPr>
          <a:xfrm>
            <a:off x="0" y="127000"/>
            <a:ext cx="23749000" cy="16548100"/>
          </a:xfrm>
          <a:prstGeom prst="rect">
            <a:avLst/>
          </a:prstGeom>
        </p:spPr>
      </p:pic>
      <p:sp>
        <p:nvSpPr>
          <p:cNvPr name="TextBox 78" id="7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"maxKidsStayFreeCount": {</a:t>
            </a:r>
          </a:p>
          <a:p>
            <a:r>
              <a:rPr lang="en-US" sz="3700">
                <a:solidFill>
                  <a:srgbClr val="252525"/>
                </a:solidFill>
              </a:rPr>
              <a:t>          "description": "Max kids stay free count. The hotel allows a specific, defined number of children to stay in the room/suite of a parent or adult without an additional fee.",</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0" id="80"/>
          <p:cNvPicPr>
            <a:picLocks noChangeAspect="true"/>
          </p:cNvPicPr>
          <p:nvPr/>
        </p:nvPicPr>
        <p:blipFill>
          <a:blip r:embed="rId80"/>
          <a:stretch>
            <a:fillRect/>
          </a:stretch>
        </p:blipFill>
        <p:spPr>
          <a:xfrm>
            <a:off x="0" y="127000"/>
            <a:ext cx="23749000" cy="16548100"/>
          </a:xfrm>
          <a:prstGeom prst="rect">
            <a:avLst/>
          </a:prstGeom>
        </p:spPr>
      </p:pic>
      <p:sp>
        <p:nvSpPr>
          <p:cNvPr name="TextBox 80" id="8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"type": "integer",</a:t>
            </a:r>
          </a:p>
          <a:p>
            <a:r>
              <a:rPr lang="en-US" sz="3700">
                <a:solidFill>
                  <a:srgbClr val="252525"/>
                </a:solidFill>
              </a:rPr>
              <a:t>          "format": "int32"</a:t>
            </a:r>
          </a:p>
          <a:p>
            <a:r>
              <a:rPr lang="en-US" sz="3700">
                <a:solidFill>
                  <a:srgbClr val="252525"/>
                </a:solidFill>
              </a:rPr>
              <a:t>        },</a:t>
            </a:r>
          </a:p>
          <a:p>
            <a:r>
              <a:rPr lang="en-US" sz="3700">
                <a:solidFill>
                  <a:srgbClr val="252525"/>
                </a:solidFill>
              </a:rPr>
              <a:t>        "maxKidsStayFreeCountException": {</a:t>
            </a:r>
          </a:p>
          <a:p>
            <a:r>
              <a:rPr lang="en-US" sz="3700">
                <a:solidFill>
                  <a:srgbClr val="252525"/>
                </a:solidFill>
              </a:rPr>
              <a:t>          "description": "Max kids stay free count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2" id="82"/>
          <p:cNvPicPr>
            <a:picLocks noChangeAspect="true"/>
          </p:cNvPicPr>
          <p:nvPr/>
        </p:nvPicPr>
        <p:blipFill>
          <a:blip r:embed="rId82"/>
          <a:stretch>
            <a:fillRect/>
          </a:stretch>
        </p:blipFill>
        <p:spPr>
          <a:xfrm>
            <a:off x="0" y="127000"/>
            <a:ext cx="23749000" cy="16548100"/>
          </a:xfrm>
          <a:prstGeom prst="rect">
            <a:avLst/>
          </a:prstGeom>
        </p:spPr>
      </p:pic>
      <p:sp>
        <p:nvSpPr>
          <p:cNvPr name="TextBox 82" id="8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"maxChildAge": {</a:t>
            </a:r>
          </a:p>
          <a:p>
            <a:r>
              <a:rPr lang="en-US" sz="3700">
                <a:solidFill>
                  <a:srgbClr val="252525"/>
                </a:solidFill>
              </a:rPr>
              <a:t>          "description": "Max child age. The hotel allows children up to a certain age to stay in the room/suite of a parent or adult without an additional fee.",</a:t>
            </a:r>
          </a:p>
          <a:p>
            <a:r>
              <a:rPr lang="en-US" sz="3700">
                <a:solidFill>
                  <a:srgbClr val="252525"/>
                </a:solidFill>
              </a:rPr>
              <a:t>          "type": "integer",</a:t>
            </a:r>
          </a:p>
          <a:p>
            <a:r>
              <a:rPr lang="en-US" sz="3700">
                <a:solidFill>
                  <a:srgbClr val="252525"/>
                </a:solidFill>
              </a:rPr>
              <a:t>          "format": "int32"</a:t>
            </a:r>
          </a:p>
          <a:p>
            <a:r>
              <a:rPr lang="en-US" sz="3700">
                <a:solidFill>
                  <a:srgbClr val="252525"/>
                </a:solidFill>
              </a:rPr>
              <a:t>        },</a:t>
            </a:r>
          </a:p>
          <a:p>
            <a:r>
              <a:rPr lang="en-US" sz="3700">
                <a:solidFill>
                  <a:srgbClr val="252525"/>
                </a:solidFill>
              </a:rPr>
              <a:t>        "maxChildAgeException": {</a:t>
            </a:r>
          </a:p>
          <a:p>
            <a:r>
              <a:rPr lang="en-US" sz="3700">
                <a:solidFill>
                  <a:srgbClr val="252525"/>
                </a:solidFill>
              </a:rPr>
              <a:t>          "description": "Max child age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4" id="84"/>
          <p:cNvPicPr>
            <a:picLocks noChangeAspect="true"/>
          </p:cNvPicPr>
          <p:nvPr/>
        </p:nvPicPr>
        <p:blipFill>
          <a:blip r:embed="rId84"/>
          <a:stretch>
            <a:fillRect/>
          </a:stretch>
        </p:blipFill>
        <p:spPr>
          <a:xfrm>
            <a:off x="0" y="127000"/>
            <a:ext cx="23749000" cy="16548100"/>
          </a:xfrm>
          <a:prstGeom prst="rect">
            <a:avLst/>
          </a:prstGeom>
        </p:spPr>
      </p:pic>
      <p:sp>
        <p:nvSpPr>
          <p:cNvPr name="TextBox 84" id="8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"smokeFreeProperty": {</a:t>
            </a:r>
          </a:p>
          <a:p>
            <a:r>
              <a:rPr lang="en-US" sz="3700">
                <a:solidFill>
                  <a:srgbClr val="252525"/>
                </a:solidFill>
              </a:rPr>
              <a:t>          "description": "Smoke free property. Smoking is not allowed inside the building, on balconies, or in outside spaces. Hotels that offer a designated area for guests to smoke are not considered smoke-free properties.",</a:t>
            </a:r>
          </a:p>
          <a:p>
            <a:r>
              <a:rPr lang="en-US" sz="3700">
                <a:solidFill>
                  <a:srgbClr val="252525"/>
                </a:solidFill>
              </a:rPr>
              <a:t>          "type": "boolean"</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6" id="86"/>
          <p:cNvPicPr>
            <a:picLocks noChangeAspect="true"/>
          </p:cNvPicPr>
          <p:nvPr/>
        </p:nvPicPr>
        <p:blipFill>
          <a:blip r:embed="rId86"/>
          <a:stretch>
            <a:fillRect/>
          </a:stretch>
        </p:blipFill>
        <p:spPr>
          <a:xfrm>
            <a:off x="0" y="127000"/>
            <a:ext cx="23749000" cy="16548100"/>
          </a:xfrm>
          <a:prstGeom prst="rect">
            <a:avLst/>
          </a:prstGeom>
        </p:spPr>
      </p:pic>
      <p:sp>
        <p:nvSpPr>
          <p:cNvPr name="TextBox 86" id="8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"smokeFreePropertyException": {</a:t>
            </a:r>
          </a:p>
          <a:p>
            <a:r>
              <a:rPr lang="en-US" sz="3700">
                <a:solidFill>
                  <a:srgbClr val="252525"/>
                </a:solidFill>
              </a:rPr>
              <a:t>          "description": "Smoke free property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88" id="88"/>
          <p:cNvPicPr>
            <a:picLocks noChangeAspect="true"/>
          </p:cNvPicPr>
          <p:nvPr/>
        </p:nvPicPr>
        <p:blipFill>
          <a:blip r:embed="rId88"/>
          <a:stretch>
            <a:fillRect/>
          </a:stretch>
        </p:blipFill>
        <p:spPr>
          <a:xfrm>
            <a:off x="0" y="127000"/>
            <a:ext cx="23749000" cy="16548100"/>
          </a:xfrm>
          <a:prstGeom prst="rect">
            <a:avLst/>
          </a:prstGeom>
        </p:spPr>
      </p:pic>
      <p:sp>
        <p:nvSpPr>
          <p:cNvPr name="TextBox 88" id="8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a:t>
            </a:r>
          </a:p>
          <a:p>
            <a:r>
              <a:rPr lang="en-US" sz="3700">
                <a:solidFill>
                  <a:srgbClr val="252525"/>
                </a:solidFill>
              </a:rPr>
              <a:t>        "allInclusiveAvailable": {</a:t>
            </a:r>
          </a:p>
          <a:p>
            <a:r>
              <a:rPr lang="en-US" sz="3700">
                <a:solidFill>
                  <a:srgbClr val="252525"/>
                </a:solidFill>
              </a:rPr>
              <a:t>          "description": "All inclusive available. The hotel offers a rate option that includes the cost of the room, meals, activities, and other amenities that might otherwise be charged separately.",</a:t>
            </a:r>
          </a:p>
          <a:p>
            <a:r>
              <a:rPr lang="en-US" sz="3700">
                <a:solidFill>
                  <a:srgbClr val="252525"/>
                </a:solidFill>
              </a:rPr>
              <a:t>          "type": "boolean"</a:t>
            </a:r>
          </a:p>
          <a:p>
            <a:r>
              <a:rPr lang="en-US" sz="3700">
                <a:solidFill>
                  <a:srgbClr val="252525"/>
                </a:solidFill>
              </a:rPr>
              <a:t>        },</a:t>
            </a:r>
          </a:p>
          <a:p>
            <a:r>
              <a:rPr lang="en-US" sz="3700">
                <a:solidFill>
                  <a:srgbClr val="252525"/>
                </a:solidFill>
              </a:rPr>
              <a:t>        "allInclusiveAvailableException": {</a:t>
            </a:r>
          </a:p>
          <a:p>
            <a:r>
              <a:rPr lang="en-US" sz="3700">
                <a:solidFill>
                  <a:srgbClr val="252525"/>
                </a:solidFill>
              </a:rPr>
              <a:t>          "description": "All inclusive available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0" id="90"/>
          <p:cNvPicPr>
            <a:picLocks noChangeAspect="true"/>
          </p:cNvPicPr>
          <p:nvPr/>
        </p:nvPicPr>
        <p:blipFill>
          <a:blip r:embed="rId90"/>
          <a:stretch>
            <a:fillRect/>
          </a:stretch>
        </p:blipFill>
        <p:spPr>
          <a:xfrm>
            <a:off x="0" y="127000"/>
            <a:ext cx="23749000" cy="16548100"/>
          </a:xfrm>
          <a:prstGeom prst="rect">
            <a:avLst/>
          </a:prstGeom>
        </p:spPr>
      </p:pic>
      <p:sp>
        <p:nvSpPr>
          <p:cNvPr name="TextBox 90" id="9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"allInclusiveOnly": {</a:t>
            </a:r>
          </a:p>
          <a:p>
            <a:r>
              <a:rPr lang="en-US" sz="3700">
                <a:solidFill>
                  <a:srgbClr val="252525"/>
                </a:solidFill>
              </a:rPr>
              <a:t>          "description": "All inclusive only. The only rate option offered by the hotel is a rate that includes the cost of the room, meals, activities and other amenities that might otherwise be charged separately.",</a:t>
            </a:r>
          </a:p>
          <a:p>
            <a:r>
              <a:rPr lang="en-US" sz="3700">
                <a:solidFill>
                  <a:srgbClr val="252525"/>
                </a:solidFill>
              </a:rPr>
              <a:t>          "type": "boolean"</a:t>
            </a:r>
          </a:p>
          <a:p>
            <a:r>
              <a:rPr lang="en-US" sz="3700">
                <a:solidFill>
                  <a:srgbClr val="252525"/>
                </a:solidFill>
              </a:rPr>
              <a:t>        },</a:t>
            </a:r>
          </a:p>
          <a:p>
            <a:r>
              <a:rPr lang="en-US" sz="3700">
                <a:solidFill>
                  <a:srgbClr val="252525"/>
                </a:solidFill>
              </a:rPr>
              <a:t>        "allInclusiveOnlyException": {</a:t>
            </a:r>
          </a:p>
          <a:p>
            <a:r>
              <a:rPr lang="en-US" sz="3700">
                <a:solidFill>
                  <a:srgbClr val="252525"/>
                </a:solidFill>
              </a:rPr>
              <a:t>          "description": "All inclusive only </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2" id="92"/>
          <p:cNvPicPr>
            <a:picLocks noChangeAspect="true"/>
          </p:cNvPicPr>
          <p:nvPr/>
        </p:nvPicPr>
        <p:blipFill>
          <a:blip r:embed="rId92"/>
          <a:stretch>
            <a:fillRect/>
          </a:stretch>
        </p:blipFill>
        <p:spPr>
          <a:xfrm>
            <a:off x="0" y="127000"/>
            <a:ext cx="23749000" cy="16548100"/>
          </a:xfrm>
          <a:prstGeom prst="rect">
            <a:avLst/>
          </a:prstGeom>
        </p:spPr>
      </p:pic>
      <p:sp>
        <p:nvSpPr>
          <p:cNvPr name="TextBox 92" id="9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"paymentOptions": {</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4" id="94"/>
          <p:cNvPicPr>
            <a:picLocks noChangeAspect="true"/>
          </p:cNvPicPr>
          <p:nvPr/>
        </p:nvPicPr>
        <p:blipFill>
          <a:blip r:embed="rId94"/>
          <a:stretch>
            <a:fillRect/>
          </a:stretch>
        </p:blipFill>
        <p:spPr>
          <a:xfrm>
            <a:off x="0" y="127000"/>
            <a:ext cx="23749000" cy="16548100"/>
          </a:xfrm>
          <a:prstGeom prst="rect">
            <a:avLst/>
          </a:prstGeom>
        </p:spPr>
      </p:pic>
      <p:sp>
        <p:nvSpPr>
          <p:cNvPr name="TextBox 94" id="9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"description": "Forms of payment accepted at the property.",</a:t>
            </a:r>
          </a:p>
          <a:p>
            <a:r>
              <a:rPr lang="en-US" sz="3700">
                <a:solidFill>
                  <a:srgbClr val="252525"/>
                </a:solidFill>
              </a:rPr>
              <a:t>          "$ref": "PaymentOptions"</a:t>
            </a:r>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"TimeOfDay": {</a:t>
            </a:r>
          </a:p>
          <a:p>
            <a:r>
              <a:rPr lang="en-US" sz="3700">
                <a:solidFill>
                  <a:srgbClr val="252525"/>
                </a:solidFill>
              </a:rPr>
              <a:t>      "id": "TimeOfDay",</a:t>
            </a:r>
          </a:p>
          <a:p>
            <a:r>
              <a:rPr lang="en-US" sz="3700">
                <a:solidFill>
                  <a:srgbClr val="252525"/>
                </a:solidFill>
              </a:rPr>
              <a:t>      "description": "Represents a time of day. The date and time zone are either not significant or are specified elsewhere. An API may choose to allow leap seconds. Related types are google.type.Date and `google.protobuf.Timestamp`.",</a:t>
            </a:r>
          </a:p>
          <a:p>
            <a:r>
              <a:rPr lang="en-US" sz="3700">
                <a:solidFill>
                  <a:srgbClr val="252525"/>
                </a:solidFill>
              </a:rPr>
              <a:t>      "type": "object",</a:t>
            </a:r>
          </a:p>
          <a:p>
            <a:r>
              <a:rPr lang="en-US" sz="3700">
                <a:solidFill>
                  <a:srgbClr val="252525"/>
                </a:solidFill>
              </a:rPr>
              <a:t>      "properties": {</a:t>
            </a:r>
          </a:p>
          <a:p>
            <a:r>
              <a:rPr lang="en-US" sz="3700">
                <a:solidFill>
                  <a:srgbClr val="252525"/>
                </a:solidFill>
              </a:rPr>
              <a:t>        "hours": {</a:t>
            </a:r>
          </a:p>
          <a:p>
            <a:r>
              <a:rPr lang="en-US" sz="3700">
                <a:solidFill>
                  <a:srgbClr val="252525"/>
                </a:solidFill>
              </a:rPr>
              <a:t>          "description": "Hours of a day in 24 hour format. Must be greater than or equal to 0 and typically must be less than or equal to 23. An API may choose to allow </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6" id="96"/>
          <p:cNvPicPr>
            <a:picLocks noChangeAspect="true"/>
          </p:cNvPicPr>
          <p:nvPr/>
        </p:nvPicPr>
        <p:blipFill>
          <a:blip r:embed="rId96"/>
          <a:stretch>
            <a:fillRect/>
          </a:stretch>
        </p:blipFill>
        <p:spPr>
          <a:xfrm>
            <a:off x="0" y="127000"/>
            <a:ext cx="23749000" cy="16548100"/>
          </a:xfrm>
          <a:prstGeom prst="rect">
            <a:avLst/>
          </a:prstGeom>
        </p:spPr>
      </p:pic>
      <p:sp>
        <p:nvSpPr>
          <p:cNvPr name="TextBox 96" id="9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the value \"24:00:00\" for scenarios like business closing time.",</a:t>
            </a:r>
          </a:p>
          <a:p>
            <a:r>
              <a:rPr lang="en-US" sz="3700">
                <a:solidFill>
                  <a:srgbClr val="252525"/>
                </a:solidFill>
              </a:rPr>
              <a:t>          "type": "integer",</a:t>
            </a:r>
          </a:p>
          <a:p>
            <a:r>
              <a:rPr lang="en-US" sz="3700">
                <a:solidFill>
                  <a:srgbClr val="252525"/>
                </a:solidFill>
              </a:rPr>
              <a:t>          "format": "int32"</a:t>
            </a:r>
          </a:p>
          <a:p>
            <a:r>
              <a:rPr lang="en-US" sz="3700">
                <a:solidFill>
                  <a:srgbClr val="252525"/>
                </a:solidFill>
              </a:rPr>
              <a:t>        },</a:t>
            </a:r>
          </a:p>
          <a:p>
            <a:r>
              <a:rPr lang="en-US" sz="3700">
                <a:solidFill>
                  <a:srgbClr val="252525"/>
                </a:solidFill>
              </a:rPr>
              <a:t>        "minutes": {</a:t>
            </a:r>
          </a:p>
          <a:p>
            <a:r>
              <a:rPr lang="en-US" sz="3700">
                <a:solidFill>
                  <a:srgbClr val="252525"/>
                </a:solidFill>
              </a:rPr>
              <a:t>          "description": "Minutes of an hour. Must be greater than or equal to 0 and less than or equal to 59.",</a:t>
            </a:r>
          </a:p>
          <a:p>
            <a:r>
              <a:rPr lang="en-US" sz="3700">
                <a:solidFill>
                  <a:srgbClr val="252525"/>
                </a:solidFill>
              </a:rPr>
              <a:t>          "type": "integer",</a:t>
            </a:r>
          </a:p>
          <a:p>
            <a:r>
              <a:rPr lang="en-US" sz="3700">
                <a:solidFill>
                  <a:srgbClr val="252525"/>
                </a:solidFill>
              </a:rPr>
              <a:t>          "format": "int32"</a:t>
            </a:r>
          </a:p>
          <a:p>
            <a:r>
              <a:rPr lang="en-US" sz="3700">
                <a:solidFill>
                  <a:srgbClr val="252525"/>
                </a:solidFill>
              </a:rPr>
              <a:t>        },</a:t>
            </a:r>
          </a:p>
          <a:p>
            <a:r>
              <a:rPr lang="en-US" sz="3700">
                <a:solidFill>
                  <a:srgbClr val="252525"/>
                </a:solidFill>
              </a:rPr>
              <a:t>        "seconds": {</a:t>
            </a:r>
          </a:p>
          <a:p>
            <a:r>
              <a:rPr lang="en-US" sz="3700">
                <a:solidFill>
                  <a:srgbClr val="252525"/>
                </a:solidFill>
              </a:rPr>
              <a:t>          "description": "Seconds of a minute. Must be greater than or equal to 0 and typically must be less than or equal to 59. An API may allow the value 60 if it allows leap-seconds.",</a:t>
            </a:r>
          </a:p>
          <a:p>
            <a:r>
              <a:rPr lang="en-US" sz="3700">
                <a:solidFill>
                  <a:srgbClr val="252525"/>
                </a:solidFill>
              </a:rPr>
              <a:t>          "type": "integer",</a:t>
            </a:r>
          </a:p>
          <a:p>
            <a:r>
              <a:rPr lang="en-US" sz="3700">
                <a:solidFill>
                  <a:srgbClr val="252525"/>
                </a:solidFill>
              </a:rPr>
              <a:t>          "format": "int32"</a:t>
            </a:r>
          </a:p>
          <a:p>
            <a:r>
              <a:rPr lang="en-US" sz="3700">
                <a:solidFill>
                  <a:srgbClr val="252525"/>
                </a:solidFill>
              </a:rPr>
              <a:t>        },</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98" id="98"/>
          <p:cNvPicPr>
            <a:picLocks noChangeAspect="true"/>
          </p:cNvPicPr>
          <p:nvPr/>
        </p:nvPicPr>
        <p:blipFill>
          <a:blip r:embed="rId98"/>
          <a:stretch>
            <a:fillRect/>
          </a:stretch>
        </p:blipFill>
        <p:spPr>
          <a:xfrm>
            <a:off x="0" y="127000"/>
            <a:ext cx="23749000" cy="16548100"/>
          </a:xfrm>
          <a:prstGeom prst="rect">
            <a:avLst/>
          </a:prstGeom>
        </p:spPr>
      </p:pic>
      <p:sp>
        <p:nvSpPr>
          <p:cNvPr name="TextBox 98" id="9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"nanos": {</a:t>
            </a:r>
          </a:p>
          <a:p>
            <a:r>
              <a:rPr lang="en-US" sz="3700">
                <a:solidFill>
                  <a:srgbClr val="252525"/>
                </a:solidFill>
              </a:rPr>
              <a:t>          "description": "Fractions of seconds, in nanoseconds. Must be greater than or equal to 0 and less than or equal to 999,999,999.",</a:t>
            </a:r>
          </a:p>
          <a:p>
            <a:r>
              <a:rPr lang="en-US" sz="3700">
                <a:solidFill>
                  <a:srgbClr val="252525"/>
                </a:solidFill>
              </a:rPr>
              <a:t>          "type": "integer",</a:t>
            </a:r>
          </a:p>
          <a:p>
            <a:r>
              <a:rPr lang="en-US" sz="3700">
                <a:solidFill>
                  <a:srgbClr val="252525"/>
                </a:solidFill>
              </a:rPr>
              <a:t>          "format": "int32"</a:t>
            </a:r>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"PaymentOptions": {</a:t>
            </a:r>
          </a:p>
          <a:p>
            <a:r>
              <a:rPr lang="en-US" sz="3700">
                <a:solidFill>
                  <a:srgbClr val="252525"/>
                </a:solidFill>
              </a:rPr>
              <a:t>      "id": "PaymentOptions",</a:t>
            </a:r>
          </a:p>
          <a:p>
            <a:r>
              <a:rPr lang="en-US" sz="3700">
                <a:solidFill>
                  <a:srgbClr val="252525"/>
                </a:solidFill>
              </a:rPr>
              <a:t>      "description": "Forms of payment accepted at the property.",</a:t>
            </a:r>
          </a:p>
          <a:p>
            <a:r>
              <a:rPr lang="en-US" sz="3700">
                <a:solidFill>
                  <a:srgbClr val="252525"/>
                </a:solidFill>
              </a:rPr>
              <a:t>      "type": "object",</a:t>
            </a:r>
          </a:p>
          <a:p>
            <a:r>
              <a:rPr lang="en-US" sz="3700">
                <a:solidFill>
                  <a:srgbClr val="252525"/>
                </a:solidFill>
              </a:rPr>
              <a:t>      "properties": {</a:t>
            </a:r>
          </a:p>
          <a:p>
            <a:r>
              <a:rPr lang="en-US" sz="3700">
                <a:solidFill>
                  <a:srgbClr val="252525"/>
                </a:solidFill>
              </a:rPr>
              <a:t>        "cash": {</a:t>
            </a:r>
          </a:p>
          <a:p>
            <a:r>
              <a:rPr lang="en-US" sz="3700">
                <a:solidFill>
                  <a:srgbClr val="252525"/>
                </a:solidFill>
              </a:rPr>
              <a:t>          "description": "Cash. The hotel accepts payment by paper/coin currency.",</a:t>
            </a:r>
          </a:p>
          <a:p>
            <a:r>
              <a:rPr lang="en-US" sz="3700">
                <a:solidFill>
                  <a:srgbClr val="252525"/>
                </a:solidFill>
              </a:rPr>
              <a:t>          "type": "boolean"</a:t>
            </a:r>
          </a:p>
          <a:p>
            <a:r>
              <a:rPr lang="en-US" sz="3700">
                <a:solidFill>
                  <a:srgbClr val="252525"/>
                </a:solidFill>
              </a:rPr>
              <a:t>        },</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0" id="100"/>
          <p:cNvPicPr>
            <a:picLocks noChangeAspect="true"/>
          </p:cNvPicPr>
          <p:nvPr/>
        </p:nvPicPr>
        <p:blipFill>
          <a:blip r:embed="rId100"/>
          <a:stretch>
            <a:fillRect/>
          </a:stretch>
        </p:blipFill>
        <p:spPr>
          <a:xfrm>
            <a:off x="0" y="127000"/>
            <a:ext cx="23749000" cy="16548100"/>
          </a:xfrm>
          <a:prstGeom prst="rect">
            <a:avLst/>
          </a:prstGeom>
        </p:spPr>
      </p:pic>
      <p:sp>
        <p:nvSpPr>
          <p:cNvPr name="TextBox 100" id="10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"cashException": {</a:t>
            </a:r>
          </a:p>
          <a:p>
            <a:r>
              <a:rPr lang="en-US" sz="3700">
                <a:solidFill>
                  <a:srgbClr val="252525"/>
                </a:solidFill>
              </a:rPr>
              <a:t>          "description": "Cash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2" id="102"/>
          <p:cNvPicPr>
            <a:picLocks noChangeAspect="true"/>
          </p:cNvPicPr>
          <p:nvPr/>
        </p:nvPicPr>
        <p:blipFill>
          <a:blip r:embed="rId102"/>
          <a:stretch>
            <a:fillRect/>
          </a:stretch>
        </p:blipFill>
        <p:spPr>
          <a:xfrm>
            <a:off x="0" y="127000"/>
            <a:ext cx="23749000" cy="16548100"/>
          </a:xfrm>
          <a:prstGeom prst="rect">
            <a:avLst/>
          </a:prstGeom>
        </p:spPr>
      </p:pic>
      <p:sp>
        <p:nvSpPr>
          <p:cNvPr name="TextBox 102" id="10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"cheque": {</a:t>
            </a:r>
          </a:p>
          <a:p>
            <a:r>
              <a:rPr lang="en-US" sz="3700">
                <a:solidFill>
                  <a:srgbClr val="252525"/>
                </a:solidFill>
              </a:rPr>
              <a:t>          "description": "Cheque. The hotel accepts a printed document issued by the guest's bank in the guest's name as a form of payment.",</a:t>
            </a:r>
          </a:p>
          <a:p>
            <a:r>
              <a:rPr lang="en-US" sz="3700">
                <a:solidFill>
                  <a:srgbClr val="252525"/>
                </a:solidFill>
              </a:rPr>
              <a:t>          "type": "boolean"</a:t>
            </a:r>
          </a:p>
          <a:p>
            <a:r>
              <a:rPr lang="en-US" sz="3700">
                <a:solidFill>
                  <a:srgbClr val="252525"/>
                </a:solidFill>
              </a:rPr>
              <a:t>        },</a:t>
            </a:r>
          </a:p>
          <a:p>
            <a:r>
              <a:rPr lang="en-US" sz="3700">
                <a:solidFill>
                  <a:srgbClr val="252525"/>
                </a:solidFill>
              </a:rPr>
              <a:t>        "chequeException": {</a:t>
            </a:r>
          </a:p>
          <a:p>
            <a:r>
              <a:rPr lang="en-US" sz="3700">
                <a:solidFill>
                  <a:srgbClr val="252525"/>
                </a:solidFill>
              </a:rPr>
              <a:t>          "description": "Cheque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4" id="104"/>
          <p:cNvPicPr>
            <a:picLocks noChangeAspect="true"/>
          </p:cNvPicPr>
          <p:nvPr/>
        </p:nvPicPr>
        <p:blipFill>
          <a:blip r:embed="rId104"/>
          <a:stretch>
            <a:fillRect/>
          </a:stretch>
        </p:blipFill>
        <p:spPr>
          <a:xfrm>
            <a:off x="0" y="127000"/>
            <a:ext cx="23749000" cy="16548100"/>
          </a:xfrm>
          <a:prstGeom prst="rect">
            <a:avLst/>
          </a:prstGeom>
        </p:spPr>
      </p:pic>
      <p:sp>
        <p:nvSpPr>
          <p:cNvPr name="TextBox 104" id="10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"creditCard": {</a:t>
            </a:r>
          </a:p>
          <a:p>
            <a:r>
              <a:rPr lang="en-US" sz="3700">
                <a:solidFill>
                  <a:srgbClr val="252525"/>
                </a:solidFill>
              </a:rPr>
              <a:t>          "description": "Credit card. The hotel accepts payment by a card issued by a bank or credit card company. Also known as charge card, debit card, bank card, or charge plate.",</a:t>
            </a:r>
          </a:p>
          <a:p>
            <a:r>
              <a:rPr lang="en-US" sz="3700">
                <a:solidFill>
                  <a:srgbClr val="252525"/>
                </a:solidFill>
              </a:rPr>
              <a:t>          "type": "boolean"</a:t>
            </a:r>
          </a:p>
          <a:p>
            <a:r>
              <a:rPr lang="en-US" sz="3700">
                <a:solidFill>
                  <a:srgbClr val="252525"/>
                </a:solidFill>
              </a:rPr>
              <a:t>        },</a:t>
            </a:r>
          </a:p>
          <a:p>
            <a:r>
              <a:rPr lang="en-US" sz="3700">
                <a:solidFill>
                  <a:srgbClr val="252525"/>
                </a:solidFill>
              </a:rPr>
              <a:t>        "creditCardException": {</a:t>
            </a:r>
          </a:p>
          <a:p>
            <a:r>
              <a:rPr lang="en-US" sz="3700">
                <a:solidFill>
                  <a:srgbClr val="252525"/>
                </a:solidFill>
              </a:rPr>
              <a:t>          "description": "Credit card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6" id="106"/>
          <p:cNvPicPr>
            <a:picLocks noChangeAspect="true"/>
          </p:cNvPicPr>
          <p:nvPr/>
        </p:nvPicPr>
        <p:blipFill>
          <a:blip r:embed="rId106"/>
          <a:stretch>
            <a:fillRect/>
          </a:stretch>
        </p:blipFill>
        <p:spPr>
          <a:xfrm>
            <a:off x="0" y="127000"/>
            <a:ext cx="23749000" cy="16548100"/>
          </a:xfrm>
          <a:prstGeom prst="rect">
            <a:avLst/>
          </a:prstGeom>
        </p:spPr>
      </p:pic>
      <p:sp>
        <p:nvSpPr>
          <p:cNvPr name="TextBox 106" id="10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"debitCard": {</a:t>
            </a:r>
          </a:p>
          <a:p>
            <a:r>
              <a:rPr lang="en-US" sz="3700">
                <a:solidFill>
                  <a:srgbClr val="252525"/>
                </a:solidFill>
              </a:rPr>
              <a:t>          "description": "Debit card. The hotel accepts a bank-issued card that immediately deducts the charged funds from the guest's bank account upon processing.",</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08" id="108"/>
          <p:cNvPicPr>
            <a:picLocks noChangeAspect="true"/>
          </p:cNvPicPr>
          <p:nvPr/>
        </p:nvPicPr>
        <p:blipFill>
          <a:blip r:embed="rId108"/>
          <a:stretch>
            <a:fillRect/>
          </a:stretch>
        </p:blipFill>
        <p:spPr>
          <a:xfrm>
            <a:off x="0" y="127000"/>
            <a:ext cx="23749000" cy="16548100"/>
          </a:xfrm>
          <a:prstGeom prst="rect">
            <a:avLst/>
          </a:prstGeom>
        </p:spPr>
      </p:pic>
      <p:sp>
        <p:nvSpPr>
          <p:cNvPr name="TextBox 108" id="10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"type": "boolean"</a:t>
            </a:r>
          </a:p>
          <a:p>
            <a:r>
              <a:rPr lang="en-US" sz="3700">
                <a:solidFill>
                  <a:srgbClr val="252525"/>
                </a:solidFill>
              </a:rPr>
              <a:t>        },</a:t>
            </a:r>
          </a:p>
          <a:p>
            <a:r>
              <a:rPr lang="en-US" sz="3700">
                <a:solidFill>
                  <a:srgbClr val="252525"/>
                </a:solidFill>
              </a:rPr>
              <a:t>        "debitCardException": {</a:t>
            </a:r>
          </a:p>
          <a:p>
            <a:r>
              <a:rPr lang="en-US" sz="3700">
                <a:solidFill>
                  <a:srgbClr val="252525"/>
                </a:solidFill>
              </a:rPr>
              <a:t>          "description": "Debit card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0" id="110"/>
          <p:cNvPicPr>
            <a:picLocks noChangeAspect="true"/>
          </p:cNvPicPr>
          <p:nvPr/>
        </p:nvPicPr>
        <p:blipFill>
          <a:blip r:embed="rId110"/>
          <a:stretch>
            <a:fillRect/>
          </a:stretch>
        </p:blipFill>
        <p:spPr>
          <a:xfrm>
            <a:off x="0" y="127000"/>
            <a:ext cx="23749000" cy="16548100"/>
          </a:xfrm>
          <a:prstGeom prst="rect">
            <a:avLst/>
          </a:prstGeom>
        </p:spPr>
      </p:pic>
      <p:sp>
        <p:nvSpPr>
          <p:cNvPr name="TextBox 110" id="11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a:t>
            </a:r>
          </a:p>
          <a:p>
            <a:r>
              <a:rPr lang="en-US" sz="3700">
                <a:solidFill>
                  <a:srgbClr val="252525"/>
                </a:solidFill>
              </a:rPr>
              <a:t>        "mobileNfc": {</a:t>
            </a:r>
          </a:p>
          <a:p>
            <a:r>
              <a:rPr lang="en-US" sz="3700">
                <a:solidFill>
                  <a:srgbClr val="252525"/>
                </a:solidFill>
              </a:rPr>
              <a:t>          "description": "Mobile nfc. The hotel has the compatible computer hardware terminal that reads and charges a payment app on the guest's smartphone without requiring the two devices to make physical contact. Also known as Apple Pay, Google Pay, Samsung Pay.",</a:t>
            </a:r>
          </a:p>
          <a:p>
            <a:r>
              <a:rPr lang="en-US" sz="3700">
                <a:solidFill>
                  <a:srgbClr val="252525"/>
                </a:solidFill>
              </a:rPr>
              <a:t>          "type": "boolean"</a:t>
            </a:r>
          </a:p>
          <a:p>
            <a:r>
              <a:rPr lang="en-US" sz="3700">
                <a:solidFill>
                  <a:srgbClr val="252525"/>
                </a:solidFill>
              </a:rPr>
              <a:t>        },</a:t>
            </a:r>
          </a:p>
          <a:p>
            <a:r>
              <a:rPr lang="en-US" sz="3700">
                <a:solidFill>
                  <a:srgbClr val="252525"/>
                </a:solidFill>
              </a:rPr>
              <a:t>        "mobileNfcException": {</a:t>
            </a:r>
          </a:p>
          <a:p>
            <a:r>
              <a:rPr lang="en-US" sz="3700">
                <a:solidFill>
                  <a:srgbClr val="252525"/>
                </a:solidFill>
              </a:rPr>
              <a:t>          "description": "Mobile nfc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2" id="112"/>
          <p:cNvPicPr>
            <a:picLocks noChangeAspect="true"/>
          </p:cNvPicPr>
          <p:nvPr/>
        </p:nvPicPr>
        <p:blipFill>
          <a:blip r:embed="rId112"/>
          <a:stretch>
            <a:fillRect/>
          </a:stretch>
        </p:blipFill>
        <p:spPr>
          <a:xfrm>
            <a:off x="0" y="127000"/>
            <a:ext cx="23749000" cy="16548100"/>
          </a:xfrm>
          <a:prstGeom prst="rect">
            <a:avLst/>
          </a:prstGeom>
        </p:spPr>
      </p:pic>
      <p:sp>
        <p:nvSpPr>
          <p:cNvPr name="TextBox 112" id="11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"FoodAndDrink": {</a:t>
            </a:r>
          </a:p>
          <a:p>
            <a:r>
              <a:rPr lang="en-US" sz="3700">
                <a:solidFill>
                  <a:srgbClr val="252525"/>
                </a:solidFill>
              </a:rPr>
              <a:t>      "id": "FoodAndDrink",</a:t>
            </a:r>
          </a:p>
          <a:p>
            <a:r>
              <a:rPr lang="en-US" sz="3700">
                <a:solidFill>
                  <a:srgbClr val="252525"/>
                </a:solidFill>
              </a:rPr>
              <a:t>      "description": "Meals, snacks, and beverages available at the property.",</a:t>
            </a:r>
          </a:p>
          <a:p>
            <a:r>
              <a:rPr lang="en-US" sz="3700">
                <a:solidFill>
                  <a:srgbClr val="252525"/>
                </a:solidFill>
              </a:rPr>
              <a:t>      "type": "object",</a:t>
            </a:r>
          </a:p>
          <a:p>
            <a:r>
              <a:rPr lang="en-US" sz="3700">
                <a:solidFill>
                  <a:srgbClr val="252525"/>
                </a:solidFill>
              </a:rPr>
              <a:t>      "properties": {</a:t>
            </a:r>
          </a:p>
          <a:p>
            <a:r>
              <a:rPr lang="en-US" sz="3700">
                <a:solidFill>
                  <a:srgbClr val="252525"/>
                </a:solidFill>
              </a:rPr>
              <a:t>        "roomService": {</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4" id="114"/>
          <p:cNvPicPr>
            <a:picLocks noChangeAspect="true"/>
          </p:cNvPicPr>
          <p:nvPr/>
        </p:nvPicPr>
        <p:blipFill>
          <a:blip r:embed="rId114"/>
          <a:stretch>
            <a:fillRect/>
          </a:stretch>
        </p:blipFill>
        <p:spPr>
          <a:xfrm>
            <a:off x="0" y="127000"/>
            <a:ext cx="23749000" cy="16548100"/>
          </a:xfrm>
          <a:prstGeom prst="rect">
            <a:avLst/>
          </a:prstGeom>
        </p:spPr>
      </p:pic>
      <p:sp>
        <p:nvSpPr>
          <p:cNvPr name="TextBox 114" id="11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"description": "Room service. A hotel staffer delivers meals prepared onsite to a guest's room as per their request. May or may not be available during specific hours. Services should be available to all guests (not based on rate/room booked/reward program, etc).",</a:t>
            </a:r>
          </a:p>
          <a:p>
            <a:r>
              <a:rPr lang="en-US" sz="3700">
                <a:solidFill>
                  <a:srgbClr val="252525"/>
                </a:solidFill>
              </a:rPr>
              <a:t>          "type": "boolean"</a:t>
            </a:r>
          </a:p>
          <a:p>
            <a:r>
              <a:rPr lang="en-US" sz="3700">
                <a:solidFill>
                  <a:srgbClr val="252525"/>
                </a:solidFill>
              </a:rPr>
              <a:t>        },</a:t>
            </a:r>
          </a:p>
          <a:p>
            <a:r>
              <a:rPr lang="en-US" sz="3700">
                <a:solidFill>
                  <a:srgbClr val="252525"/>
                </a:solidFill>
              </a:rPr>
              <a:t>        "roomServiceException": {</a:t>
            </a:r>
          </a:p>
          <a:p>
            <a:r>
              <a:rPr lang="en-US" sz="3700">
                <a:solidFill>
                  <a:srgbClr val="252525"/>
                </a:solidFill>
              </a:rPr>
              <a:t>          "description": "Room service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6" id="116"/>
          <p:cNvPicPr>
            <a:picLocks noChangeAspect="true"/>
          </p:cNvPicPr>
          <p:nvPr/>
        </p:nvPicPr>
        <p:blipFill>
          <a:blip r:embed="rId116"/>
          <a:stretch>
            <a:fillRect/>
          </a:stretch>
        </p:blipFill>
        <p:spPr>
          <a:xfrm>
            <a:off x="0" y="127000"/>
            <a:ext cx="23749000" cy="16548100"/>
          </a:xfrm>
          <a:prstGeom prst="rect">
            <a:avLst/>
          </a:prstGeom>
        </p:spPr>
      </p:pic>
      <p:sp>
        <p:nvSpPr>
          <p:cNvPr name="TextBox 116" id="11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"twentyFourHourRoomService": {</a:t>
            </a:r>
          </a:p>
          <a:p>
            <a:r>
              <a:rPr lang="en-US" sz="3700">
                <a:solidFill>
                  <a:srgbClr val="252525"/>
                </a:solidFill>
              </a:rPr>
              <a:t>          "description": "24hr room service. Room service is available 24 hours a day.",</a:t>
            </a:r>
          </a:p>
          <a:p>
            <a:r>
              <a:rPr lang="en-US" sz="3700">
                <a:solidFill>
                  <a:srgbClr val="252525"/>
                </a:solidFill>
              </a:rPr>
              <a:t>          "type": "boolean"</a:t>
            </a:r>
          </a:p>
          <a:p>
            <a:r>
              <a:rPr lang="en-US" sz="3700">
                <a:solidFill>
                  <a:srgbClr val="252525"/>
                </a:solidFill>
              </a:rPr>
              <a:t>        },</a:t>
            </a:r>
          </a:p>
          <a:p>
            <a:r>
              <a:rPr lang="en-US" sz="3700">
                <a:solidFill>
                  <a:srgbClr val="252525"/>
                </a:solidFill>
              </a:rPr>
              <a:t>        "twentyFourHourRoomServiceException": {</a:t>
            </a:r>
          </a:p>
          <a:p>
            <a:r>
              <a:rPr lang="en-US" sz="3700">
                <a:solidFill>
                  <a:srgbClr val="252525"/>
                </a:solidFill>
              </a:rPr>
              <a:t>          "description": "24hr room service exception.",</a:t>
            </a:r>
          </a:p>
          <a:p>
            <a:r>
              <a:rPr lang="en-US" sz="3700">
                <a:solidFill>
                  <a:srgbClr val="252525"/>
                </a:solidFill>
              </a:rPr>
              <a:t>          "type": "string",</a:t>
            </a:r>
          </a:p>
          <a:p>
            <a:r>
              <a:rPr lang="en-US" sz="3700">
                <a:solidFill>
                  <a:srgbClr val="252525"/>
                </a:solidFill>
              </a:rPr>
              <a:t>          "enumDescriptions": [</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18" id="118"/>
          <p:cNvPicPr>
            <a:picLocks noChangeAspect="true"/>
          </p:cNvPicPr>
          <p:nvPr/>
        </p:nvPicPr>
        <p:blipFill>
          <a:blip r:embed="rId118"/>
          <a:stretch>
            <a:fillRect/>
          </a:stretch>
        </p:blipFill>
        <p:spPr>
          <a:xfrm>
            <a:off x="0" y="127000"/>
            <a:ext cx="23749000" cy="16548100"/>
          </a:xfrm>
          <a:prstGeom prst="rect">
            <a:avLst/>
          </a:prstGeom>
        </p:spPr>
      </p:pic>
      <p:sp>
        <p:nvSpPr>
          <p:cNvPr name="TextBox 118" id="11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"restaurant": {</a:t>
            </a:r>
          </a:p>
          <a:p>
            <a:r>
              <a:rPr lang="en-US" sz="3700">
                <a:solidFill>
                  <a:srgbClr val="252525"/>
                </a:solidFill>
              </a:rPr>
              <a:t>          "description": "Restaurant. A business onsite at the hotel that is open to the public as well as guests, and offers meals </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0" id="120"/>
          <p:cNvPicPr>
            <a:picLocks noChangeAspect="true"/>
          </p:cNvPicPr>
          <p:nvPr/>
        </p:nvPicPr>
        <p:blipFill>
          <a:blip r:embed="rId120"/>
          <a:stretch>
            <a:fillRect/>
          </a:stretch>
        </p:blipFill>
        <p:spPr>
          <a:xfrm>
            <a:off x="0" y="127000"/>
            <a:ext cx="23749000" cy="16548100"/>
          </a:xfrm>
          <a:prstGeom prst="rect">
            <a:avLst/>
          </a:prstGeom>
        </p:spPr>
      </p:pic>
      <p:sp>
        <p:nvSpPr>
          <p:cNvPr name="TextBox 120" id="12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and beverages to consume at tables or counters. May or may not include table service. Also known as cafe, buffet, eatery. A \"breakfast room\" where the hotel serves breakfast only to guests (not the general public) does not count as a restaurant.",</a:t>
            </a:r>
          </a:p>
          <a:p>
            <a:r>
              <a:rPr lang="en-US" sz="3700">
                <a:solidFill>
                  <a:srgbClr val="252525"/>
                </a:solidFill>
              </a:rPr>
              <a:t>          "type": "boolean"</a:t>
            </a:r>
          </a:p>
          <a:p>
            <a:r>
              <a:rPr lang="en-US" sz="3700">
                <a:solidFill>
                  <a:srgbClr val="252525"/>
                </a:solidFill>
              </a:rPr>
              <a:t>        },</a:t>
            </a:r>
          </a:p>
          <a:p>
            <a:r>
              <a:rPr lang="en-US" sz="3700">
                <a:solidFill>
                  <a:srgbClr val="252525"/>
                </a:solidFill>
              </a:rPr>
              <a:t>        "restaurantException": {</a:t>
            </a:r>
          </a:p>
          <a:p>
            <a:r>
              <a:rPr lang="en-US" sz="3700">
                <a:solidFill>
                  <a:srgbClr val="252525"/>
                </a:solidFill>
              </a:rPr>
              <a:t>          "description": "Restaurant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2" id="122"/>
          <p:cNvPicPr>
            <a:picLocks noChangeAspect="true"/>
          </p:cNvPicPr>
          <p:nvPr/>
        </p:nvPicPr>
        <p:blipFill>
          <a:blip r:embed="rId122"/>
          <a:stretch>
            <a:fillRect/>
          </a:stretch>
        </p:blipFill>
        <p:spPr>
          <a:xfrm>
            <a:off x="0" y="127000"/>
            <a:ext cx="23749000" cy="16548100"/>
          </a:xfrm>
          <a:prstGeom prst="rect">
            <a:avLst/>
          </a:prstGeom>
        </p:spPr>
      </p:pic>
      <p:sp>
        <p:nvSpPr>
          <p:cNvPr name="TextBox 122" id="12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"restaurantsCount": {</a:t>
            </a:r>
          </a:p>
          <a:p>
            <a:r>
              <a:rPr lang="en-US" sz="3700">
                <a:solidFill>
                  <a:srgbClr val="252525"/>
                </a:solidFill>
              </a:rPr>
              <a:t>          "description": "Restaurants count. The number of restaurants at the hotel.",</a:t>
            </a:r>
          </a:p>
          <a:p>
            <a:r>
              <a:rPr lang="en-US" sz="3700">
                <a:solidFill>
                  <a:srgbClr val="252525"/>
                </a:solidFill>
              </a:rPr>
              <a:t>          "type": "integer",</a:t>
            </a:r>
          </a:p>
          <a:p>
            <a:r>
              <a:rPr lang="en-US" sz="3700">
                <a:solidFill>
                  <a:srgbClr val="252525"/>
                </a:solidFill>
              </a:rPr>
              <a:t>          "format": "int32"</a:t>
            </a:r>
          </a:p>
          <a:p>
            <a:r>
              <a:rPr lang="en-US" sz="3700">
                <a:solidFill>
                  <a:srgbClr val="252525"/>
                </a:solidFill>
              </a:rPr>
              <a:t>        },</a:t>
            </a:r>
          </a:p>
          <a:p>
            <a:r>
              <a:rPr lang="en-US" sz="3700">
                <a:solidFill>
                  <a:srgbClr val="252525"/>
                </a:solidFill>
              </a:rPr>
              <a:t>        "restaurantsCountException": {</a:t>
            </a:r>
          </a:p>
          <a:p>
            <a:r>
              <a:rPr lang="en-US" sz="3700">
                <a:solidFill>
                  <a:srgbClr val="252525"/>
                </a:solidFill>
              </a:rPr>
              <a:t>          "description": "Restaurants count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a:t>
            </a: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4" id="124"/>
          <p:cNvPicPr>
            <a:picLocks noChangeAspect="true"/>
          </p:cNvPicPr>
          <p:nvPr/>
        </p:nvPicPr>
        <p:blipFill>
          <a:blip r:embed="rId124"/>
          <a:stretch>
            <a:fillRect/>
          </a:stretch>
        </p:blipFill>
        <p:spPr>
          <a:xfrm>
            <a:off x="0" y="127000"/>
            <a:ext cx="23749000" cy="16548100"/>
          </a:xfrm>
          <a:prstGeom prst="rect">
            <a:avLst/>
          </a:prstGeom>
        </p:spPr>
      </p:pic>
      <p:sp>
        <p:nvSpPr>
          <p:cNvPr name="TextBox 124" id="12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"tableService": {</a:t>
            </a:r>
          </a:p>
          <a:p>
            <a:r>
              <a:rPr lang="en-US" sz="3700">
                <a:solidFill>
                  <a:srgbClr val="252525"/>
                </a:solidFill>
              </a:rPr>
              <a:t>          "description": "Table service. A restaurant in which a staff member is assigned to a guest's table to take their order, deliver and clear away food, and </a:t>
            </a: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6" id="126"/>
          <p:cNvPicPr>
            <a:picLocks noChangeAspect="true"/>
          </p:cNvPicPr>
          <p:nvPr/>
        </p:nvPicPr>
        <p:blipFill>
          <a:blip r:embed="rId126"/>
          <a:stretch>
            <a:fillRect/>
          </a:stretch>
        </p:blipFill>
        <p:spPr>
          <a:xfrm>
            <a:off x="0" y="127000"/>
            <a:ext cx="23749000" cy="16548100"/>
          </a:xfrm>
          <a:prstGeom prst="rect">
            <a:avLst/>
          </a:prstGeom>
        </p:spPr>
      </p:pic>
      <p:sp>
        <p:nvSpPr>
          <p:cNvPr name="TextBox 126" id="12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deliver the bill, if applicable. Also known as sit-down restaurant.",</a:t>
            </a:r>
          </a:p>
          <a:p>
            <a:r>
              <a:rPr lang="en-US" sz="3700">
                <a:solidFill>
                  <a:srgbClr val="252525"/>
                </a:solidFill>
              </a:rPr>
              <a:t>          "type": "boolean"</a:t>
            </a:r>
          </a:p>
          <a:p>
            <a:r>
              <a:rPr lang="en-US" sz="3700">
                <a:solidFill>
                  <a:srgbClr val="252525"/>
                </a:solidFill>
              </a:rPr>
              <a:t>        },</a:t>
            </a:r>
          </a:p>
          <a:p>
            <a:r>
              <a:rPr lang="en-US" sz="3700">
                <a:solidFill>
                  <a:srgbClr val="252525"/>
                </a:solidFill>
              </a:rPr>
              <a:t>        "tableServiceException": {</a:t>
            </a:r>
          </a:p>
          <a:p>
            <a:r>
              <a:rPr lang="en-US" sz="3700">
                <a:solidFill>
                  <a:srgbClr val="252525"/>
                </a:solidFill>
              </a:rPr>
              <a:t>          "description": "Table service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p:txBody>
      </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28" id="128"/>
          <p:cNvPicPr>
            <a:picLocks noChangeAspect="true"/>
          </p:cNvPicPr>
          <p:nvPr/>
        </p:nvPicPr>
        <p:blipFill>
          <a:blip r:embed="rId128"/>
          <a:stretch>
            <a:fillRect/>
          </a:stretch>
        </p:blipFill>
        <p:spPr>
          <a:xfrm>
            <a:off x="0" y="127000"/>
            <a:ext cx="23749000" cy="16548100"/>
          </a:xfrm>
          <a:prstGeom prst="rect">
            <a:avLst/>
          </a:prstGeom>
        </p:spPr>
      </p:pic>
      <p:sp>
        <p:nvSpPr>
          <p:cNvPr name="TextBox 128" id="12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"buffet": {</a:t>
            </a:r>
          </a:p>
          <a:p>
            <a:r>
              <a:rPr lang="en-US" sz="3700">
                <a:solidFill>
                  <a:srgbClr val="252525"/>
                </a:solidFill>
              </a:rPr>
              <a:t>          "description": "Buffet. A type of meal where guests serve themselves from a variety of dishes/foods that are put out on a table. Includes lunch and/or dinner meals. A breakfast-only buffet is not sufficient.",</a:t>
            </a:r>
          </a:p>
          <a:p>
            <a:r>
              <a:rPr lang="en-US" sz="3700">
                <a:solidFill>
                  <a:srgbClr val="252525"/>
                </a:solidFill>
              </a:rPr>
              <a:t>          "type": "boolean"</a:t>
            </a:r>
          </a:p>
          <a:p>
            <a:r>
              <a:rPr lang="en-US" sz="3700">
                <a:solidFill>
                  <a:srgbClr val="252525"/>
                </a:solidFill>
              </a:rPr>
              <a:t>        },</a:t>
            </a:r>
          </a:p>
          <a:p>
            <a:r>
              <a:rPr lang="en-US" sz="3700">
                <a:solidFill>
                  <a:srgbClr val="252525"/>
                </a:solidFill>
              </a:rPr>
              <a:t>        "buffetException": {</a:t>
            </a:r>
          </a:p>
          <a:p>
            <a:r>
              <a:rPr lang="en-US" sz="3700">
                <a:solidFill>
                  <a:srgbClr val="252525"/>
                </a:solidFill>
              </a:rPr>
              <a:t>          "description": "Buffet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0" id="130"/>
          <p:cNvPicPr>
            <a:picLocks noChangeAspect="true"/>
          </p:cNvPicPr>
          <p:nvPr/>
        </p:nvPicPr>
        <p:blipFill>
          <a:blip r:embed="rId130"/>
          <a:stretch>
            <a:fillRect/>
          </a:stretch>
        </p:blipFill>
        <p:spPr>
          <a:xfrm>
            <a:off x="0" y="127000"/>
            <a:ext cx="23749000" cy="16548100"/>
          </a:xfrm>
          <a:prstGeom prst="rect">
            <a:avLst/>
          </a:prstGeom>
        </p:spPr>
      </p:pic>
      <p:sp>
        <p:nvSpPr>
          <p:cNvPr name="TextBox 130" id="13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"dinnerBuffet": {</a:t>
            </a:r>
          </a:p>
          <a:p>
            <a:r>
              <a:rPr lang="en-US" sz="3700">
                <a:solidFill>
                  <a:srgbClr val="252525"/>
                </a:solidFill>
              </a:rPr>
              <a:t>          "description": "Dinner buffet. Dinner meal service where guests serve themselves from a variety of dishes/foods that are put out on a table.",</a:t>
            </a:r>
          </a:p>
          <a:p>
            <a:r>
              <a:rPr lang="en-US" sz="3700">
                <a:solidFill>
                  <a:srgbClr val="252525"/>
                </a:solidFill>
              </a:rPr>
              <a:t>          "type": "boolean"</a:t>
            </a:r>
          </a:p>
          <a:p>
            <a:r>
              <a:rPr lang="en-US" sz="3700">
                <a:solidFill>
                  <a:srgbClr val="252525"/>
                </a:solidFill>
              </a:rPr>
              <a:t>        },</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2" id="132"/>
          <p:cNvPicPr>
            <a:picLocks noChangeAspect="true"/>
          </p:cNvPicPr>
          <p:nvPr/>
        </p:nvPicPr>
        <p:blipFill>
          <a:blip r:embed="rId132"/>
          <a:stretch>
            <a:fillRect/>
          </a:stretch>
        </p:blipFill>
        <p:spPr>
          <a:xfrm>
            <a:off x="0" y="127000"/>
            <a:ext cx="23749000" cy="16548100"/>
          </a:xfrm>
          <a:prstGeom prst="rect">
            <a:avLst/>
          </a:prstGeom>
        </p:spPr>
      </p:pic>
      <p:sp>
        <p:nvSpPr>
          <p:cNvPr name="TextBox 132" id="13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"dinnerBuffetException": {</a:t>
            </a:r>
          </a:p>
          <a:p>
            <a:r>
              <a:rPr lang="en-US" sz="3700">
                <a:solidFill>
                  <a:srgbClr val="252525"/>
                </a:solidFill>
              </a:rPr>
              <a:t>          "description": "Dinner buffet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4" id="134"/>
          <p:cNvPicPr>
            <a:picLocks noChangeAspect="true"/>
          </p:cNvPicPr>
          <p:nvPr/>
        </p:nvPicPr>
        <p:blipFill>
          <a:blip r:embed="rId134"/>
          <a:stretch>
            <a:fillRect/>
          </a:stretch>
        </p:blipFill>
        <p:spPr>
          <a:xfrm>
            <a:off x="0" y="127000"/>
            <a:ext cx="23749000" cy="16548100"/>
          </a:xfrm>
          <a:prstGeom prst="rect">
            <a:avLst/>
          </a:prstGeom>
        </p:spPr>
      </p:pic>
      <p:sp>
        <p:nvSpPr>
          <p:cNvPr name="TextBox 134" id="13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"breakfastBuffet": {</a:t>
            </a:r>
          </a:p>
          <a:p>
            <a:r>
              <a:rPr lang="en-US" sz="3700">
                <a:solidFill>
                  <a:srgbClr val="252525"/>
                </a:solidFill>
              </a:rPr>
              <a:t>          "description": "Breakfast buffet. Breakfast meal service where guests serve themselves from a variety of dishes/foods that are put out on a table.",</a:t>
            </a:r>
          </a:p>
          <a:p>
            <a:r>
              <a:rPr lang="en-US" sz="3700">
                <a:solidFill>
                  <a:srgbClr val="252525"/>
                </a:solidFill>
              </a:rPr>
              <a:t>          "type": "boolean"</a:t>
            </a:r>
          </a:p>
          <a:p>
            <a:r>
              <a:rPr lang="en-US" sz="3700">
                <a:solidFill>
                  <a:srgbClr val="252525"/>
                </a:solidFill>
              </a:rPr>
              <a:t>        },</a:t>
            </a:r>
          </a:p>
          <a:p>
            <a:r>
              <a:rPr lang="en-US" sz="3700">
                <a:solidFill>
                  <a:srgbClr val="252525"/>
                </a:solidFill>
              </a:rPr>
              <a:t>        "breakfastBuffetException": {</a:t>
            </a:r>
          </a:p>
          <a:p>
            <a:r>
              <a:rPr lang="en-US" sz="3700">
                <a:solidFill>
                  <a:srgbClr val="252525"/>
                </a:solidFill>
              </a:rPr>
              <a:t>          "description": "Breakfast buffet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a:t>
            </a:r>
          </a:p>
        </p:txBody>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6" id="136"/>
          <p:cNvPicPr>
            <a:picLocks noChangeAspect="true"/>
          </p:cNvPicPr>
          <p:nvPr/>
        </p:nvPicPr>
        <p:blipFill>
          <a:blip r:embed="rId136"/>
          <a:stretch>
            <a:fillRect/>
          </a:stretch>
        </p:blipFill>
        <p:spPr>
          <a:xfrm>
            <a:off x="0" y="127000"/>
            <a:ext cx="23749000" cy="16548100"/>
          </a:xfrm>
          <a:prstGeom prst="rect">
            <a:avLst/>
          </a:prstGeom>
        </p:spPr>
      </p:pic>
      <p:sp>
        <p:nvSpPr>
          <p:cNvPr name="TextBox 136" id="13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"breakfastAvailable": {</a:t>
            </a:r>
          </a:p>
          <a:p>
            <a:r>
              <a:rPr lang="en-US" sz="3700">
                <a:solidFill>
                  <a:srgbClr val="252525"/>
                </a:solidFill>
              </a:rPr>
              <a:t>          "description": "Breakfast available. The morning meal is offered to all guests. Can be free or for a fee.",</a:t>
            </a:r>
          </a:p>
          <a:p>
            <a:r>
              <a:rPr lang="en-US" sz="3700">
                <a:solidFill>
                  <a:srgbClr val="252525"/>
                </a:solidFill>
              </a:rPr>
              <a:t>          "type": "boolean"</a:t>
            </a:r>
          </a:p>
          <a:p>
            <a:r>
              <a:rPr lang="en-US" sz="3700">
                <a:solidFill>
                  <a:srgbClr val="252525"/>
                </a:solidFill>
              </a:rPr>
              <a:t>        },</a:t>
            </a:r>
          </a:p>
          <a:p>
            <a:r>
              <a:rPr lang="en-US" sz="3700">
                <a:solidFill>
                  <a:srgbClr val="252525"/>
                </a:solidFill>
              </a:rPr>
              <a:t>        "breakfastAvailableException": {</a:t>
            </a:r>
          </a:p>
          <a:p>
            <a:r>
              <a:rPr lang="en-US" sz="3700">
                <a:solidFill>
                  <a:srgbClr val="252525"/>
                </a:solidFill>
              </a:rPr>
              <a:t>          "description": "Breakfast available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a:t>
            </a:r>
          </a:p>
        </p:txBody>
      </p:sp>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38" id="138"/>
          <p:cNvPicPr>
            <a:picLocks noChangeAspect="true"/>
          </p:cNvPicPr>
          <p:nvPr/>
        </p:nvPicPr>
        <p:blipFill>
          <a:blip r:embed="rId138"/>
          <a:stretch>
            <a:fillRect/>
          </a:stretch>
        </p:blipFill>
        <p:spPr>
          <a:xfrm>
            <a:off x="0" y="127000"/>
            <a:ext cx="23749000" cy="16548100"/>
          </a:xfrm>
          <a:prstGeom prst="rect">
            <a:avLst/>
          </a:prstGeom>
        </p:spPr>
      </p:pic>
      <p:sp>
        <p:nvSpPr>
          <p:cNvPr name="TextBox 138" id="13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"freeBreakfast": {</a:t>
            </a:r>
          </a:p>
          <a:p>
            <a:r>
              <a:rPr lang="en-US" sz="3700">
                <a:solidFill>
                  <a:srgbClr val="252525"/>
                </a:solidFill>
              </a:rPr>
              <a:t>          "description": "Free breakfast. Breakfast is offered for free to all guests. Does not apply if limited to certain room packages.",</a:t>
            </a:r>
          </a:p>
        </p:txBody>
      </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0" id="140"/>
          <p:cNvPicPr>
            <a:picLocks noChangeAspect="true"/>
          </p:cNvPicPr>
          <p:nvPr/>
        </p:nvPicPr>
        <p:blipFill>
          <a:blip r:embed="rId140"/>
          <a:stretch>
            <a:fillRect/>
          </a:stretch>
        </p:blipFill>
        <p:spPr>
          <a:xfrm>
            <a:off x="0" y="127000"/>
            <a:ext cx="23749000" cy="16548100"/>
          </a:xfrm>
          <a:prstGeom prst="rect">
            <a:avLst/>
          </a:prstGeom>
        </p:spPr>
      </p:pic>
      <p:sp>
        <p:nvSpPr>
          <p:cNvPr name="TextBox 140" id="14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"type": "boolean"</a:t>
            </a:r>
          </a:p>
          <a:p>
            <a:r>
              <a:rPr lang="en-US" sz="3700">
                <a:solidFill>
                  <a:srgbClr val="252525"/>
                </a:solidFill>
              </a:rPr>
              <a:t>        },</a:t>
            </a:r>
          </a:p>
          <a:p>
            <a:r>
              <a:rPr lang="en-US" sz="3700">
                <a:solidFill>
                  <a:srgbClr val="252525"/>
                </a:solidFill>
              </a:rPr>
              <a:t>        "freeBreakfastException": {</a:t>
            </a:r>
          </a:p>
          <a:p>
            <a:r>
              <a:rPr lang="en-US" sz="3700">
                <a:solidFill>
                  <a:srgbClr val="252525"/>
                </a:solidFill>
              </a:rPr>
              <a:t>          "description": "Free breakfast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p:txBody>
      </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2" id="142"/>
          <p:cNvPicPr>
            <a:picLocks noChangeAspect="true"/>
          </p:cNvPicPr>
          <p:nvPr/>
        </p:nvPicPr>
        <p:blipFill>
          <a:blip r:embed="rId142"/>
          <a:stretch>
            <a:fillRect/>
          </a:stretch>
        </p:blipFill>
        <p:spPr>
          <a:xfrm>
            <a:off x="0" y="127000"/>
            <a:ext cx="23749000" cy="16548100"/>
          </a:xfrm>
          <a:prstGeom prst="rect">
            <a:avLst/>
          </a:prstGeom>
        </p:spPr>
      </p:pic>
      <p:sp>
        <p:nvSpPr>
          <p:cNvPr name="TextBox 142" id="14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"bar": {</a:t>
            </a:r>
          </a:p>
          <a:p>
            <a:r>
              <a:rPr lang="en-US" sz="3700">
                <a:solidFill>
                  <a:srgbClr val="252525"/>
                </a:solidFill>
              </a:rPr>
              <a:t>          "description": "Bar. A designated room, lounge or area of an on-site restaurant with seating at a counter behind which a hotel staffer takes the guest's order and provides the requested alcoholic drink. Can be indoors or outdoors. Also known as Pub.",</a:t>
            </a:r>
          </a:p>
          <a:p>
            <a:r>
              <a:rPr lang="en-US" sz="3700">
                <a:solidFill>
                  <a:srgbClr val="252525"/>
                </a:solidFill>
              </a:rPr>
              <a:t>          "type": "boolean"</a:t>
            </a:r>
          </a:p>
          <a:p>
            <a:r>
              <a:rPr lang="en-US" sz="3700">
                <a:solidFill>
                  <a:srgbClr val="252525"/>
                </a:solidFill>
              </a:rPr>
              <a:t>        },</a:t>
            </a:r>
          </a:p>
          <a:p>
            <a:r>
              <a:rPr lang="en-US" sz="3700">
                <a:solidFill>
                  <a:srgbClr val="252525"/>
                </a:solidFill>
              </a:rPr>
              <a:t>        "barException": {</a:t>
            </a:r>
          </a:p>
          <a:p>
            <a:r>
              <a:rPr lang="en-US" sz="3700">
                <a:solidFill>
                  <a:srgbClr val="252525"/>
                </a:solidFill>
              </a:rPr>
              <a:t>          "description": "Bar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a:t>
            </a:r>
          </a:p>
        </p:txBody>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4" id="144"/>
          <p:cNvPicPr>
            <a:picLocks noChangeAspect="true"/>
          </p:cNvPicPr>
          <p:nvPr/>
        </p:nvPicPr>
        <p:blipFill>
          <a:blip r:embed="rId144"/>
          <a:stretch>
            <a:fillRect/>
          </a:stretch>
        </p:blipFill>
        <p:spPr>
          <a:xfrm>
            <a:off x="0" y="127000"/>
            <a:ext cx="23749000" cy="16548100"/>
          </a:xfrm>
          <a:prstGeom prst="rect">
            <a:avLst/>
          </a:prstGeom>
        </p:spPr>
      </p:pic>
      <p:sp>
        <p:nvSpPr>
          <p:cNvPr name="TextBox 144" id="14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"vendingMachine": {</a:t>
            </a:r>
          </a:p>
          <a:p>
            <a:r>
              <a:rPr lang="en-US" sz="3700">
                <a:solidFill>
                  <a:srgbClr val="252525"/>
                </a:solidFill>
              </a:rPr>
              <a:t>          "description": "Vending machine. A glass-fronted mechanized cabinet displaying and dispensing snacks and beverages for purchase by coins, paper money and/or credit cards.",</a:t>
            </a:r>
          </a:p>
          <a:p>
            <a:r>
              <a:rPr lang="en-US" sz="3700">
                <a:solidFill>
                  <a:srgbClr val="252525"/>
                </a:solidFill>
              </a:rPr>
              <a:t>          "type": "boolean"</a:t>
            </a:r>
          </a:p>
          <a:p>
            <a:r>
              <a:rPr lang="en-US" sz="3700">
                <a:solidFill>
                  <a:srgbClr val="252525"/>
                </a:solidFill>
              </a:rPr>
              <a:t>        },</a:t>
            </a:r>
          </a:p>
        </p:txBody>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6" id="146"/>
          <p:cNvPicPr>
            <a:picLocks noChangeAspect="true"/>
          </p:cNvPicPr>
          <p:nvPr/>
        </p:nvPicPr>
        <p:blipFill>
          <a:blip r:embed="rId146"/>
          <a:stretch>
            <a:fillRect/>
          </a:stretch>
        </p:blipFill>
        <p:spPr>
          <a:xfrm>
            <a:off x="0" y="127000"/>
            <a:ext cx="23749000" cy="16548100"/>
          </a:xfrm>
          <a:prstGeom prst="rect">
            <a:avLst/>
          </a:prstGeom>
        </p:spPr>
      </p:pic>
      <p:sp>
        <p:nvSpPr>
          <p:cNvPr name="TextBox 146" id="14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"vendingMachineException": {</a:t>
            </a:r>
          </a:p>
          <a:p>
            <a:r>
              <a:rPr lang="en-US" sz="3700">
                <a:solidFill>
                  <a:srgbClr val="252525"/>
                </a:solidFill>
              </a:rPr>
              <a:t>          "description": "Vending machine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p:txBody>
      </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48" id="148"/>
          <p:cNvPicPr>
            <a:picLocks noChangeAspect="true"/>
          </p:cNvPicPr>
          <p:nvPr/>
        </p:nvPicPr>
        <p:blipFill>
          <a:blip r:embed="rId148"/>
          <a:stretch>
            <a:fillRect/>
          </a:stretch>
        </p:blipFill>
        <p:spPr>
          <a:xfrm>
            <a:off x="0" y="127000"/>
            <a:ext cx="23749000" cy="16548100"/>
          </a:xfrm>
          <a:prstGeom prst="rect">
            <a:avLst/>
          </a:prstGeom>
        </p:spPr>
      </p:pic>
      <p:sp>
        <p:nvSpPr>
          <p:cNvPr name="TextBox 148" id="14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"Pools": {</a:t>
            </a:r>
          </a:p>
          <a:p>
            <a:r>
              <a:rPr lang="en-US" sz="3700">
                <a:solidFill>
                  <a:srgbClr val="252525"/>
                </a:solidFill>
              </a:rPr>
              <a:t>      "id": "Pools",</a:t>
            </a:r>
          </a:p>
          <a:p>
            <a:r>
              <a:rPr lang="en-US" sz="3700">
                <a:solidFill>
                  <a:srgbClr val="252525"/>
                </a:solidFill>
              </a:rPr>
              <a:t>      "description": "Swimming pool or recreational water facilities available at the hotel.",</a:t>
            </a:r>
          </a:p>
          <a:p>
            <a:r>
              <a:rPr lang="en-US" sz="3700">
                <a:solidFill>
                  <a:srgbClr val="252525"/>
                </a:solidFill>
              </a:rPr>
              <a:t>      "type": "object",</a:t>
            </a:r>
          </a:p>
          <a:p>
            <a:r>
              <a:rPr lang="en-US" sz="3700">
                <a:solidFill>
                  <a:srgbClr val="252525"/>
                </a:solidFill>
              </a:rPr>
              <a:t>      "properties": {</a:t>
            </a:r>
          </a:p>
          <a:p>
            <a:r>
              <a:rPr lang="en-US" sz="3700">
                <a:solidFill>
                  <a:srgbClr val="252525"/>
                </a:solidFill>
              </a:rPr>
              <a:t>        "pool": {</a:t>
            </a:r>
          </a:p>
          <a:p>
            <a:r>
              <a:rPr lang="en-US" sz="3700">
                <a:solidFill>
                  <a:srgbClr val="252525"/>
                </a:solidFill>
              </a:rPr>
              <a:t>          "description": "Pool. The presence of a pool, either indoors or outdoors, for guests to use for swimming and/or soaking. Use may or may not be restricted to adults and/or children.",</a:t>
            </a:r>
          </a:p>
          <a:p>
            <a:r>
              <a:rPr lang="en-US" sz="3700">
                <a:solidFill>
                  <a:srgbClr val="252525"/>
                </a:solidFill>
              </a:rPr>
              <a:t>          "type": "boolean"</a:t>
            </a:r>
          </a:p>
          <a:p>
            <a:r>
              <a:rPr lang="en-US" sz="3700">
                <a:solidFill>
                  <a:srgbClr val="252525"/>
                </a:solidFill>
              </a:rPr>
              <a:t>        },</a:t>
            </a:r>
          </a:p>
          <a:p>
            <a:r>
              <a:rPr lang="en-US" sz="3700">
                <a:solidFill>
                  <a:srgbClr val="252525"/>
                </a:solidFill>
              </a:rPr>
              <a:t>        "poolException": {</a:t>
            </a:r>
          </a:p>
          <a:p>
            <a:r>
              <a:rPr lang="en-US" sz="3700">
                <a:solidFill>
                  <a:srgbClr val="252525"/>
                </a:solidFill>
              </a:rPr>
              <a:t>          "description": "Pool exception.",</a:t>
            </a:r>
          </a:p>
          <a:p>
            <a:r>
              <a:rPr lang="en-US" sz="3700">
                <a:solidFill>
                  <a:srgbClr val="252525"/>
                </a:solidFill>
              </a:rPr>
              <a:t>          "type": "string",</a:t>
            </a:r>
          </a:p>
        </p:txBody>
      </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0" id="150"/>
          <p:cNvPicPr>
            <a:picLocks noChangeAspect="true"/>
          </p:cNvPicPr>
          <p:nvPr/>
        </p:nvPicPr>
        <p:blipFill>
          <a:blip r:embed="rId150"/>
          <a:stretch>
            <a:fillRect/>
          </a:stretch>
        </p:blipFill>
        <p:spPr>
          <a:xfrm>
            <a:off x="0" y="127000"/>
            <a:ext cx="23749000" cy="16548100"/>
          </a:xfrm>
          <a:prstGeom prst="rect">
            <a:avLst/>
          </a:prstGeom>
        </p:spPr>
      </p:pic>
      <p:sp>
        <p:nvSpPr>
          <p:cNvPr name="TextBox 150" id="15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"poolsCount": {</a:t>
            </a:r>
          </a:p>
          <a:p>
            <a:r>
              <a:rPr lang="en-US" sz="3700">
                <a:solidFill>
                  <a:srgbClr val="252525"/>
                </a:solidFill>
              </a:rPr>
              <a:t>          "description": "Pools count. The sum of all pools at the hotel.",</a:t>
            </a:r>
          </a:p>
        </p:txBody>
      </p:sp>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2" id="152"/>
          <p:cNvPicPr>
            <a:picLocks noChangeAspect="true"/>
          </p:cNvPicPr>
          <p:nvPr/>
        </p:nvPicPr>
        <p:blipFill>
          <a:blip r:embed="rId152"/>
          <a:stretch>
            <a:fillRect/>
          </a:stretch>
        </p:blipFill>
        <p:spPr>
          <a:xfrm>
            <a:off x="0" y="127000"/>
            <a:ext cx="23749000" cy="16548100"/>
          </a:xfrm>
          <a:prstGeom prst="rect">
            <a:avLst/>
          </a:prstGeom>
        </p:spPr>
      </p:pic>
      <p:sp>
        <p:nvSpPr>
          <p:cNvPr name="TextBox 152" id="15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"type": "integer",</a:t>
            </a:r>
          </a:p>
          <a:p>
            <a:r>
              <a:rPr lang="en-US" sz="3700">
                <a:solidFill>
                  <a:srgbClr val="252525"/>
                </a:solidFill>
              </a:rPr>
              <a:t>          "format": "int32"</a:t>
            </a:r>
          </a:p>
          <a:p>
            <a:r>
              <a:rPr lang="en-US" sz="3700">
                <a:solidFill>
                  <a:srgbClr val="252525"/>
                </a:solidFill>
              </a:rPr>
              <a:t>        },</a:t>
            </a:r>
          </a:p>
          <a:p>
            <a:r>
              <a:rPr lang="en-US" sz="3700">
                <a:solidFill>
                  <a:srgbClr val="252525"/>
                </a:solidFill>
              </a:rPr>
              <a:t>        "poolsCountException": {</a:t>
            </a:r>
          </a:p>
          <a:p>
            <a:r>
              <a:rPr lang="en-US" sz="3700">
                <a:solidFill>
                  <a:srgbClr val="252525"/>
                </a:solidFill>
              </a:rPr>
              <a:t>          "description": "Pools count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p:txBody>
      </p:sp>
    </p:spTree>
  </p:cSld>
  <p:clrMapOvr>
    <a:masterClrMapping/>
  </p:clrMapOvr>
</p:sld>
</file>

<file path=ppt/slides/slide7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4" id="154"/>
          <p:cNvPicPr>
            <a:picLocks noChangeAspect="true"/>
          </p:cNvPicPr>
          <p:nvPr/>
        </p:nvPicPr>
        <p:blipFill>
          <a:blip r:embed="rId154"/>
          <a:stretch>
            <a:fillRect/>
          </a:stretch>
        </p:blipFill>
        <p:spPr>
          <a:xfrm>
            <a:off x="0" y="127000"/>
            <a:ext cx="23749000" cy="16548100"/>
          </a:xfrm>
          <a:prstGeom prst="rect">
            <a:avLst/>
          </a:prstGeom>
        </p:spPr>
      </p:pic>
      <p:sp>
        <p:nvSpPr>
          <p:cNvPr name="TextBox 154" id="15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"indoorPool": {</a:t>
            </a:r>
          </a:p>
          <a:p>
            <a:r>
              <a:rPr lang="en-US" sz="3700">
                <a:solidFill>
                  <a:srgbClr val="252525"/>
                </a:solidFill>
              </a:rPr>
              <a:t>          "description": "Indoor pool. A pool located inside the hotel and available for guests to use for swimming and/or soaking. Use may or may not be restricted to adults and/or children.",</a:t>
            </a:r>
          </a:p>
          <a:p>
            <a:r>
              <a:rPr lang="en-US" sz="3700">
                <a:solidFill>
                  <a:srgbClr val="252525"/>
                </a:solidFill>
              </a:rPr>
              <a:t>          "type": "boolean"</a:t>
            </a:r>
          </a:p>
          <a:p>
            <a:r>
              <a:rPr lang="en-US" sz="3700">
                <a:solidFill>
                  <a:srgbClr val="252525"/>
                </a:solidFill>
              </a:rPr>
              <a:t>        },</a:t>
            </a:r>
          </a:p>
          <a:p>
            <a:r>
              <a:rPr lang="en-US" sz="3700">
                <a:solidFill>
                  <a:srgbClr val="252525"/>
                </a:solidFill>
              </a:rPr>
              <a:t>        "indoorPoolException": {</a:t>
            </a:r>
          </a:p>
          <a:p>
            <a:r>
              <a:rPr lang="en-US" sz="3700">
                <a:solidFill>
                  <a:srgbClr val="252525"/>
                </a:solidFill>
              </a:rPr>
              <a:t>          "description": "Indoor pool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a:t>
            </a:r>
          </a:p>
        </p:txBody>
      </p:sp>
    </p:spTree>
  </p:cSld>
  <p:clrMapOvr>
    <a:masterClrMapping/>
  </p:clrMapOvr>
</p:sld>
</file>

<file path=ppt/slides/slide7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6" id="156"/>
          <p:cNvPicPr>
            <a:picLocks noChangeAspect="true"/>
          </p:cNvPicPr>
          <p:nvPr/>
        </p:nvPicPr>
        <p:blipFill>
          <a:blip r:embed="rId156"/>
          <a:stretch>
            <a:fillRect/>
          </a:stretch>
        </p:blipFill>
        <p:spPr>
          <a:xfrm>
            <a:off x="0" y="127000"/>
            <a:ext cx="23749000" cy="16548100"/>
          </a:xfrm>
          <a:prstGeom prst="rect">
            <a:avLst/>
          </a:prstGeom>
        </p:spPr>
      </p:pic>
      <p:sp>
        <p:nvSpPr>
          <p:cNvPr name="TextBox 156" id="15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"indoorPoolsCount": {</a:t>
            </a:r>
          </a:p>
          <a:p>
            <a:r>
              <a:rPr lang="en-US" sz="3700">
                <a:solidFill>
                  <a:srgbClr val="252525"/>
                </a:solidFill>
              </a:rPr>
              <a:t>          "description": "Indoor pools count. The sum of all indoor pools at the hotel.",</a:t>
            </a:r>
          </a:p>
          <a:p>
            <a:r>
              <a:rPr lang="en-US" sz="3700">
                <a:solidFill>
                  <a:srgbClr val="252525"/>
                </a:solidFill>
              </a:rPr>
              <a:t>          "type": "integer",</a:t>
            </a:r>
          </a:p>
          <a:p>
            <a:r>
              <a:rPr lang="en-US" sz="3700">
                <a:solidFill>
                  <a:srgbClr val="252525"/>
                </a:solidFill>
              </a:rPr>
              <a:t>          "format": "int32"</a:t>
            </a:r>
          </a:p>
          <a:p>
            <a:r>
              <a:rPr lang="en-US" sz="3700">
                <a:solidFill>
                  <a:srgbClr val="252525"/>
                </a:solidFill>
              </a:rPr>
              <a:t>        },</a:t>
            </a:r>
          </a:p>
          <a:p>
            <a:r>
              <a:rPr lang="en-US" sz="3700">
                <a:solidFill>
                  <a:srgbClr val="252525"/>
                </a:solidFill>
              </a:rPr>
              <a:t>        "indoorPoolsCountException": {</a:t>
            </a:r>
          </a:p>
          <a:p>
            <a:r>
              <a:rPr lang="en-US" sz="3700">
                <a:solidFill>
                  <a:srgbClr val="252525"/>
                </a:solidFill>
              </a:rPr>
              <a:t>          "description": "Indoor pools count exception.",</a:t>
            </a:r>
          </a:p>
          <a:p>
            <a:r>
              <a:rPr lang="en-US" sz="3700">
                <a:solidFill>
                  <a:srgbClr val="252525"/>
                </a:solidFill>
              </a:rPr>
              <a:t>          "type": "string",</a:t>
            </a:r>
          </a:p>
        </p:txBody>
      </p:sp>
    </p:spTree>
  </p:cSld>
  <p:clrMapOvr>
    <a:masterClrMapping/>
  </p:clrMapOvr>
</p:sld>
</file>

<file path=ppt/slides/slide7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58" id="158"/>
          <p:cNvPicPr>
            <a:picLocks noChangeAspect="true"/>
          </p:cNvPicPr>
          <p:nvPr/>
        </p:nvPicPr>
        <p:blipFill>
          <a:blip r:embed="rId158"/>
          <a:stretch>
            <a:fillRect/>
          </a:stretch>
        </p:blipFill>
        <p:spPr>
          <a:xfrm>
            <a:off x="0" y="127000"/>
            <a:ext cx="23749000" cy="16548100"/>
          </a:xfrm>
          <a:prstGeom prst="rect">
            <a:avLst/>
          </a:prstGeom>
        </p:spPr>
      </p:pic>
      <p:sp>
        <p:nvSpPr>
          <p:cNvPr name="TextBox 158" id="15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"outdoorPool": {</a:t>
            </a:r>
          </a:p>
          <a:p>
            <a:r>
              <a:rPr lang="en-US" sz="3700">
                <a:solidFill>
                  <a:srgbClr val="252525"/>
                </a:solidFill>
              </a:rPr>
              <a:t>          "description": "Outdoor pool. A pool located outside on the grounds of the hotel </a:t>
            </a:r>
          </a:p>
        </p:txBody>
      </p:sp>
    </p:spTree>
  </p:cSld>
  <p:clrMapOvr>
    <a:masterClrMapping/>
  </p:clrMapOvr>
</p:sld>
</file>

<file path=ppt/slides/slide8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0" id="160"/>
          <p:cNvPicPr>
            <a:picLocks noChangeAspect="true"/>
          </p:cNvPicPr>
          <p:nvPr/>
        </p:nvPicPr>
        <p:blipFill>
          <a:blip r:embed="rId160"/>
          <a:stretch>
            <a:fillRect/>
          </a:stretch>
        </p:blipFill>
        <p:spPr>
          <a:xfrm>
            <a:off x="0" y="127000"/>
            <a:ext cx="23749000" cy="16548100"/>
          </a:xfrm>
          <a:prstGeom prst="rect">
            <a:avLst/>
          </a:prstGeom>
        </p:spPr>
      </p:pic>
      <p:sp>
        <p:nvSpPr>
          <p:cNvPr name="TextBox 160" id="16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and available for guests to use for swimming, soaking or recreation. Use may or may not be restricted to adults and/or children.",</a:t>
            </a:r>
          </a:p>
          <a:p>
            <a:r>
              <a:rPr lang="en-US" sz="3700">
                <a:solidFill>
                  <a:srgbClr val="252525"/>
                </a:solidFill>
              </a:rPr>
              <a:t>          "type": "boolean"</a:t>
            </a:r>
          </a:p>
          <a:p>
            <a:r>
              <a:rPr lang="en-US" sz="3700">
                <a:solidFill>
                  <a:srgbClr val="252525"/>
                </a:solidFill>
              </a:rPr>
              <a:t>        },</a:t>
            </a:r>
          </a:p>
          <a:p>
            <a:r>
              <a:rPr lang="en-US" sz="3700">
                <a:solidFill>
                  <a:srgbClr val="252525"/>
                </a:solidFill>
              </a:rPr>
              <a:t>        "outdoorPoolException": {</a:t>
            </a:r>
          </a:p>
          <a:p>
            <a:r>
              <a:rPr lang="en-US" sz="3700">
                <a:solidFill>
                  <a:srgbClr val="252525"/>
                </a:solidFill>
              </a:rPr>
              <a:t>          "description": "Outdoor pool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p:txBody>
      </p:sp>
    </p:spTree>
  </p:cSld>
  <p:clrMapOvr>
    <a:masterClrMapping/>
  </p:clrMapOvr>
</p:sld>
</file>

<file path=ppt/slides/slide8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2" id="162"/>
          <p:cNvPicPr>
            <a:picLocks noChangeAspect="true"/>
          </p:cNvPicPr>
          <p:nvPr/>
        </p:nvPicPr>
        <p:blipFill>
          <a:blip r:embed="rId162"/>
          <a:stretch>
            <a:fillRect/>
          </a:stretch>
        </p:blipFill>
        <p:spPr>
          <a:xfrm>
            <a:off x="0" y="127000"/>
            <a:ext cx="23749000" cy="16548100"/>
          </a:xfrm>
          <a:prstGeom prst="rect">
            <a:avLst/>
          </a:prstGeom>
        </p:spPr>
      </p:pic>
      <p:sp>
        <p:nvSpPr>
          <p:cNvPr name="TextBox 162" id="16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"outdoorPoolsCount": {</a:t>
            </a:r>
          </a:p>
          <a:p>
            <a:r>
              <a:rPr lang="en-US" sz="3700">
                <a:solidFill>
                  <a:srgbClr val="252525"/>
                </a:solidFill>
              </a:rPr>
              <a:t>          "description": "Outdoor pools count. The sum of all outdoor pools at the hotel.",</a:t>
            </a:r>
          </a:p>
          <a:p>
            <a:r>
              <a:rPr lang="en-US" sz="3700">
                <a:solidFill>
                  <a:srgbClr val="252525"/>
                </a:solidFill>
              </a:rPr>
              <a:t>          "type": "integer",</a:t>
            </a:r>
          </a:p>
          <a:p>
            <a:r>
              <a:rPr lang="en-US" sz="3700">
                <a:solidFill>
                  <a:srgbClr val="252525"/>
                </a:solidFill>
              </a:rPr>
              <a:t>          "format": "int32"</a:t>
            </a:r>
          </a:p>
          <a:p>
            <a:r>
              <a:rPr lang="en-US" sz="3700">
                <a:solidFill>
                  <a:srgbClr val="252525"/>
                </a:solidFill>
              </a:rPr>
              <a:t>        },</a:t>
            </a:r>
          </a:p>
          <a:p>
            <a:r>
              <a:rPr lang="en-US" sz="3700">
                <a:solidFill>
                  <a:srgbClr val="252525"/>
                </a:solidFill>
              </a:rPr>
              <a:t>        "outdoorPoolsCountException": {</a:t>
            </a:r>
          </a:p>
          <a:p>
            <a:r>
              <a:rPr lang="en-US" sz="3700">
                <a:solidFill>
                  <a:srgbClr val="252525"/>
                </a:solidFill>
              </a:rPr>
              <a:t>          "description": "Outdoor pools count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p:txBody>
      </p:sp>
    </p:spTree>
  </p:cSld>
  <p:clrMapOvr>
    <a:masterClrMapping/>
  </p:clrMapOvr>
</p:sld>
</file>

<file path=ppt/slides/slide8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4" id="164"/>
          <p:cNvPicPr>
            <a:picLocks noChangeAspect="true"/>
          </p:cNvPicPr>
          <p:nvPr/>
        </p:nvPicPr>
        <p:blipFill>
          <a:blip r:embed="rId164"/>
          <a:stretch>
            <a:fillRect/>
          </a:stretch>
        </p:blipFill>
        <p:spPr>
          <a:xfrm>
            <a:off x="0" y="127000"/>
            <a:ext cx="23749000" cy="16548100"/>
          </a:xfrm>
          <a:prstGeom prst="rect">
            <a:avLst/>
          </a:prstGeom>
        </p:spPr>
      </p:pic>
      <p:sp>
        <p:nvSpPr>
          <p:cNvPr name="TextBox 164" id="16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"hotTub": {</a:t>
            </a:r>
          </a:p>
          <a:p>
            <a:r>
              <a:rPr lang="en-US" sz="3700">
                <a:solidFill>
                  <a:srgbClr val="252525"/>
                </a:solidFill>
              </a:rPr>
              <a:t>          "description": "Hot tub. A man-made pool containing bubbling water maintained at a higher temperature and circulated by aerating jets for the purpose of soaking, relaxation and hydrotherapy. Can be indoors or outdoors. Not used for active </a:t>
            </a:r>
          </a:p>
        </p:txBody>
      </p:sp>
    </p:spTree>
  </p:cSld>
  <p:clrMapOvr>
    <a:masterClrMapping/>
  </p:clrMapOvr>
</p:sld>
</file>

<file path=ppt/slides/slide8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6" id="166"/>
          <p:cNvPicPr>
            <a:picLocks noChangeAspect="true"/>
          </p:cNvPicPr>
          <p:nvPr/>
        </p:nvPicPr>
        <p:blipFill>
          <a:blip r:embed="rId166"/>
          <a:stretch>
            <a:fillRect/>
          </a:stretch>
        </p:blipFill>
        <p:spPr>
          <a:xfrm>
            <a:off x="0" y="127000"/>
            <a:ext cx="23749000" cy="16548100"/>
          </a:xfrm>
          <a:prstGeom prst="rect">
            <a:avLst/>
          </a:prstGeom>
        </p:spPr>
      </p:pic>
      <p:sp>
        <p:nvSpPr>
          <p:cNvPr name="TextBox 166" id="16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swimming. Also known as Jacuzzi. Hot tub must be in a common area where all guests can access it. Does not apply to room-specific hot tubs that are only accessible to guest occupying that room.",</a:t>
            </a:r>
          </a:p>
          <a:p>
            <a:r>
              <a:rPr lang="en-US" sz="3700">
                <a:solidFill>
                  <a:srgbClr val="252525"/>
                </a:solidFill>
              </a:rPr>
              <a:t>          "type": "boolean"</a:t>
            </a:r>
          </a:p>
          <a:p>
            <a:r>
              <a:rPr lang="en-US" sz="3700">
                <a:solidFill>
                  <a:srgbClr val="252525"/>
                </a:solidFill>
              </a:rPr>
              <a:t>        },</a:t>
            </a:r>
          </a:p>
          <a:p>
            <a:r>
              <a:rPr lang="en-US" sz="3700">
                <a:solidFill>
                  <a:srgbClr val="252525"/>
                </a:solidFill>
              </a:rPr>
              <a:t>        "hotTubException": {</a:t>
            </a:r>
          </a:p>
          <a:p>
            <a:r>
              <a:rPr lang="en-US" sz="3700">
                <a:solidFill>
                  <a:srgbClr val="252525"/>
                </a:solidFill>
              </a:rPr>
              <a:t>          "description": "Hot tub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p:txBody>
      </p:sp>
    </p:spTree>
  </p:cSld>
  <p:clrMapOvr>
    <a:masterClrMapping/>
  </p:clrMapOvr>
</p:sld>
</file>

<file path=ppt/slides/slide8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68" id="168"/>
          <p:cNvPicPr>
            <a:picLocks noChangeAspect="true"/>
          </p:cNvPicPr>
          <p:nvPr/>
        </p:nvPicPr>
        <p:blipFill>
          <a:blip r:embed="rId168"/>
          <a:stretch>
            <a:fillRect/>
          </a:stretch>
        </p:blipFill>
        <p:spPr>
          <a:xfrm>
            <a:off x="0" y="127000"/>
            <a:ext cx="23749000" cy="16548100"/>
          </a:xfrm>
          <a:prstGeom prst="rect">
            <a:avLst/>
          </a:prstGeom>
        </p:spPr>
      </p:pic>
      <p:sp>
        <p:nvSpPr>
          <p:cNvPr name="TextBox 168" id="16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"waterslide": {</a:t>
            </a:r>
          </a:p>
          <a:p>
            <a:r>
              <a:rPr lang="en-US" sz="3700">
                <a:solidFill>
                  <a:srgbClr val="252525"/>
                </a:solidFill>
              </a:rPr>
              <a:t>          "description": "Waterslide. A continuously wetted chute positioned by an indoor or outdoor pool which people slide down into the water.",</a:t>
            </a:r>
          </a:p>
          <a:p>
            <a:r>
              <a:rPr lang="en-US" sz="3700">
                <a:solidFill>
                  <a:srgbClr val="252525"/>
                </a:solidFill>
              </a:rPr>
              <a:t>          "type": "boolean"</a:t>
            </a:r>
          </a:p>
          <a:p>
            <a:r>
              <a:rPr lang="en-US" sz="3700">
                <a:solidFill>
                  <a:srgbClr val="252525"/>
                </a:solidFill>
              </a:rPr>
              <a:t>        },</a:t>
            </a:r>
          </a:p>
          <a:p>
            <a:r>
              <a:rPr lang="en-US" sz="3700">
                <a:solidFill>
                  <a:srgbClr val="252525"/>
                </a:solidFill>
              </a:rPr>
              <a:t>        "waterslideException": {</a:t>
            </a:r>
          </a:p>
          <a:p>
            <a:r>
              <a:rPr lang="en-US" sz="3700">
                <a:solidFill>
                  <a:srgbClr val="252525"/>
                </a:solidFill>
              </a:rPr>
              <a:t>          "description": "Waterslide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p:txBody>
      </p:sp>
    </p:spTree>
  </p:cSld>
  <p:clrMapOvr>
    <a:masterClrMapping/>
  </p:clrMapOvr>
</p:sld>
</file>

<file path=ppt/slides/slide8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0" id="170"/>
          <p:cNvPicPr>
            <a:picLocks noChangeAspect="true"/>
          </p:cNvPicPr>
          <p:nvPr/>
        </p:nvPicPr>
        <p:blipFill>
          <a:blip r:embed="rId170"/>
          <a:stretch>
            <a:fillRect/>
          </a:stretch>
        </p:blipFill>
        <p:spPr>
          <a:xfrm>
            <a:off x="0" y="127000"/>
            <a:ext cx="23749000" cy="16548100"/>
          </a:xfrm>
          <a:prstGeom prst="rect">
            <a:avLst/>
          </a:prstGeom>
        </p:spPr>
      </p:pic>
      <p:sp>
        <p:nvSpPr>
          <p:cNvPr name="TextBox 170" id="17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"lazyRiver": {</a:t>
            </a:r>
          </a:p>
          <a:p>
            <a:r>
              <a:rPr lang="en-US" sz="3700">
                <a:solidFill>
                  <a:srgbClr val="252525"/>
                </a:solidFill>
              </a:rPr>
              <a:t>          "description": "Lazy river. A man-made pool or several interconnected recreational pools built to mimic the shape and current of a winding river where guests float in the water on inflated rubber tubes. Can be indoors or outdoors.",</a:t>
            </a:r>
          </a:p>
        </p:txBody>
      </p:sp>
    </p:spTree>
  </p:cSld>
  <p:clrMapOvr>
    <a:masterClrMapping/>
  </p:clrMapOvr>
</p:sld>
</file>

<file path=ppt/slides/slide8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2" id="172"/>
          <p:cNvPicPr>
            <a:picLocks noChangeAspect="true"/>
          </p:cNvPicPr>
          <p:nvPr/>
        </p:nvPicPr>
        <p:blipFill>
          <a:blip r:embed="rId172"/>
          <a:stretch>
            <a:fillRect/>
          </a:stretch>
        </p:blipFill>
        <p:spPr>
          <a:xfrm>
            <a:off x="0" y="127000"/>
            <a:ext cx="23749000" cy="16548100"/>
          </a:xfrm>
          <a:prstGeom prst="rect">
            <a:avLst/>
          </a:prstGeom>
        </p:spPr>
      </p:pic>
      <p:sp>
        <p:nvSpPr>
          <p:cNvPr name="TextBox 172" id="17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"type": "boolean"</a:t>
            </a:r>
          </a:p>
          <a:p>
            <a:r>
              <a:rPr lang="en-US" sz="3700">
                <a:solidFill>
                  <a:srgbClr val="252525"/>
                </a:solidFill>
              </a:rPr>
              <a:t>        },</a:t>
            </a:r>
          </a:p>
          <a:p>
            <a:r>
              <a:rPr lang="en-US" sz="3700">
                <a:solidFill>
                  <a:srgbClr val="252525"/>
                </a:solidFill>
              </a:rPr>
              <a:t>        "lazyRiverException": {</a:t>
            </a:r>
          </a:p>
          <a:p>
            <a:r>
              <a:rPr lang="en-US" sz="3700">
                <a:solidFill>
                  <a:srgbClr val="252525"/>
                </a:solidFill>
              </a:rPr>
              <a:t>          "description": "Lazy river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p:txBody>
      </p:sp>
    </p:spTree>
  </p:cSld>
  <p:clrMapOvr>
    <a:masterClrMapping/>
  </p:clrMapOvr>
</p:sld>
</file>

<file path=ppt/slides/slide8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4" id="174"/>
          <p:cNvPicPr>
            <a:picLocks noChangeAspect="true"/>
          </p:cNvPicPr>
          <p:nvPr/>
        </p:nvPicPr>
        <p:blipFill>
          <a:blip r:embed="rId174"/>
          <a:stretch>
            <a:fillRect/>
          </a:stretch>
        </p:blipFill>
        <p:spPr>
          <a:xfrm>
            <a:off x="0" y="127000"/>
            <a:ext cx="23749000" cy="16548100"/>
          </a:xfrm>
          <a:prstGeom prst="rect">
            <a:avLst/>
          </a:prstGeom>
        </p:spPr>
      </p:pic>
      <p:sp>
        <p:nvSpPr>
          <p:cNvPr name="TextBox 174" id="17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a:t>
            </a:r>
          </a:p>
          <a:p>
            <a:r>
              <a:rPr lang="en-US" sz="3700">
                <a:solidFill>
                  <a:srgbClr val="252525"/>
                </a:solidFill>
              </a:rPr>
              <a:t>        "adultPool": {</a:t>
            </a:r>
          </a:p>
          <a:p>
            <a:r>
              <a:rPr lang="en-US" sz="3700">
                <a:solidFill>
                  <a:srgbClr val="252525"/>
                </a:solidFill>
              </a:rPr>
              <a:t>          "description": "Adult pool. A pool restricted for use by adults only. Can be indoors or outdoors.",</a:t>
            </a:r>
          </a:p>
          <a:p>
            <a:r>
              <a:rPr lang="en-US" sz="3700">
                <a:solidFill>
                  <a:srgbClr val="252525"/>
                </a:solidFill>
              </a:rPr>
              <a:t>          "type": "boolean"</a:t>
            </a:r>
          </a:p>
          <a:p>
            <a:r>
              <a:rPr lang="en-US" sz="3700">
                <a:solidFill>
                  <a:srgbClr val="252525"/>
                </a:solidFill>
              </a:rPr>
              <a:t>        },</a:t>
            </a:r>
          </a:p>
          <a:p>
            <a:r>
              <a:rPr lang="en-US" sz="3700">
                <a:solidFill>
                  <a:srgbClr val="252525"/>
                </a:solidFill>
              </a:rPr>
              <a:t>        "adultPoolException": {</a:t>
            </a:r>
          </a:p>
          <a:p>
            <a:r>
              <a:rPr lang="en-US" sz="3700">
                <a:solidFill>
                  <a:srgbClr val="252525"/>
                </a:solidFill>
              </a:rPr>
              <a:t>          "description": "Adult pool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p:txBody>
      </p:sp>
    </p:spTree>
  </p:cSld>
  <p:clrMapOvr>
    <a:masterClrMapping/>
  </p:clrMapOvr>
</p:sld>
</file>

<file path=ppt/slides/slide8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6" id="176"/>
          <p:cNvPicPr>
            <a:picLocks noChangeAspect="true"/>
          </p:cNvPicPr>
          <p:nvPr/>
        </p:nvPicPr>
        <p:blipFill>
          <a:blip r:embed="rId176"/>
          <a:stretch>
            <a:fillRect/>
          </a:stretch>
        </p:blipFill>
        <p:spPr>
          <a:xfrm>
            <a:off x="0" y="127000"/>
            <a:ext cx="23749000" cy="16548100"/>
          </a:xfrm>
          <a:prstGeom prst="rect">
            <a:avLst/>
          </a:prstGeom>
        </p:spPr>
      </p:pic>
      <p:sp>
        <p:nvSpPr>
          <p:cNvPr name="TextBox 176" id="17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"wadingPool": {</a:t>
            </a:r>
          </a:p>
          <a:p>
            <a:r>
              <a:rPr lang="en-US" sz="3700">
                <a:solidFill>
                  <a:srgbClr val="252525"/>
                </a:solidFill>
              </a:rPr>
              <a:t>          "description": "Wading pool. A shallow pool designed for small children to play in. Can be indoors or outdoors. Also known as kiddie pool.",</a:t>
            </a:r>
          </a:p>
          <a:p>
            <a:r>
              <a:rPr lang="en-US" sz="3700">
                <a:solidFill>
                  <a:srgbClr val="252525"/>
                </a:solidFill>
              </a:rPr>
              <a:t>          "type": "boolean"</a:t>
            </a:r>
          </a:p>
          <a:p>
            <a:r>
              <a:rPr lang="en-US" sz="3700">
                <a:solidFill>
                  <a:srgbClr val="252525"/>
                </a:solidFill>
              </a:rPr>
              <a:t>        },</a:t>
            </a:r>
          </a:p>
          <a:p>
            <a:r>
              <a:rPr lang="en-US" sz="3700">
                <a:solidFill>
                  <a:srgbClr val="252525"/>
                </a:solidFill>
              </a:rPr>
              <a:t>        "wadingPoolException": {</a:t>
            </a:r>
          </a:p>
          <a:p>
            <a:r>
              <a:rPr lang="en-US" sz="3700">
                <a:solidFill>
                  <a:srgbClr val="252525"/>
                </a:solidFill>
              </a:rPr>
              <a:t>          "description": "Wading pool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a:t>
            </a:r>
          </a:p>
        </p:txBody>
      </p:sp>
    </p:spTree>
  </p:cSld>
  <p:clrMapOvr>
    <a:masterClrMapping/>
  </p:clrMapOvr>
</p:sld>
</file>

<file path=ppt/slides/slide8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78" id="178"/>
          <p:cNvPicPr>
            <a:picLocks noChangeAspect="true"/>
          </p:cNvPicPr>
          <p:nvPr/>
        </p:nvPicPr>
        <p:blipFill>
          <a:blip r:embed="rId178"/>
          <a:stretch>
            <a:fillRect/>
          </a:stretch>
        </p:blipFill>
        <p:spPr>
          <a:xfrm>
            <a:off x="0" y="127000"/>
            <a:ext cx="23749000" cy="16548100"/>
          </a:xfrm>
          <a:prstGeom prst="rect">
            <a:avLst/>
          </a:prstGeom>
        </p:spPr>
      </p:pic>
      <p:sp>
        <p:nvSpPr>
          <p:cNvPr name="TextBox 178" id="17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"wavePool": {</a:t>
            </a:r>
          </a:p>
          <a:p>
            <a:r>
              <a:rPr lang="en-US" sz="3700">
                <a:solidFill>
                  <a:srgbClr val="252525"/>
                </a:solidFill>
              </a:rPr>
              <a:t>          "description": "Wave pool. A large indoor or outdoor pool with a machine that produces water currents to mimic the ocean's crests.",</a:t>
            </a:r>
          </a:p>
        </p:txBody>
      </p:sp>
    </p:spTree>
  </p:cSld>
  <p:clrMapOvr>
    <a:masterClrMapping/>
  </p:clrMapOvr>
</p:sld>
</file>

<file path=ppt/slides/slide9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0" id="180"/>
          <p:cNvPicPr>
            <a:picLocks noChangeAspect="true"/>
          </p:cNvPicPr>
          <p:nvPr/>
        </p:nvPicPr>
        <p:blipFill>
          <a:blip r:embed="rId180"/>
          <a:stretch>
            <a:fillRect/>
          </a:stretch>
        </p:blipFill>
        <p:spPr>
          <a:xfrm>
            <a:off x="0" y="127000"/>
            <a:ext cx="23749000" cy="16548100"/>
          </a:xfrm>
          <a:prstGeom prst="rect">
            <a:avLst/>
          </a:prstGeom>
        </p:spPr>
      </p:pic>
      <p:sp>
        <p:nvSpPr>
          <p:cNvPr name="TextBox 180" id="18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"type": "boolean"</a:t>
            </a:r>
          </a:p>
          <a:p>
            <a:r>
              <a:rPr lang="en-US" sz="3700">
                <a:solidFill>
                  <a:srgbClr val="252525"/>
                </a:solidFill>
              </a:rPr>
              <a:t>        },</a:t>
            </a:r>
          </a:p>
          <a:p>
            <a:r>
              <a:rPr lang="en-US" sz="3700">
                <a:solidFill>
                  <a:srgbClr val="252525"/>
                </a:solidFill>
              </a:rPr>
              <a:t>        "wavePoolException": {</a:t>
            </a:r>
          </a:p>
          <a:p>
            <a:r>
              <a:rPr lang="en-US" sz="3700">
                <a:solidFill>
                  <a:srgbClr val="252525"/>
                </a:solidFill>
              </a:rPr>
              <a:t>          "description": "Wave pool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p:txBody>
      </p:sp>
    </p:spTree>
  </p:cSld>
  <p:clrMapOvr>
    <a:masterClrMapping/>
  </p:clrMapOvr>
</p:sld>
</file>

<file path=ppt/slides/slide9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2" id="182"/>
          <p:cNvPicPr>
            <a:picLocks noChangeAspect="true"/>
          </p:cNvPicPr>
          <p:nvPr/>
        </p:nvPicPr>
        <p:blipFill>
          <a:blip r:embed="rId182"/>
          <a:stretch>
            <a:fillRect/>
          </a:stretch>
        </p:blipFill>
        <p:spPr>
          <a:xfrm>
            <a:off x="0" y="127000"/>
            <a:ext cx="23749000" cy="16548100"/>
          </a:xfrm>
          <a:prstGeom prst="rect">
            <a:avLst/>
          </a:prstGeom>
        </p:spPr>
      </p:pic>
      <p:sp>
        <p:nvSpPr>
          <p:cNvPr name="TextBox 182" id="18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a:t>
            </a:r>
          </a:p>
          <a:p>
            <a:r>
              <a:rPr lang="en-US" sz="3700">
                <a:solidFill>
                  <a:srgbClr val="252525"/>
                </a:solidFill>
              </a:rPr>
              <a:t>        "waterPark": {</a:t>
            </a:r>
          </a:p>
          <a:p>
            <a:r>
              <a:rPr lang="en-US" sz="3700">
                <a:solidFill>
                  <a:srgbClr val="252525"/>
                </a:solidFill>
              </a:rPr>
              <a:t>          "description": "Water park. An aquatic recreation area with a large pool or series of pools that has features such as a water slide or tube, wavepool, fountains, rope swings, and/or obstacle course. Can be indoors or outdoors. Also known as adventure pool.",</a:t>
            </a:r>
          </a:p>
          <a:p>
            <a:r>
              <a:rPr lang="en-US" sz="3700">
                <a:solidFill>
                  <a:srgbClr val="252525"/>
                </a:solidFill>
              </a:rPr>
              <a:t>          "type": "boolean"</a:t>
            </a:r>
          </a:p>
          <a:p>
            <a:r>
              <a:rPr lang="en-US" sz="3700">
                <a:solidFill>
                  <a:srgbClr val="252525"/>
                </a:solidFill>
              </a:rPr>
              <a:t>        },</a:t>
            </a:r>
          </a:p>
          <a:p>
            <a:r>
              <a:rPr lang="en-US" sz="3700">
                <a:solidFill>
                  <a:srgbClr val="252525"/>
                </a:solidFill>
              </a:rPr>
              <a:t>        "waterParkException": {</a:t>
            </a:r>
          </a:p>
          <a:p>
            <a:r>
              <a:rPr lang="en-US" sz="3700">
                <a:solidFill>
                  <a:srgbClr val="252525"/>
                </a:solidFill>
              </a:rPr>
              <a:t>          "description": "Water park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p:txBody>
      </p:sp>
    </p:spTree>
  </p:cSld>
  <p:clrMapOvr>
    <a:masterClrMapping/>
  </p:clrMapOvr>
</p:sld>
</file>

<file path=ppt/slides/slide9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4" id="184"/>
          <p:cNvPicPr>
            <a:picLocks noChangeAspect="true"/>
          </p:cNvPicPr>
          <p:nvPr/>
        </p:nvPicPr>
        <p:blipFill>
          <a:blip r:embed="rId184"/>
          <a:stretch>
            <a:fillRect/>
          </a:stretch>
        </p:blipFill>
        <p:spPr>
          <a:xfrm>
            <a:off x="0" y="127000"/>
            <a:ext cx="23749000" cy="16548100"/>
          </a:xfrm>
          <a:prstGeom prst="rect">
            <a:avLst/>
          </a:prstGeom>
        </p:spPr>
      </p:pic>
      <p:sp>
        <p:nvSpPr>
          <p:cNvPr name="TextBox 184" id="18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"lifeguard": {</a:t>
            </a:r>
          </a:p>
          <a:p>
            <a:r>
              <a:rPr lang="en-US" sz="3700">
                <a:solidFill>
                  <a:srgbClr val="252525"/>
                </a:solidFill>
              </a:rPr>
              <a:t>          "description": "Lifeguard. A trained member of the hotel staff stationed by the hotel's indoor or outdoor swimming area and responsible for the safety of swimming guests.",</a:t>
            </a:r>
          </a:p>
          <a:p>
            <a:r>
              <a:rPr lang="en-US" sz="3700">
                <a:solidFill>
                  <a:srgbClr val="252525"/>
                </a:solidFill>
              </a:rPr>
              <a:t>          "type": "boolean"</a:t>
            </a:r>
          </a:p>
          <a:p>
            <a:r>
              <a:rPr lang="en-US" sz="3700">
                <a:solidFill>
                  <a:srgbClr val="252525"/>
                </a:solidFill>
              </a:rPr>
              <a:t>        },</a:t>
            </a:r>
          </a:p>
          <a:p>
            <a:r>
              <a:rPr lang="en-US" sz="3700">
                <a:solidFill>
                  <a:srgbClr val="252525"/>
                </a:solidFill>
              </a:rPr>
              <a:t>        "lifeguardException": {</a:t>
            </a:r>
          </a:p>
        </p:txBody>
      </p:sp>
    </p:spTree>
  </p:cSld>
  <p:clrMapOvr>
    <a:masterClrMapping/>
  </p:clrMapOvr>
</p:sld>
</file>

<file path=ppt/slides/slide9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6" id="186"/>
          <p:cNvPicPr>
            <a:picLocks noChangeAspect="true"/>
          </p:cNvPicPr>
          <p:nvPr/>
        </p:nvPicPr>
        <p:blipFill>
          <a:blip r:embed="rId186"/>
          <a:stretch>
            <a:fillRect/>
          </a:stretch>
        </p:blipFill>
        <p:spPr>
          <a:xfrm>
            <a:off x="0" y="127000"/>
            <a:ext cx="23749000" cy="16548100"/>
          </a:xfrm>
          <a:prstGeom prst="rect">
            <a:avLst/>
          </a:prstGeom>
        </p:spPr>
      </p:pic>
      <p:sp>
        <p:nvSpPr>
          <p:cNvPr name="TextBox 186" id="18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"description": "Lifeguard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a:t>
            </a:r>
          </a:p>
        </p:txBody>
      </p:sp>
    </p:spTree>
  </p:cSld>
  <p:clrMapOvr>
    <a:masterClrMapping/>
  </p:clrMapOvr>
</p:sld>
</file>

<file path=ppt/slides/slide9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88" id="188"/>
          <p:cNvPicPr>
            <a:picLocks noChangeAspect="true"/>
          </p:cNvPicPr>
          <p:nvPr/>
        </p:nvPicPr>
        <p:blipFill>
          <a:blip r:embed="rId188"/>
          <a:stretch>
            <a:fillRect/>
          </a:stretch>
        </p:blipFill>
        <p:spPr>
          <a:xfrm>
            <a:off x="0" y="127000"/>
            <a:ext cx="23749000" cy="16548100"/>
          </a:xfrm>
          <a:prstGeom prst="rect">
            <a:avLst/>
          </a:prstGeom>
        </p:spPr>
      </p:pic>
      <p:sp>
        <p:nvSpPr>
          <p:cNvPr name="TextBox 188" id="18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"Wellness": {</a:t>
            </a:r>
          </a:p>
          <a:p>
            <a:r>
              <a:rPr lang="en-US" sz="3700">
                <a:solidFill>
                  <a:srgbClr val="252525"/>
                </a:solidFill>
              </a:rPr>
              <a:t>      "id": "Wellness",</a:t>
            </a:r>
          </a:p>
          <a:p>
            <a:r>
              <a:rPr lang="en-US" sz="3700">
                <a:solidFill>
                  <a:srgbClr val="252525"/>
                </a:solidFill>
              </a:rPr>
              <a:t>      "description": "Guest facilities at the property to promote or maintain health, beauty, and fitness.",</a:t>
            </a:r>
          </a:p>
          <a:p>
            <a:r>
              <a:rPr lang="en-US" sz="3700">
                <a:solidFill>
                  <a:srgbClr val="252525"/>
                </a:solidFill>
              </a:rPr>
              <a:t>      "type": "object",</a:t>
            </a:r>
          </a:p>
          <a:p>
            <a:r>
              <a:rPr lang="en-US" sz="3700">
                <a:solidFill>
                  <a:srgbClr val="252525"/>
                </a:solidFill>
              </a:rPr>
              <a:t>      "properties": {</a:t>
            </a:r>
          </a:p>
          <a:p>
            <a:r>
              <a:rPr lang="en-US" sz="3700">
                <a:solidFill>
                  <a:srgbClr val="252525"/>
                </a:solidFill>
              </a:rPr>
              <a:t>        "fitnessCenter": {</a:t>
            </a:r>
          </a:p>
          <a:p>
            <a:r>
              <a:rPr lang="en-US" sz="3700">
                <a:solidFill>
                  <a:srgbClr val="252525"/>
                </a:solidFill>
              </a:rPr>
              <a:t>          "description": "Fitness center. A room or building at the hotel containing equipment to promote physical activity, such as treadmills, elliptical machines, stationary bikes, weight machines, free weights, and/or stretching mats. Use of the fitness center can be free or for a fee. May or may not be staffed. May or may not offer instructor-led classes in various styles of physical conditioning. May or may not be open 24/7. May or may not include locker rooms and showers. Also known as health </a:t>
            </a:r>
          </a:p>
        </p:txBody>
      </p:sp>
    </p:spTree>
  </p:cSld>
  <p:clrMapOvr>
    <a:masterClrMapping/>
  </p:clrMapOvr>
</p:sld>
</file>

<file path=ppt/slides/slide9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0" id="190"/>
          <p:cNvPicPr>
            <a:picLocks noChangeAspect="true"/>
          </p:cNvPicPr>
          <p:nvPr/>
        </p:nvPicPr>
        <p:blipFill>
          <a:blip r:embed="rId190"/>
          <a:stretch>
            <a:fillRect/>
          </a:stretch>
        </p:blipFill>
        <p:spPr>
          <a:xfrm>
            <a:off x="0" y="127000"/>
            <a:ext cx="23749000" cy="16548100"/>
          </a:xfrm>
          <a:prstGeom prst="rect">
            <a:avLst/>
          </a:prstGeom>
        </p:spPr>
      </p:pic>
      <p:sp>
        <p:nvSpPr>
          <p:cNvPr name="TextBox 190" id="19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club, gym, fitness room, health center.",</a:t>
            </a:r>
          </a:p>
          <a:p>
            <a:r>
              <a:rPr lang="en-US" sz="3700">
                <a:solidFill>
                  <a:srgbClr val="252525"/>
                </a:solidFill>
              </a:rPr>
              <a:t>          "type": "boolean"</a:t>
            </a:r>
          </a:p>
          <a:p>
            <a:r>
              <a:rPr lang="en-US" sz="3700">
                <a:solidFill>
                  <a:srgbClr val="252525"/>
                </a:solidFill>
              </a:rPr>
              <a:t>        },</a:t>
            </a:r>
          </a:p>
          <a:p>
            <a:r>
              <a:rPr lang="en-US" sz="3700">
                <a:solidFill>
                  <a:srgbClr val="252525"/>
                </a:solidFill>
              </a:rPr>
              <a:t>        "fitnessCenterException": {</a:t>
            </a:r>
          </a:p>
          <a:p>
            <a:r>
              <a:rPr lang="en-US" sz="3700">
                <a:solidFill>
                  <a:srgbClr val="252525"/>
                </a:solidFill>
              </a:rPr>
              <a:t>          "description": "Fitness center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p:txBody>
      </p:sp>
    </p:spTree>
  </p:cSld>
  <p:clrMapOvr>
    <a:masterClrMapping/>
  </p:clrMapOvr>
</p:sld>
</file>

<file path=ppt/slides/slide9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2" id="192"/>
          <p:cNvPicPr>
            <a:picLocks noChangeAspect="true"/>
          </p:cNvPicPr>
          <p:nvPr/>
        </p:nvPicPr>
        <p:blipFill>
          <a:blip r:embed="rId192"/>
          <a:stretch>
            <a:fillRect/>
          </a:stretch>
        </p:blipFill>
        <p:spPr>
          <a:xfrm>
            <a:off x="0" y="127000"/>
            <a:ext cx="23749000" cy="16548100"/>
          </a:xfrm>
          <a:prstGeom prst="rect">
            <a:avLst/>
          </a:prstGeom>
        </p:spPr>
      </p:pic>
      <p:sp>
        <p:nvSpPr>
          <p:cNvPr name="TextBox 192" id="19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"freeFitnessCenter": {</a:t>
            </a:r>
          </a:p>
          <a:p>
            <a:r>
              <a:rPr lang="en-US" sz="3700">
                <a:solidFill>
                  <a:srgbClr val="252525"/>
                </a:solidFill>
              </a:rPr>
              <a:t>          "description": "Free fitness center. Guests may use the fitness center for free.",</a:t>
            </a:r>
          </a:p>
          <a:p>
            <a:r>
              <a:rPr lang="en-US" sz="3700">
                <a:solidFill>
                  <a:srgbClr val="252525"/>
                </a:solidFill>
              </a:rPr>
              <a:t>          "type": "boolean"</a:t>
            </a:r>
          </a:p>
          <a:p>
            <a:r>
              <a:rPr lang="en-US" sz="3700">
                <a:solidFill>
                  <a:srgbClr val="252525"/>
                </a:solidFill>
              </a:rPr>
              <a:t>        },</a:t>
            </a:r>
          </a:p>
          <a:p>
            <a:r>
              <a:rPr lang="en-US" sz="3700">
                <a:solidFill>
                  <a:srgbClr val="252525"/>
                </a:solidFill>
              </a:rPr>
              <a:t>        "freeFitnessCenterException": {</a:t>
            </a:r>
          </a:p>
          <a:p>
            <a:r>
              <a:rPr lang="en-US" sz="3700">
                <a:solidFill>
                  <a:srgbClr val="252525"/>
                </a:solidFill>
              </a:rPr>
              <a:t>          "description": "Free fitness center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p:txBody>
      </p:sp>
    </p:spTree>
  </p:cSld>
  <p:clrMapOvr>
    <a:masterClrMapping/>
  </p:clrMapOvr>
</p:sld>
</file>

<file path=ppt/slides/slide9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4" id="194"/>
          <p:cNvPicPr>
            <a:picLocks noChangeAspect="true"/>
          </p:cNvPicPr>
          <p:nvPr/>
        </p:nvPicPr>
        <p:blipFill>
          <a:blip r:embed="rId194"/>
          <a:stretch>
            <a:fillRect/>
          </a:stretch>
        </p:blipFill>
        <p:spPr>
          <a:xfrm>
            <a:off x="0" y="127000"/>
            <a:ext cx="23749000" cy="16548100"/>
          </a:xfrm>
          <a:prstGeom prst="rect">
            <a:avLst/>
          </a:prstGeom>
        </p:spPr>
      </p:pic>
      <p:sp>
        <p:nvSpPr>
          <p:cNvPr name="TextBox 194" id="19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"ellipticalMachine": {</a:t>
            </a:r>
          </a:p>
          <a:p>
            <a:r>
              <a:rPr lang="en-US" sz="3700">
                <a:solidFill>
                  <a:srgbClr val="252525"/>
                </a:solidFill>
              </a:rPr>
              <a:t>          "description": "Elliptical machine. An electric, stationary fitness machine with pedals that simulates climbing, walking or running and provides a user-controlled range of speeds and tensions. May not have arm-controlled levers to work out the upper body as well. Commonly found in a gym, fitness room, health center, or health club.",</a:t>
            </a:r>
          </a:p>
          <a:p>
            <a:r>
              <a:rPr lang="en-US" sz="3700">
                <a:solidFill>
                  <a:srgbClr val="252525"/>
                </a:solidFill>
              </a:rPr>
              <a:t>          "type": "boolean"</a:t>
            </a:r>
          </a:p>
        </p:txBody>
      </p:sp>
    </p:spTree>
  </p:cSld>
  <p:clrMapOvr>
    <a:masterClrMapping/>
  </p:clrMapOvr>
</p:sld>
</file>

<file path=ppt/slides/slide9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6" id="196"/>
          <p:cNvPicPr>
            <a:picLocks noChangeAspect="true"/>
          </p:cNvPicPr>
          <p:nvPr/>
        </p:nvPicPr>
        <p:blipFill>
          <a:blip r:embed="rId196"/>
          <a:stretch>
            <a:fillRect/>
          </a:stretch>
        </p:blipFill>
        <p:spPr>
          <a:xfrm>
            <a:off x="0" y="127000"/>
            <a:ext cx="23749000" cy="16548100"/>
          </a:xfrm>
          <a:prstGeom prst="rect">
            <a:avLst/>
          </a:prstGeom>
        </p:spPr>
      </p:pic>
      <p:sp>
        <p:nvSpPr>
          <p:cNvPr name="TextBox 196" id="19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"ellipticalMachineException": {</a:t>
            </a:r>
          </a:p>
          <a:p>
            <a:r>
              <a:rPr lang="en-US" sz="3700">
                <a:solidFill>
                  <a:srgbClr val="252525"/>
                </a:solidFill>
              </a:rPr>
              <a:t>          "description": "Elliptical machine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p:txBody>
      </p:sp>
    </p:spTree>
  </p:cSld>
  <p:clrMapOvr>
    <a:masterClrMapping/>
  </p:clrMapOvr>
</p:sld>
</file>

<file path=ppt/slides/slide9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198" id="198"/>
          <p:cNvPicPr>
            <a:picLocks noChangeAspect="true"/>
          </p:cNvPicPr>
          <p:nvPr/>
        </p:nvPicPr>
        <p:blipFill>
          <a:blip r:embed="rId198"/>
          <a:stretch>
            <a:fillRect/>
          </a:stretch>
        </p:blipFill>
        <p:spPr>
          <a:xfrm>
            <a:off x="0" y="127000"/>
            <a:ext cx="23749000" cy="16548100"/>
          </a:xfrm>
          <a:prstGeom prst="rect">
            <a:avLst/>
          </a:prstGeom>
        </p:spPr>
      </p:pic>
      <p:sp>
        <p:nvSpPr>
          <p:cNvPr name="TextBox 198" id="19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a:t>
            </a:r>
          </a:p>
          <a:p>
            <a:r>
              <a:rPr lang="en-US" sz="3700">
                <a:solidFill>
                  <a:srgbClr val="252525"/>
                </a:solidFill>
              </a:rPr>
              <a:t>        "treadmill": {</a:t>
            </a:r>
          </a:p>
          <a:p>
            <a:r>
              <a:rPr lang="en-US" sz="3700">
                <a:solidFill>
                  <a:srgbClr val="252525"/>
                </a:solidFill>
              </a:rPr>
              <a:t>          "description": "Treadmill. An electric stationary fitness machine that simulates a moving path to promote walking or running within a range of user-controlled speeds and inclines. Also known as running machine. Commonly found in a gym, fitness room, health center, or health club.",</a:t>
            </a:r>
          </a:p>
          <a:p>
            <a:r>
              <a:rPr lang="en-US" sz="3700">
                <a:solidFill>
                  <a:srgbClr val="252525"/>
                </a:solidFill>
              </a:rPr>
              <a:t>          "type": "boolean"</a:t>
            </a:r>
          </a:p>
          <a:p>
            <a:r>
              <a:rPr lang="en-US" sz="3700">
                <a:solidFill>
                  <a:srgbClr val="252525"/>
                </a:solidFill>
              </a:rPr>
              <a:t>        },</a:t>
            </a:r>
          </a:p>
          <a:p>
            <a:r>
              <a:rPr lang="en-US" sz="3700">
                <a:solidFill>
                  <a:srgbClr val="252525"/>
                </a:solidFill>
              </a:rPr>
              <a:t>        "treadmillException": {</a:t>
            </a:r>
          </a:p>
          <a:p>
            <a:r>
              <a:rPr lang="en-US" sz="3700">
                <a:solidFill>
                  <a:srgbClr val="252525"/>
                </a:solidFill>
              </a:rPr>
              <a:t>          "description": "Treadmill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p:txBody>
      </p:sp>
    </p:spTree>
  </p:cSld>
  <p:clrMapOvr>
    <a:masterClrMapping/>
  </p:clrMapOvr>
</p:sld>
</file>

<file path=ppt/slides/slide10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0" id="200"/>
          <p:cNvPicPr>
            <a:picLocks noChangeAspect="true"/>
          </p:cNvPicPr>
          <p:nvPr/>
        </p:nvPicPr>
        <p:blipFill>
          <a:blip r:embed="rId200"/>
          <a:stretch>
            <a:fillRect/>
          </a:stretch>
        </p:blipFill>
        <p:spPr>
          <a:xfrm>
            <a:off x="0" y="127000"/>
            <a:ext cx="23749000" cy="16548100"/>
          </a:xfrm>
          <a:prstGeom prst="rect">
            <a:avLst/>
          </a:prstGeom>
        </p:spPr>
      </p:pic>
      <p:sp>
        <p:nvSpPr>
          <p:cNvPr name="TextBox 200" id="20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"weightMachine": {</a:t>
            </a:r>
          </a:p>
          <a:p>
            <a:r>
              <a:rPr lang="en-US" sz="3700">
                <a:solidFill>
                  <a:srgbClr val="252525"/>
                </a:solidFill>
              </a:rPr>
              <a:t>          "description": "Weight machine. Non-electronic fitness equipment designed for the user to target the exertion of different muscles. Usually incorporates a padded seat, a stack of flat weights and various bars and pulleys. May be designed for toning a specific part of the body or may involve different user-controlled settings, </a:t>
            </a:r>
          </a:p>
        </p:txBody>
      </p:sp>
    </p:spTree>
  </p:cSld>
  <p:clrMapOvr>
    <a:masterClrMapping/>
  </p:clrMapOvr>
</p:sld>
</file>

<file path=ppt/slides/slide10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2" id="202"/>
          <p:cNvPicPr>
            <a:picLocks noChangeAspect="true"/>
          </p:cNvPicPr>
          <p:nvPr/>
        </p:nvPicPr>
        <p:blipFill>
          <a:blip r:embed="rId202"/>
          <a:stretch>
            <a:fillRect/>
          </a:stretch>
        </p:blipFill>
        <p:spPr>
          <a:xfrm>
            <a:off x="0" y="127000"/>
            <a:ext cx="23749000" cy="16548100"/>
          </a:xfrm>
          <a:prstGeom prst="rect">
            <a:avLst/>
          </a:prstGeom>
        </p:spPr>
      </p:pic>
      <p:sp>
        <p:nvSpPr>
          <p:cNvPr name="TextBox 202" id="20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hardware and pulleys so as to provide an overall workout in one machine. Commonly found in a gym, fitness center, fitness room, or health club.",</a:t>
            </a:r>
          </a:p>
          <a:p>
            <a:r>
              <a:rPr lang="en-US" sz="3700">
                <a:solidFill>
                  <a:srgbClr val="252525"/>
                </a:solidFill>
              </a:rPr>
              <a:t>          "type": "boolean"</a:t>
            </a:r>
          </a:p>
          <a:p>
            <a:r>
              <a:rPr lang="en-US" sz="3700">
                <a:solidFill>
                  <a:srgbClr val="252525"/>
                </a:solidFill>
              </a:rPr>
              <a:t>        },</a:t>
            </a:r>
          </a:p>
          <a:p>
            <a:r>
              <a:rPr lang="en-US" sz="3700">
                <a:solidFill>
                  <a:srgbClr val="252525"/>
                </a:solidFill>
              </a:rPr>
              <a:t>        "weightMachineException": {</a:t>
            </a:r>
          </a:p>
          <a:p>
            <a:r>
              <a:rPr lang="en-US" sz="3700">
                <a:solidFill>
                  <a:srgbClr val="252525"/>
                </a:solidFill>
              </a:rPr>
              <a:t>          "description": "Weight machine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p:txBody>
      </p:sp>
    </p:spTree>
  </p:cSld>
  <p:clrMapOvr>
    <a:masterClrMapping/>
  </p:clrMapOvr>
</p:sld>
</file>

<file path=ppt/slides/slide10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4" id="204"/>
          <p:cNvPicPr>
            <a:picLocks noChangeAspect="true"/>
          </p:cNvPicPr>
          <p:nvPr/>
        </p:nvPicPr>
        <p:blipFill>
          <a:blip r:embed="rId204"/>
          <a:stretch>
            <a:fillRect/>
          </a:stretch>
        </p:blipFill>
        <p:spPr>
          <a:xfrm>
            <a:off x="0" y="127000"/>
            <a:ext cx="23749000" cy="16548100"/>
          </a:xfrm>
          <a:prstGeom prst="rect">
            <a:avLst/>
          </a:prstGeom>
        </p:spPr>
      </p:pic>
      <p:sp>
        <p:nvSpPr>
          <p:cNvPr name="TextBox 204" id="20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"freeWeights": {</a:t>
            </a:r>
          </a:p>
          <a:p>
            <a:r>
              <a:rPr lang="en-US" sz="3700">
                <a:solidFill>
                  <a:srgbClr val="252525"/>
                </a:solidFill>
              </a:rPr>
              <a:t>          "description": "Free weights. Individual handheld fitness equipment of varied weights used for upper body strength training or bodybuilding. Also known as barbells, dumbbells, or kettlebells. Often stored on a rack with the weights arranged from light to heavy. Commonly found in a gym, fitness room, health center, or health club.",</a:t>
            </a:r>
          </a:p>
          <a:p>
            <a:r>
              <a:rPr lang="en-US" sz="3700">
                <a:solidFill>
                  <a:srgbClr val="252525"/>
                </a:solidFill>
              </a:rPr>
              <a:t>          "type": "boolean"</a:t>
            </a:r>
          </a:p>
          <a:p>
            <a:r>
              <a:rPr lang="en-US" sz="3700">
                <a:solidFill>
                  <a:srgbClr val="252525"/>
                </a:solidFill>
              </a:rPr>
              <a:t>        },</a:t>
            </a:r>
          </a:p>
          <a:p>
            <a:r>
              <a:rPr lang="en-US" sz="3700">
                <a:solidFill>
                  <a:srgbClr val="252525"/>
                </a:solidFill>
              </a:rPr>
              <a:t>        "freeWeightsException": {</a:t>
            </a:r>
          </a:p>
          <a:p>
            <a:r>
              <a:rPr lang="en-US" sz="3700">
                <a:solidFill>
                  <a:srgbClr val="252525"/>
                </a:solidFill>
              </a:rPr>
              <a:t>          "description": "Free weights </a:t>
            </a:r>
          </a:p>
        </p:txBody>
      </p:sp>
    </p:spTree>
  </p:cSld>
  <p:clrMapOvr>
    <a:masterClrMapping/>
  </p:clrMapOvr>
</p:sld>
</file>

<file path=ppt/slides/slide10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6" id="206"/>
          <p:cNvPicPr>
            <a:picLocks noChangeAspect="true"/>
          </p:cNvPicPr>
          <p:nvPr/>
        </p:nvPicPr>
        <p:blipFill>
          <a:blip r:embed="rId206"/>
          <a:stretch>
            <a:fillRect/>
          </a:stretch>
        </p:blipFill>
        <p:spPr>
          <a:xfrm>
            <a:off x="0" y="127000"/>
            <a:ext cx="23749000" cy="16548100"/>
          </a:xfrm>
          <a:prstGeom prst="rect">
            <a:avLst/>
          </a:prstGeom>
        </p:spPr>
      </p:pic>
      <p:sp>
        <p:nvSpPr>
          <p:cNvPr name="TextBox 206" id="20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"spa": {</a:t>
            </a:r>
          </a:p>
        </p:txBody>
      </p:sp>
    </p:spTree>
  </p:cSld>
  <p:clrMapOvr>
    <a:masterClrMapping/>
  </p:clrMapOvr>
</p:sld>
</file>

<file path=ppt/slides/slide10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08" id="208"/>
          <p:cNvPicPr>
            <a:picLocks noChangeAspect="true"/>
          </p:cNvPicPr>
          <p:nvPr/>
        </p:nvPicPr>
        <p:blipFill>
          <a:blip r:embed="rId208"/>
          <a:stretch>
            <a:fillRect/>
          </a:stretch>
        </p:blipFill>
        <p:spPr>
          <a:xfrm>
            <a:off x="0" y="127000"/>
            <a:ext cx="23749000" cy="16548100"/>
          </a:xfrm>
          <a:prstGeom prst="rect">
            <a:avLst/>
          </a:prstGeom>
        </p:spPr>
      </p:pic>
      <p:sp>
        <p:nvSpPr>
          <p:cNvPr name="TextBox 208" id="20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"description": "Spa. A designated area, room or building at the hotel offering health and beauty treatment through such means as steam baths, exercise equipment, and massage. May also offer facials, nail care, and hair care. Services are usually available by appointment and for an additional fee. Does not apply if hotel only offers a steam room; must offer other beauty and/or health treatments as well.",</a:t>
            </a:r>
          </a:p>
          <a:p>
            <a:r>
              <a:rPr lang="en-US" sz="3700">
                <a:solidFill>
                  <a:srgbClr val="252525"/>
                </a:solidFill>
              </a:rPr>
              <a:t>          "type": "boolean"</a:t>
            </a:r>
          </a:p>
          <a:p>
            <a:r>
              <a:rPr lang="en-US" sz="3700">
                <a:solidFill>
                  <a:srgbClr val="252525"/>
                </a:solidFill>
              </a:rPr>
              <a:t>        },</a:t>
            </a:r>
          </a:p>
          <a:p>
            <a:r>
              <a:rPr lang="en-US" sz="3700">
                <a:solidFill>
                  <a:srgbClr val="252525"/>
                </a:solidFill>
              </a:rPr>
              <a:t>        "spaException": {</a:t>
            </a:r>
          </a:p>
          <a:p>
            <a:r>
              <a:rPr lang="en-US" sz="3700">
                <a:solidFill>
                  <a:srgbClr val="252525"/>
                </a:solidFill>
              </a:rPr>
              <a:t>          "description": "Spa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p:txBody>
      </p:sp>
    </p:spTree>
  </p:cSld>
  <p:clrMapOvr>
    <a:masterClrMapping/>
  </p:clrMapOvr>
</p:sld>
</file>

<file path=ppt/slides/slide10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0" id="210"/>
          <p:cNvPicPr>
            <a:picLocks noChangeAspect="true"/>
          </p:cNvPicPr>
          <p:nvPr/>
        </p:nvPicPr>
        <p:blipFill>
          <a:blip r:embed="rId210"/>
          <a:stretch>
            <a:fillRect/>
          </a:stretch>
        </p:blipFill>
        <p:spPr>
          <a:xfrm>
            <a:off x="0" y="127000"/>
            <a:ext cx="23749000" cy="16548100"/>
          </a:xfrm>
          <a:prstGeom prst="rect">
            <a:avLst/>
          </a:prstGeom>
        </p:spPr>
      </p:pic>
      <p:sp>
        <p:nvSpPr>
          <p:cNvPr name="TextBox 210" id="21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"salon": {</a:t>
            </a:r>
          </a:p>
          <a:p>
            <a:r>
              <a:rPr lang="en-US" sz="3700">
                <a:solidFill>
                  <a:srgbClr val="252525"/>
                </a:solidFill>
              </a:rPr>
              <a:t>          "description": "Salon. A room at the hotel where professionals provide hair styling services such as shampooing, blow drying, hair dos, hair cutting and hair coloring. Also known as hairdresser or beauty salon.",</a:t>
            </a:r>
          </a:p>
          <a:p>
            <a:r>
              <a:rPr lang="en-US" sz="3700">
                <a:solidFill>
                  <a:srgbClr val="252525"/>
                </a:solidFill>
              </a:rPr>
              <a:t>          "type": "boolean"</a:t>
            </a:r>
          </a:p>
          <a:p>
            <a:r>
              <a:rPr lang="en-US" sz="3700">
                <a:solidFill>
                  <a:srgbClr val="252525"/>
                </a:solidFill>
              </a:rPr>
              <a:t>        },</a:t>
            </a:r>
          </a:p>
        </p:txBody>
      </p:sp>
    </p:spTree>
  </p:cSld>
  <p:clrMapOvr>
    <a:masterClrMapping/>
  </p:clrMapOvr>
</p:sld>
</file>

<file path=ppt/slides/slide10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2" id="212"/>
          <p:cNvPicPr>
            <a:picLocks noChangeAspect="true"/>
          </p:cNvPicPr>
          <p:nvPr/>
        </p:nvPicPr>
        <p:blipFill>
          <a:blip r:embed="rId212"/>
          <a:stretch>
            <a:fillRect/>
          </a:stretch>
        </p:blipFill>
        <p:spPr>
          <a:xfrm>
            <a:off x="0" y="127000"/>
            <a:ext cx="23749000" cy="16548100"/>
          </a:xfrm>
          <a:prstGeom prst="rect">
            <a:avLst/>
          </a:prstGeom>
        </p:spPr>
      </p:pic>
      <p:sp>
        <p:nvSpPr>
          <p:cNvPr name="TextBox 212" id="21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"salonException": {</a:t>
            </a:r>
          </a:p>
          <a:p>
            <a:r>
              <a:rPr lang="en-US" sz="3700">
                <a:solidFill>
                  <a:srgbClr val="252525"/>
                </a:solidFill>
              </a:rPr>
              <a:t>          "description": "Salon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p:txBody>
      </p:sp>
    </p:spTree>
  </p:cSld>
  <p:clrMapOvr>
    <a:masterClrMapping/>
  </p:clrMapOvr>
</p:sld>
</file>

<file path=ppt/slides/slide10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4" id="214"/>
          <p:cNvPicPr>
            <a:picLocks noChangeAspect="true"/>
          </p:cNvPicPr>
          <p:nvPr/>
        </p:nvPicPr>
        <p:blipFill>
          <a:blip r:embed="rId214"/>
          <a:stretch>
            <a:fillRect/>
          </a:stretch>
        </p:blipFill>
        <p:spPr>
          <a:xfrm>
            <a:off x="0" y="127000"/>
            <a:ext cx="23749000" cy="16548100"/>
          </a:xfrm>
          <a:prstGeom prst="rect">
            <a:avLst/>
          </a:prstGeom>
        </p:spPr>
      </p:pic>
      <p:sp>
        <p:nvSpPr>
          <p:cNvPr name="TextBox 214" id="21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"sauna": {</a:t>
            </a:r>
          </a:p>
          <a:p>
            <a:r>
              <a:rPr lang="en-US" sz="3700">
                <a:solidFill>
                  <a:srgbClr val="252525"/>
                </a:solidFill>
              </a:rPr>
              <a:t>          "description": "Sauna. A wood-paneled room heated to a high temperature where guests sit on built-in wood benches for the purpose of perspiring and relaxing their muscles. Can be dry or slightly wet heat. Not a steam room.",</a:t>
            </a:r>
          </a:p>
          <a:p>
            <a:r>
              <a:rPr lang="en-US" sz="3700">
                <a:solidFill>
                  <a:srgbClr val="252525"/>
                </a:solidFill>
              </a:rPr>
              <a:t>          "type": "boolean"</a:t>
            </a:r>
          </a:p>
          <a:p>
            <a:r>
              <a:rPr lang="en-US" sz="3700">
                <a:solidFill>
                  <a:srgbClr val="252525"/>
                </a:solidFill>
              </a:rPr>
              <a:t>        },</a:t>
            </a:r>
          </a:p>
          <a:p>
            <a:r>
              <a:rPr lang="en-US" sz="3700">
                <a:solidFill>
                  <a:srgbClr val="252525"/>
                </a:solidFill>
              </a:rPr>
              <a:t>        "saunaException": {</a:t>
            </a:r>
          </a:p>
          <a:p>
            <a:r>
              <a:rPr lang="en-US" sz="3700">
                <a:solidFill>
                  <a:srgbClr val="252525"/>
                </a:solidFill>
              </a:rPr>
              <a:t>          "description": "Sauna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p:txBody>
      </p:sp>
    </p:spTree>
  </p:cSld>
  <p:clrMapOvr>
    <a:masterClrMapping/>
  </p:clrMapOvr>
</p:sld>
</file>

<file path=ppt/slides/slide10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6" id="216"/>
          <p:cNvPicPr>
            <a:picLocks noChangeAspect="true"/>
          </p:cNvPicPr>
          <p:nvPr/>
        </p:nvPicPr>
        <p:blipFill>
          <a:blip r:embed="rId216"/>
          <a:stretch>
            <a:fillRect/>
          </a:stretch>
        </p:blipFill>
        <p:spPr>
          <a:xfrm>
            <a:off x="0" y="127000"/>
            <a:ext cx="23749000" cy="16548100"/>
          </a:xfrm>
          <a:prstGeom prst="rect">
            <a:avLst/>
          </a:prstGeom>
        </p:spPr>
      </p:pic>
      <p:sp>
        <p:nvSpPr>
          <p:cNvPr name="TextBox 216" id="21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"massage": {</a:t>
            </a:r>
          </a:p>
          <a:p>
            <a:r>
              <a:rPr lang="en-US" sz="3700">
                <a:solidFill>
                  <a:srgbClr val="252525"/>
                </a:solidFill>
              </a:rPr>
              <a:t>          "description": "Massage. A service provided by a trained massage therapist involving the physical manipulation of a guest's muscles in order to achieve relaxation or pain relief.",</a:t>
            </a:r>
          </a:p>
          <a:p>
            <a:r>
              <a:rPr lang="en-US" sz="3700">
                <a:solidFill>
                  <a:srgbClr val="252525"/>
                </a:solidFill>
              </a:rPr>
              <a:t>          "type": "boolean"</a:t>
            </a:r>
          </a:p>
          <a:p>
            <a:r>
              <a:rPr lang="en-US" sz="3700">
                <a:solidFill>
                  <a:srgbClr val="252525"/>
                </a:solidFill>
              </a:rPr>
              <a:t>        },</a:t>
            </a:r>
          </a:p>
          <a:p>
            <a:r>
              <a:rPr lang="en-US" sz="3700">
                <a:solidFill>
                  <a:srgbClr val="252525"/>
                </a:solidFill>
              </a:rPr>
              <a:t>        "massageException": {</a:t>
            </a:r>
          </a:p>
          <a:p>
            <a:r>
              <a:rPr lang="en-US" sz="3700">
                <a:solidFill>
                  <a:srgbClr val="252525"/>
                </a:solidFill>
              </a:rPr>
              <a:t>          "description": "Massage exception.",</a:t>
            </a:r>
          </a:p>
          <a:p>
            <a:r>
              <a:rPr lang="en-US" sz="3700">
                <a:solidFill>
                  <a:srgbClr val="252525"/>
                </a:solidFill>
              </a:rPr>
              <a:t>          "type": "string",</a:t>
            </a:r>
          </a:p>
        </p:txBody>
      </p:sp>
    </p:spTree>
  </p:cSld>
  <p:clrMapOvr>
    <a:masterClrMapping/>
  </p:clrMapOvr>
</p:sld>
</file>

<file path=ppt/slides/slide10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18" id="218"/>
          <p:cNvPicPr>
            <a:picLocks noChangeAspect="true"/>
          </p:cNvPicPr>
          <p:nvPr/>
        </p:nvPicPr>
        <p:blipFill>
          <a:blip r:embed="rId218"/>
          <a:stretch>
            <a:fillRect/>
          </a:stretch>
        </p:blipFill>
        <p:spPr>
          <a:xfrm>
            <a:off x="0" y="127000"/>
            <a:ext cx="23749000" cy="16548100"/>
          </a:xfrm>
          <a:prstGeom prst="rect">
            <a:avLst/>
          </a:prstGeom>
        </p:spPr>
      </p:pic>
      <p:sp>
        <p:nvSpPr>
          <p:cNvPr name="TextBox 218" id="21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"doctorOnCall": {</a:t>
            </a:r>
          </a:p>
          <a:p>
            <a:r>
              <a:rPr lang="en-US" sz="3700">
                <a:solidFill>
                  <a:srgbClr val="252525"/>
                </a:solidFill>
              </a:rPr>
              <a:t>          "description": "Doctor on call. The hotel has a contract with a medical </a:t>
            </a:r>
          </a:p>
        </p:txBody>
      </p:sp>
    </p:spTree>
  </p:cSld>
  <p:clrMapOvr>
    <a:masterClrMapping/>
  </p:clrMapOvr>
</p:sld>
</file>

<file path=ppt/slides/slide1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0" id="220"/>
          <p:cNvPicPr>
            <a:picLocks noChangeAspect="true"/>
          </p:cNvPicPr>
          <p:nvPr/>
        </p:nvPicPr>
        <p:blipFill>
          <a:blip r:embed="rId220"/>
          <a:stretch>
            <a:fillRect/>
          </a:stretch>
        </p:blipFill>
        <p:spPr>
          <a:xfrm>
            <a:off x="0" y="127000"/>
            <a:ext cx="23749000" cy="16548100"/>
          </a:xfrm>
          <a:prstGeom prst="rect">
            <a:avLst/>
          </a:prstGeom>
        </p:spPr>
      </p:pic>
      <p:sp>
        <p:nvSpPr>
          <p:cNvPr name="TextBox 220" id="22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professional who provides services to hotel guests should they fall ill during their stay. The doctor may or may not have an on-site office or be at the hotel at all times.",</a:t>
            </a:r>
          </a:p>
          <a:p>
            <a:r>
              <a:rPr lang="en-US" sz="3700">
                <a:solidFill>
                  <a:srgbClr val="252525"/>
                </a:solidFill>
              </a:rPr>
              <a:t>          "type": "boolean"</a:t>
            </a:r>
          </a:p>
          <a:p>
            <a:r>
              <a:rPr lang="en-US" sz="3700">
                <a:solidFill>
                  <a:srgbClr val="252525"/>
                </a:solidFill>
              </a:rPr>
              <a:t>        },</a:t>
            </a:r>
          </a:p>
          <a:p>
            <a:r>
              <a:rPr lang="en-US" sz="3700">
                <a:solidFill>
                  <a:srgbClr val="252525"/>
                </a:solidFill>
              </a:rPr>
              <a:t>        "doctorOnCallException": {</a:t>
            </a:r>
          </a:p>
          <a:p>
            <a:r>
              <a:rPr lang="en-US" sz="3700">
                <a:solidFill>
                  <a:srgbClr val="252525"/>
                </a:solidFill>
              </a:rPr>
              <a:t>          "description": "Doctor on call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p:txBody>
      </p:sp>
    </p:spTree>
  </p:cSld>
  <p:clrMapOvr>
    <a:masterClrMapping/>
  </p:clrMapOvr>
</p:sld>
</file>

<file path=ppt/slides/slide1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2" id="222"/>
          <p:cNvPicPr>
            <a:picLocks noChangeAspect="true"/>
          </p:cNvPicPr>
          <p:nvPr/>
        </p:nvPicPr>
        <p:blipFill>
          <a:blip r:embed="rId222"/>
          <a:stretch>
            <a:fillRect/>
          </a:stretch>
        </p:blipFill>
        <p:spPr>
          <a:xfrm>
            <a:off x="0" y="127000"/>
            <a:ext cx="23749000" cy="16548100"/>
          </a:xfrm>
          <a:prstGeom prst="rect">
            <a:avLst/>
          </a:prstGeom>
        </p:spPr>
      </p:pic>
      <p:sp>
        <p:nvSpPr>
          <p:cNvPr name="TextBox 222" id="22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"Activities": {</a:t>
            </a:r>
          </a:p>
          <a:p>
            <a:r>
              <a:rPr lang="en-US" sz="3700">
                <a:solidFill>
                  <a:srgbClr val="252525"/>
                </a:solidFill>
              </a:rPr>
              <a:t>      "id": "Activities",</a:t>
            </a:r>
          </a:p>
          <a:p>
            <a:r>
              <a:rPr lang="en-US" sz="3700">
                <a:solidFill>
                  <a:srgbClr val="252525"/>
                </a:solidFill>
              </a:rPr>
              <a:t>      "description": "Amenities and features related to leisure and play.",</a:t>
            </a:r>
          </a:p>
          <a:p>
            <a:r>
              <a:rPr lang="en-US" sz="3700">
                <a:solidFill>
                  <a:srgbClr val="252525"/>
                </a:solidFill>
              </a:rPr>
              <a:t>      "type": "object",</a:t>
            </a:r>
          </a:p>
          <a:p>
            <a:r>
              <a:rPr lang="en-US" sz="3700">
                <a:solidFill>
                  <a:srgbClr val="252525"/>
                </a:solidFill>
              </a:rPr>
              <a:t>      "properties": {</a:t>
            </a:r>
          </a:p>
          <a:p>
            <a:r>
              <a:rPr lang="en-US" sz="3700">
                <a:solidFill>
                  <a:srgbClr val="252525"/>
                </a:solidFill>
              </a:rPr>
              <a:t>        "gameRoom": {</a:t>
            </a:r>
          </a:p>
          <a:p>
            <a:r>
              <a:rPr lang="en-US" sz="3700">
                <a:solidFill>
                  <a:srgbClr val="252525"/>
                </a:solidFill>
              </a:rPr>
              <a:t>          "description": "Game room. There is a room at the hotel containing electronic machines for play such as pinball, prize machines, driving simulators, and other items commonly found at a family fun </a:t>
            </a:r>
          </a:p>
        </p:txBody>
      </p:sp>
    </p:spTree>
  </p:cSld>
  <p:clrMapOvr>
    <a:masterClrMapping/>
  </p:clrMapOvr>
</p:sld>
</file>

<file path=ppt/slides/slide1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4" id="224"/>
          <p:cNvPicPr>
            <a:picLocks noChangeAspect="true"/>
          </p:cNvPicPr>
          <p:nvPr/>
        </p:nvPicPr>
        <p:blipFill>
          <a:blip r:embed="rId224"/>
          <a:stretch>
            <a:fillRect/>
          </a:stretch>
        </p:blipFill>
        <p:spPr>
          <a:xfrm>
            <a:off x="0" y="127000"/>
            <a:ext cx="23749000" cy="16548100"/>
          </a:xfrm>
          <a:prstGeom prst="rect">
            <a:avLst/>
          </a:prstGeom>
        </p:spPr>
      </p:pic>
      <p:sp>
        <p:nvSpPr>
          <p:cNvPr name="TextBox 224" id="22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center or arcade. May also include non-electronic games like pool, foosball, darts, and more. May or may not be designed for children. Also known as arcade, fun room, or family fun center.",</a:t>
            </a:r>
          </a:p>
          <a:p>
            <a:r>
              <a:rPr lang="en-US" sz="3700">
                <a:solidFill>
                  <a:srgbClr val="252525"/>
                </a:solidFill>
              </a:rPr>
              <a:t>          "type": "boolean"</a:t>
            </a:r>
          </a:p>
          <a:p>
            <a:r>
              <a:rPr lang="en-US" sz="3700">
                <a:solidFill>
                  <a:srgbClr val="252525"/>
                </a:solidFill>
              </a:rPr>
              <a:t>        },</a:t>
            </a:r>
          </a:p>
          <a:p>
            <a:r>
              <a:rPr lang="en-US" sz="3700">
                <a:solidFill>
                  <a:srgbClr val="252525"/>
                </a:solidFill>
              </a:rPr>
              <a:t>        "gameRoomException": {</a:t>
            </a:r>
          </a:p>
          <a:p>
            <a:r>
              <a:rPr lang="en-US" sz="3700">
                <a:solidFill>
                  <a:srgbClr val="252525"/>
                </a:solidFill>
              </a:rPr>
              <a:t>          "description": "Game room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p:txBody>
      </p:sp>
    </p:spTree>
  </p:cSld>
  <p:clrMapOvr>
    <a:masterClrMapping/>
  </p:clrMapOvr>
</p:sld>
</file>

<file path=ppt/slides/slide1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6" id="226"/>
          <p:cNvPicPr>
            <a:picLocks noChangeAspect="true"/>
          </p:cNvPicPr>
          <p:nvPr/>
        </p:nvPicPr>
        <p:blipFill>
          <a:blip r:embed="rId226"/>
          <a:stretch>
            <a:fillRect/>
          </a:stretch>
        </p:blipFill>
        <p:spPr>
          <a:xfrm>
            <a:off x="0" y="127000"/>
            <a:ext cx="23749000" cy="16548100"/>
          </a:xfrm>
          <a:prstGeom prst="rect">
            <a:avLst/>
          </a:prstGeom>
        </p:spPr>
      </p:pic>
      <p:sp>
        <p:nvSpPr>
          <p:cNvPr name="TextBox 226" id="22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"nightclub": {</a:t>
            </a:r>
          </a:p>
          <a:p>
            <a:r>
              <a:rPr lang="en-US" sz="3700">
                <a:solidFill>
                  <a:srgbClr val="252525"/>
                </a:solidFill>
              </a:rPr>
              <a:t>          "description": "Nightclub. There is a room at the hotel with a bar, a dance floor, and seating where designated staffers play dance music. There may also be a designated area for the performance of live music, singing and comedy acts.",</a:t>
            </a:r>
          </a:p>
          <a:p>
            <a:r>
              <a:rPr lang="en-US" sz="3700">
                <a:solidFill>
                  <a:srgbClr val="252525"/>
                </a:solidFill>
              </a:rPr>
              <a:t>          "type": "boolean"</a:t>
            </a:r>
          </a:p>
          <a:p>
            <a:r>
              <a:rPr lang="en-US" sz="3700">
                <a:solidFill>
                  <a:srgbClr val="252525"/>
                </a:solidFill>
              </a:rPr>
              <a:t>        },</a:t>
            </a:r>
          </a:p>
          <a:p>
            <a:r>
              <a:rPr lang="en-US" sz="3700">
                <a:solidFill>
                  <a:srgbClr val="252525"/>
                </a:solidFill>
              </a:rPr>
              <a:t>        "nightclubException": {</a:t>
            </a:r>
          </a:p>
          <a:p>
            <a:r>
              <a:rPr lang="en-US" sz="3700">
                <a:solidFill>
                  <a:srgbClr val="252525"/>
                </a:solidFill>
              </a:rPr>
              <a:t>          "description": "Nightclub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a:t>
            </a:r>
          </a:p>
        </p:txBody>
      </p:sp>
    </p:spTree>
  </p:cSld>
  <p:clrMapOvr>
    <a:masterClrMapping/>
  </p:clrMapOvr>
</p:sld>
</file>

<file path=ppt/slides/slide1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28" id="228"/>
          <p:cNvPicPr>
            <a:picLocks noChangeAspect="true"/>
          </p:cNvPicPr>
          <p:nvPr/>
        </p:nvPicPr>
        <p:blipFill>
          <a:blip r:embed="rId228"/>
          <a:stretch>
            <a:fillRect/>
          </a:stretch>
        </p:blipFill>
        <p:spPr>
          <a:xfrm>
            <a:off x="0" y="127000"/>
            <a:ext cx="23749000" cy="16548100"/>
          </a:xfrm>
          <a:prstGeom prst="rect">
            <a:avLst/>
          </a:prstGeom>
        </p:spPr>
      </p:pic>
      <p:sp>
        <p:nvSpPr>
          <p:cNvPr name="TextBox 228" id="22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"casino": {</a:t>
            </a:r>
          </a:p>
          <a:p>
            <a:r>
              <a:rPr lang="en-US" sz="3700">
                <a:solidFill>
                  <a:srgbClr val="252525"/>
                </a:solidFill>
              </a:rPr>
              <a:t>          "description": "Casino. A space designated for gambling and gaming featuring croupier-run table and card games, as well as electronic slot machines. </a:t>
            </a:r>
          </a:p>
        </p:txBody>
      </p:sp>
    </p:spTree>
  </p:cSld>
  <p:clrMapOvr>
    <a:masterClrMapping/>
  </p:clrMapOvr>
</p:sld>
</file>

<file path=ppt/slides/slide1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30" id="230"/>
          <p:cNvPicPr>
            <a:picLocks noChangeAspect="true"/>
          </p:cNvPicPr>
          <p:nvPr/>
        </p:nvPicPr>
        <p:blipFill>
          <a:blip r:embed="rId230"/>
          <a:stretch>
            <a:fillRect/>
          </a:stretch>
        </p:blipFill>
        <p:spPr>
          <a:xfrm>
            <a:off x="0" y="127000"/>
            <a:ext cx="23749000" cy="16548100"/>
          </a:xfrm>
          <a:prstGeom prst="rect">
            <a:avLst/>
          </a:prstGeom>
        </p:spPr>
      </p:pic>
      <p:sp>
        <p:nvSpPr>
          <p:cNvPr name="TextBox 230" id="23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May be on hotel premises or located nearby.",</a:t>
            </a:r>
          </a:p>
          <a:p>
            <a:r>
              <a:rPr lang="en-US" sz="3700">
                <a:solidFill>
                  <a:srgbClr val="252525"/>
                </a:solidFill>
              </a:rPr>
              <a:t>          "type": "boolean"</a:t>
            </a:r>
          </a:p>
          <a:p>
            <a:r>
              <a:rPr lang="en-US" sz="3700">
                <a:solidFill>
                  <a:srgbClr val="252525"/>
                </a:solidFill>
              </a:rPr>
              <a:t>        },</a:t>
            </a:r>
          </a:p>
          <a:p>
            <a:r>
              <a:rPr lang="en-US" sz="3700">
                <a:solidFill>
                  <a:srgbClr val="252525"/>
                </a:solidFill>
              </a:rPr>
              <a:t>        "casinoException": {</a:t>
            </a:r>
          </a:p>
          <a:p>
            <a:r>
              <a:rPr lang="en-US" sz="3700">
                <a:solidFill>
                  <a:srgbClr val="252525"/>
                </a:solidFill>
              </a:rPr>
              <a:t>          "description": "Casino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p:txBody>
      </p:sp>
    </p:spTree>
  </p:cSld>
  <p:clrMapOvr>
    <a:masterClrMapping/>
  </p:clrMapOvr>
</p:sld>
</file>

<file path=ppt/slides/slide1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32" id="232"/>
          <p:cNvPicPr>
            <a:picLocks noChangeAspect="true"/>
          </p:cNvPicPr>
          <p:nvPr/>
        </p:nvPicPr>
        <p:blipFill>
          <a:blip r:embed="rId232"/>
          <a:stretch>
            <a:fillRect/>
          </a:stretch>
        </p:blipFill>
        <p:spPr>
          <a:xfrm>
            <a:off x="0" y="127000"/>
            <a:ext cx="23749000" cy="16548100"/>
          </a:xfrm>
          <a:prstGeom prst="rect">
            <a:avLst/>
          </a:prstGeom>
        </p:spPr>
      </p:pic>
      <p:sp>
        <p:nvSpPr>
          <p:cNvPr name="TextBox 232" id="23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"boutiqueStores": {</a:t>
            </a:r>
          </a:p>
          <a:p>
            <a:r>
              <a:rPr lang="en-US" sz="3700">
                <a:solidFill>
                  <a:srgbClr val="252525"/>
                </a:solidFill>
              </a:rPr>
              <a:t>          "description": "Boutique stores. There are stores selling clothing, jewelry, art and decor either on hotel premises or very close by. Does not refer to the hotel gift shop or convenience store.",</a:t>
            </a:r>
          </a:p>
          <a:p>
            <a:r>
              <a:rPr lang="en-US" sz="3700">
                <a:solidFill>
                  <a:srgbClr val="252525"/>
                </a:solidFill>
              </a:rPr>
              <a:t>          "type": "boolean"</a:t>
            </a:r>
          </a:p>
          <a:p>
            <a:r>
              <a:rPr lang="en-US" sz="3700">
                <a:solidFill>
                  <a:srgbClr val="252525"/>
                </a:solidFill>
              </a:rPr>
              <a:t>        },</a:t>
            </a:r>
          </a:p>
          <a:p>
            <a:r>
              <a:rPr lang="en-US" sz="3700">
                <a:solidFill>
                  <a:srgbClr val="252525"/>
                </a:solidFill>
              </a:rPr>
              <a:t>        "boutiqueStoresException": {</a:t>
            </a:r>
          </a:p>
          <a:p>
            <a:r>
              <a:rPr lang="en-US" sz="3700">
                <a:solidFill>
                  <a:srgbClr val="252525"/>
                </a:solidFill>
              </a:rPr>
              <a:t>          "description": "Boutique stores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a:t>
            </a:r>
          </a:p>
        </p:txBody>
      </p:sp>
    </p:spTree>
  </p:cSld>
  <p:clrMapOvr>
    <a:masterClrMapping/>
  </p:clrMapOvr>
</p:sld>
</file>

<file path=ppt/slides/slide1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34" id="234"/>
          <p:cNvPicPr>
            <a:picLocks noChangeAspect="true"/>
          </p:cNvPicPr>
          <p:nvPr/>
        </p:nvPicPr>
        <p:blipFill>
          <a:blip r:embed="rId234"/>
          <a:stretch>
            <a:fillRect/>
          </a:stretch>
        </p:blipFill>
        <p:spPr>
          <a:xfrm>
            <a:off x="0" y="127000"/>
            <a:ext cx="23749000" cy="16548100"/>
          </a:xfrm>
          <a:prstGeom prst="rect">
            <a:avLst/>
          </a:prstGeom>
        </p:spPr>
      </p:pic>
      <p:sp>
        <p:nvSpPr>
          <p:cNvPr name="TextBox 234" id="23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"tennis": {</a:t>
            </a:r>
          </a:p>
          <a:p>
            <a:r>
              <a:rPr lang="en-US" sz="3700">
                <a:solidFill>
                  <a:srgbClr val="252525"/>
                </a:solidFill>
              </a:rPr>
              <a:t>          "description": "Tennis. The hotel has the requisite court(s) on site or has an affiliation with a nearby facility for the purpose of providing guests with the opportunity to play a two-sided court-based game in which players use a stringed racquet to hit a ball across a net </a:t>
            </a:r>
          </a:p>
        </p:txBody>
      </p:sp>
    </p:spTree>
  </p:cSld>
  <p:clrMapOvr>
    <a:masterClrMapping/>
  </p:clrMapOvr>
</p:sld>
</file>

<file path=ppt/slides/slide1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36" id="236"/>
          <p:cNvPicPr>
            <a:picLocks noChangeAspect="true"/>
          </p:cNvPicPr>
          <p:nvPr/>
        </p:nvPicPr>
        <p:blipFill>
          <a:blip r:embed="rId236"/>
          <a:stretch>
            <a:fillRect/>
          </a:stretch>
        </p:blipFill>
        <p:spPr>
          <a:xfrm>
            <a:off x="0" y="127000"/>
            <a:ext cx="23749000" cy="16548100"/>
          </a:xfrm>
          <a:prstGeom prst="rect">
            <a:avLst/>
          </a:prstGeom>
        </p:spPr>
      </p:pic>
      <p:sp>
        <p:nvSpPr>
          <p:cNvPr name="TextBox 236" id="23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to the side of the opposing player. The court can be indoors or outdoors. Instructors, racquets and balls may or may not be provided.",</a:t>
            </a:r>
          </a:p>
          <a:p>
            <a:r>
              <a:rPr lang="en-US" sz="3700">
                <a:solidFill>
                  <a:srgbClr val="252525"/>
                </a:solidFill>
              </a:rPr>
              <a:t>          "type": "boolean"</a:t>
            </a:r>
          </a:p>
          <a:p>
            <a:r>
              <a:rPr lang="en-US" sz="3700">
                <a:solidFill>
                  <a:srgbClr val="252525"/>
                </a:solidFill>
              </a:rPr>
              <a:t>        },</a:t>
            </a:r>
          </a:p>
          <a:p>
            <a:r>
              <a:rPr lang="en-US" sz="3700">
                <a:solidFill>
                  <a:srgbClr val="252525"/>
                </a:solidFill>
              </a:rPr>
              <a:t>        "tennisException": {</a:t>
            </a:r>
          </a:p>
          <a:p>
            <a:r>
              <a:rPr lang="en-US" sz="3700">
                <a:solidFill>
                  <a:srgbClr val="252525"/>
                </a:solidFill>
              </a:rPr>
              <a:t>          "description": "Tennis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p:txBody>
      </p:sp>
    </p:spTree>
  </p:cSld>
  <p:clrMapOvr>
    <a:masterClrMapping/>
  </p:clrMapOvr>
</p:sld>
</file>

<file path=ppt/slides/slide1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38" id="238"/>
          <p:cNvPicPr>
            <a:picLocks noChangeAspect="true"/>
          </p:cNvPicPr>
          <p:nvPr/>
        </p:nvPicPr>
        <p:blipFill>
          <a:blip r:embed="rId238"/>
          <a:stretch>
            <a:fillRect/>
          </a:stretch>
        </p:blipFill>
        <p:spPr>
          <a:xfrm>
            <a:off x="0" y="127000"/>
            <a:ext cx="23749000" cy="16548100"/>
          </a:xfrm>
          <a:prstGeom prst="rect">
            <a:avLst/>
          </a:prstGeom>
        </p:spPr>
      </p:pic>
      <p:sp>
        <p:nvSpPr>
          <p:cNvPr name="TextBox 238" id="23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"golf": {</a:t>
            </a:r>
          </a:p>
          <a:p>
            <a:r>
              <a:rPr lang="en-US" sz="3700">
                <a:solidFill>
                  <a:srgbClr val="252525"/>
                </a:solidFill>
              </a:rPr>
              <a:t>          "description": "Golf. There is a golf course on hotel grounds or there is a nearby, independently run golf course that allows use by hotel guests. Can be free or for a fee.",</a:t>
            </a:r>
          </a:p>
          <a:p>
            <a:r>
              <a:rPr lang="en-US" sz="3700">
                <a:solidFill>
                  <a:srgbClr val="252525"/>
                </a:solidFill>
              </a:rPr>
              <a:t>          "type": "boolean"</a:t>
            </a:r>
          </a:p>
          <a:p>
            <a:r>
              <a:rPr lang="en-US" sz="3700">
                <a:solidFill>
                  <a:srgbClr val="252525"/>
                </a:solidFill>
              </a:rPr>
              <a:t>        },</a:t>
            </a:r>
          </a:p>
          <a:p>
            <a:r>
              <a:rPr lang="en-US" sz="3700">
                <a:solidFill>
                  <a:srgbClr val="252525"/>
                </a:solidFill>
              </a:rPr>
              <a:t>        "golfException": {</a:t>
            </a:r>
          </a:p>
          <a:p>
            <a:r>
              <a:rPr lang="en-US" sz="3700">
                <a:solidFill>
                  <a:srgbClr val="252525"/>
                </a:solidFill>
              </a:rPr>
              <a:t>          "description": "Golf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p:txBody>
      </p:sp>
    </p:spTree>
  </p:cSld>
  <p:clrMapOvr>
    <a:masterClrMapping/>
  </p:clrMapOvr>
</p:sld>
</file>

<file path=ppt/slides/slide1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0" id="240"/>
          <p:cNvPicPr>
            <a:picLocks noChangeAspect="true"/>
          </p:cNvPicPr>
          <p:nvPr/>
        </p:nvPicPr>
        <p:blipFill>
          <a:blip r:embed="rId240"/>
          <a:stretch>
            <a:fillRect/>
          </a:stretch>
        </p:blipFill>
        <p:spPr>
          <a:xfrm>
            <a:off x="0" y="127000"/>
            <a:ext cx="23749000" cy="16548100"/>
          </a:xfrm>
          <a:prstGeom prst="rect">
            <a:avLst/>
          </a:prstGeom>
        </p:spPr>
      </p:pic>
      <p:sp>
        <p:nvSpPr>
          <p:cNvPr name="TextBox 240" id="24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"horsebackRiding": {</a:t>
            </a:r>
          </a:p>
          <a:p>
            <a:r>
              <a:rPr lang="en-US" sz="3700">
                <a:solidFill>
                  <a:srgbClr val="252525"/>
                </a:solidFill>
              </a:rPr>
              <a:t>          "description": "Horseback riding. The hotel has a horse barn onsite or an affiliation with a nearby barn to allow for guests to sit astride a horse and direct it to walk, trot, cantor, gallop and/or jump. Can be in a riding ring, on designated paths, or </a:t>
            </a:r>
          </a:p>
        </p:txBody>
      </p:sp>
    </p:spTree>
  </p:cSld>
  <p:clrMapOvr>
    <a:masterClrMapping/>
  </p:clrMapOvr>
</p:sld>
</file>

<file path=ppt/slides/slide1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2" id="242"/>
          <p:cNvPicPr>
            <a:picLocks noChangeAspect="true"/>
          </p:cNvPicPr>
          <p:nvPr/>
        </p:nvPicPr>
        <p:blipFill>
          <a:blip r:embed="rId242"/>
          <a:stretch>
            <a:fillRect/>
          </a:stretch>
        </p:blipFill>
        <p:spPr>
          <a:xfrm>
            <a:off x="0" y="127000"/>
            <a:ext cx="23749000" cy="16548100"/>
          </a:xfrm>
          <a:prstGeom prst="rect">
            <a:avLst/>
          </a:prstGeom>
        </p:spPr>
      </p:pic>
      <p:sp>
        <p:nvSpPr>
          <p:cNvPr name="TextBox 242" id="24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in the wilderness. May or may not involve instruction.",</a:t>
            </a:r>
          </a:p>
          <a:p>
            <a:r>
              <a:rPr lang="en-US" sz="3700">
                <a:solidFill>
                  <a:srgbClr val="252525"/>
                </a:solidFill>
              </a:rPr>
              <a:t>          "type": "boolean"</a:t>
            </a:r>
          </a:p>
          <a:p>
            <a:r>
              <a:rPr lang="en-US" sz="3700">
                <a:solidFill>
                  <a:srgbClr val="252525"/>
                </a:solidFill>
              </a:rPr>
              <a:t>        },</a:t>
            </a:r>
          </a:p>
          <a:p>
            <a:r>
              <a:rPr lang="en-US" sz="3700">
                <a:solidFill>
                  <a:srgbClr val="252525"/>
                </a:solidFill>
              </a:rPr>
              <a:t>        "horsebackRidingException": {</a:t>
            </a:r>
          </a:p>
          <a:p>
            <a:r>
              <a:rPr lang="en-US" sz="3700">
                <a:solidFill>
                  <a:srgbClr val="252525"/>
                </a:solidFill>
              </a:rPr>
              <a:t>          "description": "Horseback riding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p:txBody>
      </p:sp>
    </p:spTree>
  </p:cSld>
  <p:clrMapOvr>
    <a:masterClrMapping/>
  </p:clrMapOvr>
</p:sld>
</file>

<file path=ppt/slides/slide1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4" id="244"/>
          <p:cNvPicPr>
            <a:picLocks noChangeAspect="true"/>
          </p:cNvPicPr>
          <p:nvPr/>
        </p:nvPicPr>
        <p:blipFill>
          <a:blip r:embed="rId244"/>
          <a:stretch>
            <a:fillRect/>
          </a:stretch>
        </p:blipFill>
        <p:spPr>
          <a:xfrm>
            <a:off x="0" y="127000"/>
            <a:ext cx="23749000" cy="16548100"/>
          </a:xfrm>
          <a:prstGeom prst="rect">
            <a:avLst/>
          </a:prstGeom>
        </p:spPr>
      </p:pic>
      <p:sp>
        <p:nvSpPr>
          <p:cNvPr name="TextBox 244" id="24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"snorkeling": {</a:t>
            </a:r>
          </a:p>
          <a:p>
            <a:r>
              <a:rPr lang="en-US" sz="3700">
                <a:solidFill>
                  <a:srgbClr val="252525"/>
                </a:solidFill>
              </a:rPr>
              <a:t>          "description": "Snorkeling. The provision for guests to participate in a recreational water activity in which swimmers wear a diving mask, a simple, shaped breathing tube and flippers/swim fins for the purpose of exploring below the surface of an ocean, gulf or lake. Does not usually require user certification or professional supervision. Equipment may or may not be available for rent or purchase. Not scuba diving.",</a:t>
            </a:r>
          </a:p>
          <a:p>
            <a:r>
              <a:rPr lang="en-US" sz="3700">
                <a:solidFill>
                  <a:srgbClr val="252525"/>
                </a:solidFill>
              </a:rPr>
              <a:t>          "type": "boolean"</a:t>
            </a:r>
          </a:p>
          <a:p>
            <a:r>
              <a:rPr lang="en-US" sz="3700">
                <a:solidFill>
                  <a:srgbClr val="252525"/>
                </a:solidFill>
              </a:rPr>
              <a:t>        },</a:t>
            </a:r>
          </a:p>
          <a:p>
            <a:r>
              <a:rPr lang="en-US" sz="3700">
                <a:solidFill>
                  <a:srgbClr val="252525"/>
                </a:solidFill>
              </a:rPr>
              <a:t>        "snorkelingException": {</a:t>
            </a:r>
          </a:p>
          <a:p>
            <a:r>
              <a:rPr lang="en-US" sz="3700">
                <a:solidFill>
                  <a:srgbClr val="252525"/>
                </a:solidFill>
              </a:rPr>
              <a:t>          "description": "Snorkeling exception.",</a:t>
            </a:r>
          </a:p>
        </p:txBody>
      </p:sp>
    </p:spTree>
  </p:cSld>
  <p:clrMapOvr>
    <a:masterClrMapping/>
  </p:clrMapOvr>
</p:sld>
</file>

<file path=ppt/slides/slide1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6" id="246"/>
          <p:cNvPicPr>
            <a:picLocks noChangeAspect="true"/>
          </p:cNvPicPr>
          <p:nvPr/>
        </p:nvPicPr>
        <p:blipFill>
          <a:blip r:embed="rId246"/>
          <a:stretch>
            <a:fillRect/>
          </a:stretch>
        </p:blipFill>
        <p:spPr>
          <a:xfrm>
            <a:off x="0" y="127000"/>
            <a:ext cx="23749000" cy="16548100"/>
          </a:xfrm>
          <a:prstGeom prst="rect">
            <a:avLst/>
          </a:prstGeom>
        </p:spPr>
      </p:pic>
      <p:sp>
        <p:nvSpPr>
          <p:cNvPr name="TextBox 246" id="24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"scuba": {</a:t>
            </a:r>
          </a:p>
          <a:p>
            <a:r>
              <a:rPr lang="en-US" sz="3700">
                <a:solidFill>
                  <a:srgbClr val="252525"/>
                </a:solidFill>
              </a:rPr>
              <a:t>          "description": "Scuba. The provision </a:t>
            </a:r>
          </a:p>
        </p:txBody>
      </p:sp>
    </p:spTree>
  </p:cSld>
  <p:clrMapOvr>
    <a:masterClrMapping/>
  </p:clrMapOvr>
</p:sld>
</file>

<file path=ppt/slides/slide1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48" id="248"/>
          <p:cNvPicPr>
            <a:picLocks noChangeAspect="true"/>
          </p:cNvPicPr>
          <p:nvPr/>
        </p:nvPicPr>
        <p:blipFill>
          <a:blip r:embed="rId248"/>
          <a:stretch>
            <a:fillRect/>
          </a:stretch>
        </p:blipFill>
        <p:spPr>
          <a:xfrm>
            <a:off x="0" y="127000"/>
            <a:ext cx="23749000" cy="16548100"/>
          </a:xfrm>
          <a:prstGeom prst="rect">
            <a:avLst/>
          </a:prstGeom>
        </p:spPr>
      </p:pic>
      <p:sp>
        <p:nvSpPr>
          <p:cNvPr name="TextBox 248" id="24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for guests to dive under naturally occurring water fitted with a self-contained underwater breathing apparatus (SCUBA) for the purpose of exploring underwater life. Apparatus consists of a tank providing oxygen to the diver through a mask. Requires certification of the diver and supervision. The hotel may have the activity at its own waterfront or have an affiliation with a nearby facility. Required equipment is most often supplied to guests. Can be free or for a fee. Not snorkeling. Not done in a swimming pool.",</a:t>
            </a:r>
          </a:p>
          <a:p>
            <a:r>
              <a:rPr lang="en-US" sz="3700">
                <a:solidFill>
                  <a:srgbClr val="252525"/>
                </a:solidFill>
              </a:rPr>
              <a:t>          "type": "boolean"</a:t>
            </a:r>
          </a:p>
          <a:p>
            <a:r>
              <a:rPr lang="en-US" sz="3700">
                <a:solidFill>
                  <a:srgbClr val="252525"/>
                </a:solidFill>
              </a:rPr>
              <a:t>        },</a:t>
            </a:r>
          </a:p>
          <a:p>
            <a:r>
              <a:rPr lang="en-US" sz="3700">
                <a:solidFill>
                  <a:srgbClr val="252525"/>
                </a:solidFill>
              </a:rPr>
              <a:t>        "scubaException": {</a:t>
            </a:r>
          </a:p>
          <a:p>
            <a:r>
              <a:rPr lang="en-US" sz="3700">
                <a:solidFill>
                  <a:srgbClr val="252525"/>
                </a:solidFill>
              </a:rPr>
              <a:t>          "description": "Scuba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a:t>
            </a:r>
          </a:p>
        </p:txBody>
      </p:sp>
    </p:spTree>
  </p:cSld>
  <p:clrMapOvr>
    <a:masterClrMapping/>
  </p:clrMapOvr>
</p:sld>
</file>

<file path=ppt/slides/slide1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50" id="250"/>
          <p:cNvPicPr>
            <a:picLocks noChangeAspect="true"/>
          </p:cNvPicPr>
          <p:nvPr/>
        </p:nvPicPr>
        <p:blipFill>
          <a:blip r:embed="rId250"/>
          <a:stretch>
            <a:fillRect/>
          </a:stretch>
        </p:blipFill>
        <p:spPr>
          <a:xfrm>
            <a:off x="0" y="127000"/>
            <a:ext cx="23749000" cy="16548100"/>
          </a:xfrm>
          <a:prstGeom prst="rect">
            <a:avLst/>
          </a:prstGeom>
        </p:spPr>
      </p:pic>
      <p:sp>
        <p:nvSpPr>
          <p:cNvPr name="TextBox 250" id="25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"waterSkiing": {</a:t>
            </a:r>
          </a:p>
          <a:p>
            <a:r>
              <a:rPr lang="en-US" sz="3700">
                <a:solidFill>
                  <a:srgbClr val="252525"/>
                </a:solidFill>
              </a:rPr>
              <a:t>          "description": "Water skiing. The provision of giving guests the opportunity to be pulled across naturally occurring water while standing on skis and holding a tow rope attached to a motorboat. Can </a:t>
            </a:r>
          </a:p>
        </p:txBody>
      </p:sp>
    </p:spTree>
  </p:cSld>
  <p:clrMapOvr>
    <a:masterClrMapping/>
  </p:clrMapOvr>
</p:sld>
</file>

<file path=ppt/slides/slide1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52" id="252"/>
          <p:cNvPicPr>
            <a:picLocks noChangeAspect="true"/>
          </p:cNvPicPr>
          <p:nvPr/>
        </p:nvPicPr>
        <p:blipFill>
          <a:blip r:embed="rId252"/>
          <a:stretch>
            <a:fillRect/>
          </a:stretch>
        </p:blipFill>
        <p:spPr>
          <a:xfrm>
            <a:off x="0" y="127000"/>
            <a:ext cx="23749000" cy="16548100"/>
          </a:xfrm>
          <a:prstGeom prst="rect">
            <a:avLst/>
          </a:prstGeom>
        </p:spPr>
      </p:pic>
      <p:sp>
        <p:nvSpPr>
          <p:cNvPr name="TextBox 252" id="25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occur on hotel premises or at a nearby waterfront. Most often performed in a lake or ocean.",</a:t>
            </a:r>
          </a:p>
          <a:p>
            <a:r>
              <a:rPr lang="en-US" sz="3700">
                <a:solidFill>
                  <a:srgbClr val="252525"/>
                </a:solidFill>
              </a:rPr>
              <a:t>          "type": "boolean"</a:t>
            </a:r>
          </a:p>
          <a:p>
            <a:r>
              <a:rPr lang="en-US" sz="3700">
                <a:solidFill>
                  <a:srgbClr val="252525"/>
                </a:solidFill>
              </a:rPr>
              <a:t>        },</a:t>
            </a:r>
          </a:p>
          <a:p>
            <a:r>
              <a:rPr lang="en-US" sz="3700">
                <a:solidFill>
                  <a:srgbClr val="252525"/>
                </a:solidFill>
              </a:rPr>
              <a:t>        "waterSkiingException": {</a:t>
            </a:r>
          </a:p>
          <a:p>
            <a:r>
              <a:rPr lang="en-US" sz="3700">
                <a:solidFill>
                  <a:srgbClr val="252525"/>
                </a:solidFill>
              </a:rPr>
              <a:t>          "description": "Water skiing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p:txBody>
      </p:sp>
    </p:spTree>
  </p:cSld>
  <p:clrMapOvr>
    <a:masterClrMapping/>
  </p:clrMapOvr>
</p:sld>
</file>

<file path=ppt/slides/slide1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54" id="254"/>
          <p:cNvPicPr>
            <a:picLocks noChangeAspect="true"/>
          </p:cNvPicPr>
          <p:nvPr/>
        </p:nvPicPr>
        <p:blipFill>
          <a:blip r:embed="rId254"/>
          <a:stretch>
            <a:fillRect/>
          </a:stretch>
        </p:blipFill>
        <p:spPr>
          <a:xfrm>
            <a:off x="0" y="127000"/>
            <a:ext cx="23749000" cy="16548100"/>
          </a:xfrm>
          <a:prstGeom prst="rect">
            <a:avLst/>
          </a:prstGeom>
        </p:spPr>
      </p:pic>
      <p:sp>
        <p:nvSpPr>
          <p:cNvPr name="TextBox 254" id="25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"bicycleRental": {</a:t>
            </a:r>
          </a:p>
          <a:p>
            <a:r>
              <a:rPr lang="en-US" sz="3700">
                <a:solidFill>
                  <a:srgbClr val="252525"/>
                </a:solidFill>
              </a:rPr>
              <a:t>          "description": "Bicycle rental. The hotel owns bicycles that it permits guests to borrow and use. Can be free or for a fee.",</a:t>
            </a:r>
          </a:p>
          <a:p>
            <a:r>
              <a:rPr lang="en-US" sz="3700">
                <a:solidFill>
                  <a:srgbClr val="252525"/>
                </a:solidFill>
              </a:rPr>
              <a:t>          "type": "boolean"</a:t>
            </a:r>
          </a:p>
          <a:p>
            <a:r>
              <a:rPr lang="en-US" sz="3700">
                <a:solidFill>
                  <a:srgbClr val="252525"/>
                </a:solidFill>
              </a:rPr>
              <a:t>        },</a:t>
            </a:r>
          </a:p>
          <a:p>
            <a:r>
              <a:rPr lang="en-US" sz="3700">
                <a:solidFill>
                  <a:srgbClr val="252525"/>
                </a:solidFill>
              </a:rPr>
              <a:t>        "bicycleRentalException": {</a:t>
            </a:r>
          </a:p>
          <a:p>
            <a:r>
              <a:rPr lang="en-US" sz="3700">
                <a:solidFill>
                  <a:srgbClr val="252525"/>
                </a:solidFill>
              </a:rPr>
              <a:t>          "description": "Bicycle rental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a:t>
            </a:r>
          </a:p>
        </p:txBody>
      </p:sp>
    </p:spTree>
  </p:cSld>
  <p:clrMapOvr>
    <a:masterClrMapping/>
  </p:clrMapOvr>
</p:sld>
</file>

<file path=ppt/slides/slide1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56" id="256"/>
          <p:cNvPicPr>
            <a:picLocks noChangeAspect="true"/>
          </p:cNvPicPr>
          <p:nvPr/>
        </p:nvPicPr>
        <p:blipFill>
          <a:blip r:embed="rId256"/>
          <a:stretch>
            <a:fillRect/>
          </a:stretch>
        </p:blipFill>
        <p:spPr>
          <a:xfrm>
            <a:off x="0" y="127000"/>
            <a:ext cx="23749000" cy="16548100"/>
          </a:xfrm>
          <a:prstGeom prst="rect">
            <a:avLst/>
          </a:prstGeom>
        </p:spPr>
      </p:pic>
      <p:sp>
        <p:nvSpPr>
          <p:cNvPr name="TextBox 256" id="25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"freeBicycleRental": {</a:t>
            </a:r>
          </a:p>
          <a:p>
            <a:r>
              <a:rPr lang="en-US" sz="3700">
                <a:solidFill>
                  <a:srgbClr val="252525"/>
                </a:solidFill>
              </a:rPr>
              <a:t>          "description": "Free bicycle rental. The hotel owns bicycles that it permits guests to borrow and use for free.",</a:t>
            </a:r>
          </a:p>
          <a:p>
            <a:r>
              <a:rPr lang="en-US" sz="3700">
                <a:solidFill>
                  <a:srgbClr val="252525"/>
                </a:solidFill>
              </a:rPr>
              <a:t>          "type": "boolean"</a:t>
            </a:r>
          </a:p>
          <a:p>
            <a:r>
              <a:rPr lang="en-US" sz="3700">
                <a:solidFill>
                  <a:srgbClr val="252525"/>
                </a:solidFill>
              </a:rPr>
              <a:t>        },</a:t>
            </a:r>
          </a:p>
          <a:p>
            <a:r>
              <a:rPr lang="en-US" sz="3700">
                <a:solidFill>
                  <a:srgbClr val="252525"/>
                </a:solidFill>
              </a:rPr>
              <a:t>        "freeBicycleRentalException": {</a:t>
            </a:r>
          </a:p>
          <a:p>
            <a:r>
              <a:rPr lang="en-US" sz="3700">
                <a:solidFill>
                  <a:srgbClr val="252525"/>
                </a:solidFill>
              </a:rPr>
              <a:t>          "description": "Free bicycle rental </a:t>
            </a:r>
          </a:p>
        </p:txBody>
      </p:sp>
    </p:spTree>
  </p:cSld>
  <p:clrMapOvr>
    <a:masterClrMapping/>
  </p:clrMapOvr>
</p:sld>
</file>

<file path=ppt/slides/slide1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58" id="258"/>
          <p:cNvPicPr>
            <a:picLocks noChangeAspect="true"/>
          </p:cNvPicPr>
          <p:nvPr/>
        </p:nvPicPr>
        <p:blipFill>
          <a:blip r:embed="rId258"/>
          <a:stretch>
            <a:fillRect/>
          </a:stretch>
        </p:blipFill>
        <p:spPr>
          <a:xfrm>
            <a:off x="0" y="127000"/>
            <a:ext cx="23749000" cy="16548100"/>
          </a:xfrm>
          <a:prstGeom prst="rect">
            <a:avLst/>
          </a:prstGeom>
        </p:spPr>
      </p:pic>
      <p:sp>
        <p:nvSpPr>
          <p:cNvPr name="TextBox 258" id="25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"watercraftRental": {</a:t>
            </a:r>
          </a:p>
        </p:txBody>
      </p:sp>
    </p:spTree>
  </p:cSld>
  <p:clrMapOvr>
    <a:masterClrMapping/>
  </p:clrMapOvr>
</p:sld>
</file>

<file path=ppt/slides/slide1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0" id="260"/>
          <p:cNvPicPr>
            <a:picLocks noChangeAspect="true"/>
          </p:cNvPicPr>
          <p:nvPr/>
        </p:nvPicPr>
        <p:blipFill>
          <a:blip r:embed="rId260"/>
          <a:stretch>
            <a:fillRect/>
          </a:stretch>
        </p:blipFill>
        <p:spPr>
          <a:xfrm>
            <a:off x="0" y="127000"/>
            <a:ext cx="23749000" cy="16548100"/>
          </a:xfrm>
          <a:prstGeom prst="rect">
            <a:avLst/>
          </a:prstGeom>
        </p:spPr>
      </p:pic>
      <p:sp>
        <p:nvSpPr>
          <p:cNvPr name="TextBox 260" id="26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"description": "Watercraft rental. The hotel owns water vessels that it permits guests to borrow and use. Can be free or for a fee. Watercraft may include boats, pedal boats, rowboats, sailboats, powerboats, canoes, kayaks, or personal watercraft (such as a Jet Ski).",</a:t>
            </a:r>
          </a:p>
          <a:p>
            <a:r>
              <a:rPr lang="en-US" sz="3700">
                <a:solidFill>
                  <a:srgbClr val="252525"/>
                </a:solidFill>
              </a:rPr>
              <a:t>          "type": "boolean"</a:t>
            </a:r>
          </a:p>
          <a:p>
            <a:r>
              <a:rPr lang="en-US" sz="3700">
                <a:solidFill>
                  <a:srgbClr val="252525"/>
                </a:solidFill>
              </a:rPr>
              <a:t>        },</a:t>
            </a:r>
          </a:p>
          <a:p>
            <a:r>
              <a:rPr lang="en-US" sz="3700">
                <a:solidFill>
                  <a:srgbClr val="252525"/>
                </a:solidFill>
              </a:rPr>
              <a:t>        "watercraftRentalException": {</a:t>
            </a:r>
          </a:p>
          <a:p>
            <a:r>
              <a:rPr lang="en-US" sz="3700">
                <a:solidFill>
                  <a:srgbClr val="252525"/>
                </a:solidFill>
              </a:rPr>
              <a:t>          "description": "Watercraft rental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p:txBody>
      </p:sp>
    </p:spTree>
  </p:cSld>
  <p:clrMapOvr>
    <a:masterClrMapping/>
  </p:clrMapOvr>
</p:sld>
</file>

<file path=ppt/slides/slide1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2" id="262"/>
          <p:cNvPicPr>
            <a:picLocks noChangeAspect="true"/>
          </p:cNvPicPr>
          <p:nvPr/>
        </p:nvPicPr>
        <p:blipFill>
          <a:blip r:embed="rId262"/>
          <a:stretch>
            <a:fillRect/>
          </a:stretch>
        </p:blipFill>
        <p:spPr>
          <a:xfrm>
            <a:off x="0" y="127000"/>
            <a:ext cx="23749000" cy="16548100"/>
          </a:xfrm>
          <a:prstGeom prst="rect">
            <a:avLst/>
          </a:prstGeom>
        </p:spPr>
      </p:pic>
      <p:sp>
        <p:nvSpPr>
          <p:cNvPr name="TextBox 262" id="26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"freeWatercraftRental": {</a:t>
            </a:r>
          </a:p>
          <a:p>
            <a:r>
              <a:rPr lang="en-US" sz="3700">
                <a:solidFill>
                  <a:srgbClr val="252525"/>
                </a:solidFill>
              </a:rPr>
              <a:t>          "description": "Free watercraft rental. The hotel owns watercraft that it permits guests to borrow and use for free.",</a:t>
            </a:r>
          </a:p>
          <a:p>
            <a:r>
              <a:rPr lang="en-US" sz="3700">
                <a:solidFill>
                  <a:srgbClr val="252525"/>
                </a:solidFill>
              </a:rPr>
              <a:t>          "type": "boolean"</a:t>
            </a:r>
          </a:p>
          <a:p>
            <a:r>
              <a:rPr lang="en-US" sz="3700">
                <a:solidFill>
                  <a:srgbClr val="252525"/>
                </a:solidFill>
              </a:rPr>
              <a:t>        },</a:t>
            </a:r>
          </a:p>
          <a:p>
            <a:r>
              <a:rPr lang="en-US" sz="3700">
                <a:solidFill>
                  <a:srgbClr val="252525"/>
                </a:solidFill>
              </a:rPr>
              <a:t>        "freeWatercraftRentalException": {</a:t>
            </a:r>
          </a:p>
          <a:p>
            <a:r>
              <a:rPr lang="en-US" sz="3700">
                <a:solidFill>
                  <a:srgbClr val="252525"/>
                </a:solidFill>
              </a:rPr>
              <a:t>          "description": "Free Watercraft rental exception.",</a:t>
            </a:r>
          </a:p>
          <a:p>
            <a:r>
              <a:rPr lang="en-US" sz="3700">
                <a:solidFill>
                  <a:srgbClr val="252525"/>
                </a:solidFill>
              </a:rPr>
              <a:t>          "type": "string",</a:t>
            </a:r>
          </a:p>
          <a:p>
            <a:r>
              <a:rPr lang="en-US" sz="3700">
                <a:solidFill>
                  <a:srgbClr val="252525"/>
                </a:solidFill>
              </a:rPr>
              <a:t>          "enumDescriptions": [</a:t>
            </a:r>
          </a:p>
        </p:txBody>
      </p:sp>
    </p:spTree>
  </p:cSld>
  <p:clrMapOvr>
    <a:masterClrMapping/>
  </p:clrMapOvr>
</p:sld>
</file>

<file path=ppt/slides/slide1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4" id="264"/>
          <p:cNvPicPr>
            <a:picLocks noChangeAspect="true"/>
          </p:cNvPicPr>
          <p:nvPr/>
        </p:nvPicPr>
        <p:blipFill>
          <a:blip r:embed="rId264"/>
          <a:stretch>
            <a:fillRect/>
          </a:stretch>
        </p:blipFill>
        <p:spPr>
          <a:xfrm>
            <a:off x="0" y="127000"/>
            <a:ext cx="23749000" cy="16548100"/>
          </a:xfrm>
          <a:prstGeom prst="rect">
            <a:avLst/>
          </a:prstGeom>
        </p:spPr>
      </p:pic>
      <p:sp>
        <p:nvSpPr>
          <p:cNvPr name="TextBox 264" id="26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"beachAccess": {</a:t>
            </a:r>
          </a:p>
          <a:p>
            <a:r>
              <a:rPr lang="en-US" sz="3700">
                <a:solidFill>
                  <a:srgbClr val="252525"/>
                </a:solidFill>
              </a:rPr>
              <a:t>          "description": "Beach access. The hotel property is in close proximity to a beach and offers a way to get to that </a:t>
            </a:r>
          </a:p>
        </p:txBody>
      </p:sp>
    </p:spTree>
  </p:cSld>
  <p:clrMapOvr>
    <a:masterClrMapping/>
  </p:clrMapOvr>
</p:sld>
</file>

<file path=ppt/slides/slide1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6" id="266"/>
          <p:cNvPicPr>
            <a:picLocks noChangeAspect="true"/>
          </p:cNvPicPr>
          <p:nvPr/>
        </p:nvPicPr>
        <p:blipFill>
          <a:blip r:embed="rId266"/>
          <a:stretch>
            <a:fillRect/>
          </a:stretch>
        </p:blipFill>
        <p:spPr>
          <a:xfrm>
            <a:off x="0" y="127000"/>
            <a:ext cx="23749000" cy="16548100"/>
          </a:xfrm>
          <a:prstGeom prst="rect">
            <a:avLst/>
          </a:prstGeom>
        </p:spPr>
      </p:pic>
      <p:sp>
        <p:nvSpPr>
          <p:cNvPr name="TextBox 266" id="26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beach. This can include a route to the beach such as stairs down if hotel is on a bluff, or a short trail. Not the same as beachfront (with beach access, the hotel's proximity is close to but not right on the beach).",</a:t>
            </a:r>
          </a:p>
          <a:p>
            <a:r>
              <a:rPr lang="en-US" sz="3700">
                <a:solidFill>
                  <a:srgbClr val="252525"/>
                </a:solidFill>
              </a:rPr>
              <a:t>          "type": "boolean"</a:t>
            </a:r>
          </a:p>
          <a:p>
            <a:r>
              <a:rPr lang="en-US" sz="3700">
                <a:solidFill>
                  <a:srgbClr val="252525"/>
                </a:solidFill>
              </a:rPr>
              <a:t>        },</a:t>
            </a:r>
          </a:p>
          <a:p>
            <a:r>
              <a:rPr lang="en-US" sz="3700">
                <a:solidFill>
                  <a:srgbClr val="252525"/>
                </a:solidFill>
              </a:rPr>
              <a:t>        "beachAccessException": {</a:t>
            </a:r>
          </a:p>
          <a:p>
            <a:r>
              <a:rPr lang="en-US" sz="3700">
                <a:solidFill>
                  <a:srgbClr val="252525"/>
                </a:solidFill>
              </a:rPr>
              <a:t>          "description": "Beach access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a:t>
            </a:r>
          </a:p>
        </p:txBody>
      </p:sp>
    </p:spTree>
  </p:cSld>
  <p:clrMapOvr>
    <a:masterClrMapping/>
  </p:clrMapOvr>
</p:sld>
</file>

<file path=ppt/slides/slide1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68" id="268"/>
          <p:cNvPicPr>
            <a:picLocks noChangeAspect="true"/>
          </p:cNvPicPr>
          <p:nvPr/>
        </p:nvPicPr>
        <p:blipFill>
          <a:blip r:embed="rId268"/>
          <a:stretch>
            <a:fillRect/>
          </a:stretch>
        </p:blipFill>
        <p:spPr>
          <a:xfrm>
            <a:off x="0" y="127000"/>
            <a:ext cx="23749000" cy="16548100"/>
          </a:xfrm>
          <a:prstGeom prst="rect">
            <a:avLst/>
          </a:prstGeom>
        </p:spPr>
      </p:pic>
      <p:sp>
        <p:nvSpPr>
          <p:cNvPr name="TextBox 268" id="26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"privateBeach": {</a:t>
            </a:r>
          </a:p>
          <a:p>
            <a:r>
              <a:rPr lang="en-US" sz="3700">
                <a:solidFill>
                  <a:srgbClr val="252525"/>
                </a:solidFill>
              </a:rPr>
              <a:t>          "description": "Private beach. The beach which is in close proximity to the hotel is open only to guests.",</a:t>
            </a:r>
          </a:p>
          <a:p>
            <a:r>
              <a:rPr lang="en-US" sz="3700">
                <a:solidFill>
                  <a:srgbClr val="252525"/>
                </a:solidFill>
              </a:rPr>
              <a:t>          "type": "boolean"</a:t>
            </a:r>
          </a:p>
          <a:p>
            <a:r>
              <a:rPr lang="en-US" sz="3700">
                <a:solidFill>
                  <a:srgbClr val="252525"/>
                </a:solidFill>
              </a:rPr>
              <a:t>        },</a:t>
            </a:r>
          </a:p>
          <a:p>
            <a:r>
              <a:rPr lang="en-US" sz="3700">
                <a:solidFill>
                  <a:srgbClr val="252525"/>
                </a:solidFill>
              </a:rPr>
              <a:t>        "privateBeachException": {</a:t>
            </a:r>
          </a:p>
          <a:p>
            <a:r>
              <a:rPr lang="en-US" sz="3700">
                <a:solidFill>
                  <a:srgbClr val="252525"/>
                </a:solidFill>
              </a:rPr>
              <a:t>          "description": "Private beach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a:t>
            </a:r>
          </a:p>
        </p:txBody>
      </p:sp>
    </p:spTree>
  </p:cSld>
  <p:clrMapOvr>
    <a:masterClrMapping/>
  </p:clrMapOvr>
</p:sld>
</file>

<file path=ppt/slides/slide1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70" id="270"/>
          <p:cNvPicPr>
            <a:picLocks noChangeAspect="true"/>
          </p:cNvPicPr>
          <p:nvPr/>
        </p:nvPicPr>
        <p:blipFill>
          <a:blip r:embed="rId270"/>
          <a:stretch>
            <a:fillRect/>
          </a:stretch>
        </p:blipFill>
        <p:spPr>
          <a:xfrm>
            <a:off x="0" y="127000"/>
            <a:ext cx="23749000" cy="16548100"/>
          </a:xfrm>
          <a:prstGeom prst="rect">
            <a:avLst/>
          </a:prstGeom>
        </p:spPr>
      </p:pic>
      <p:sp>
        <p:nvSpPr>
          <p:cNvPr name="TextBox 270" id="27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"beachFront": {</a:t>
            </a:r>
          </a:p>
          <a:p>
            <a:r>
              <a:rPr lang="en-US" sz="3700">
                <a:solidFill>
                  <a:srgbClr val="252525"/>
                </a:solidFill>
              </a:rPr>
              <a:t>          "description": "Breach front. The hotel property is physically located on the beach alongside an ocean, sea, gulf, or bay. It is not on a lake, river, stream, or pond. The </a:t>
            </a:r>
          </a:p>
        </p:txBody>
      </p:sp>
    </p:spTree>
  </p:cSld>
  <p:clrMapOvr>
    <a:masterClrMapping/>
  </p:clrMapOvr>
</p:sld>
</file>

<file path=ppt/slides/slide1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72" id="272"/>
          <p:cNvPicPr>
            <a:picLocks noChangeAspect="true"/>
          </p:cNvPicPr>
          <p:nvPr/>
        </p:nvPicPr>
        <p:blipFill>
          <a:blip r:embed="rId272"/>
          <a:stretch>
            <a:fillRect/>
          </a:stretch>
        </p:blipFill>
        <p:spPr>
          <a:xfrm>
            <a:off x="0" y="127000"/>
            <a:ext cx="23749000" cy="16548100"/>
          </a:xfrm>
          <a:prstGeom prst="rect">
            <a:avLst/>
          </a:prstGeom>
        </p:spPr>
      </p:pic>
      <p:sp>
        <p:nvSpPr>
          <p:cNvPr name="TextBox 272" id="27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hotel is not separated from the beach by a public road allowing vehicular, pedestrian, or bicycle traffic.",</a:t>
            </a:r>
          </a:p>
          <a:p>
            <a:r>
              <a:rPr lang="en-US" sz="3700">
                <a:solidFill>
                  <a:srgbClr val="252525"/>
                </a:solidFill>
              </a:rPr>
              <a:t>          "type": "boolean"</a:t>
            </a:r>
          </a:p>
          <a:p>
            <a:r>
              <a:rPr lang="en-US" sz="3700">
                <a:solidFill>
                  <a:srgbClr val="252525"/>
                </a:solidFill>
              </a:rPr>
              <a:t>        },</a:t>
            </a:r>
          </a:p>
          <a:p>
            <a:r>
              <a:rPr lang="en-US" sz="3700">
                <a:solidFill>
                  <a:srgbClr val="252525"/>
                </a:solidFill>
              </a:rPr>
              <a:t>        "beachFrontException": {</a:t>
            </a:r>
          </a:p>
          <a:p>
            <a:r>
              <a:rPr lang="en-US" sz="3700">
                <a:solidFill>
                  <a:srgbClr val="252525"/>
                </a:solidFill>
              </a:rPr>
              <a:t>          "description": "Beach front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p:txBody>
      </p:sp>
    </p:spTree>
  </p:cSld>
  <p:clrMapOvr>
    <a:masterClrMapping/>
  </p:clrMapOvr>
</p:sld>
</file>

<file path=ppt/slides/slide1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74" id="274"/>
          <p:cNvPicPr>
            <a:picLocks noChangeAspect="true"/>
          </p:cNvPicPr>
          <p:nvPr/>
        </p:nvPicPr>
        <p:blipFill>
          <a:blip r:embed="rId274"/>
          <a:stretch>
            <a:fillRect/>
          </a:stretch>
        </p:blipFill>
        <p:spPr>
          <a:xfrm>
            <a:off x="0" y="127000"/>
            <a:ext cx="23749000" cy="16548100"/>
          </a:xfrm>
          <a:prstGeom prst="rect">
            <a:avLst/>
          </a:prstGeom>
        </p:spPr>
      </p:pic>
      <p:sp>
        <p:nvSpPr>
          <p:cNvPr name="TextBox 274" id="27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"Transportation": {</a:t>
            </a:r>
          </a:p>
          <a:p>
            <a:r>
              <a:rPr lang="en-US" sz="3700">
                <a:solidFill>
                  <a:srgbClr val="252525"/>
                </a:solidFill>
              </a:rPr>
              <a:t>      "id": "Transportation",</a:t>
            </a:r>
          </a:p>
          <a:p>
            <a:r>
              <a:rPr lang="en-US" sz="3700">
                <a:solidFill>
                  <a:srgbClr val="252525"/>
                </a:solidFill>
              </a:rPr>
              <a:t>      "description": "Vehicles or vehicular services facilitated or owned by the property.",</a:t>
            </a:r>
          </a:p>
          <a:p>
            <a:r>
              <a:rPr lang="en-US" sz="3700">
                <a:solidFill>
                  <a:srgbClr val="252525"/>
                </a:solidFill>
              </a:rPr>
              <a:t>      "type": "object",</a:t>
            </a:r>
          </a:p>
          <a:p>
            <a:r>
              <a:rPr lang="en-US" sz="3700">
                <a:solidFill>
                  <a:srgbClr val="252525"/>
                </a:solidFill>
              </a:rPr>
              <a:t>      "properties": {</a:t>
            </a:r>
          </a:p>
          <a:p>
            <a:r>
              <a:rPr lang="en-US" sz="3700">
                <a:solidFill>
                  <a:srgbClr val="252525"/>
                </a:solidFill>
              </a:rPr>
              <a:t>        "transfer": {</a:t>
            </a:r>
          </a:p>
          <a:p>
            <a:r>
              <a:rPr lang="en-US" sz="3700">
                <a:solidFill>
                  <a:srgbClr val="252525"/>
                </a:solidFill>
              </a:rPr>
              <a:t>          "description": "Transfer. Hotel provides a shuttle service or car service to take guests to and from the nearest airport or train station. Can be free or for a fee. Guests may share the vehicle with other guests unknown to them.",</a:t>
            </a:r>
          </a:p>
        </p:txBody>
      </p:sp>
    </p:spTree>
  </p:cSld>
  <p:clrMapOvr>
    <a:masterClrMapping/>
  </p:clrMapOvr>
</p:sld>
</file>

<file path=ppt/slides/slide1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76" id="276"/>
          <p:cNvPicPr>
            <a:picLocks noChangeAspect="true"/>
          </p:cNvPicPr>
          <p:nvPr/>
        </p:nvPicPr>
        <p:blipFill>
          <a:blip r:embed="rId276"/>
          <a:stretch>
            <a:fillRect/>
          </a:stretch>
        </p:blipFill>
        <p:spPr>
          <a:xfrm>
            <a:off x="0" y="127000"/>
            <a:ext cx="23749000" cy="16548100"/>
          </a:xfrm>
          <a:prstGeom prst="rect">
            <a:avLst/>
          </a:prstGeom>
        </p:spPr>
      </p:pic>
      <p:sp>
        <p:nvSpPr>
          <p:cNvPr name="TextBox 276" id="27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"type": "boolean"</a:t>
            </a:r>
          </a:p>
          <a:p>
            <a:r>
              <a:rPr lang="en-US" sz="3700">
                <a:solidFill>
                  <a:srgbClr val="252525"/>
                </a:solidFill>
              </a:rPr>
              <a:t>        },</a:t>
            </a:r>
          </a:p>
          <a:p>
            <a:r>
              <a:rPr lang="en-US" sz="3700">
                <a:solidFill>
                  <a:srgbClr val="252525"/>
                </a:solidFill>
              </a:rPr>
              <a:t>        "transferException": {</a:t>
            </a:r>
          </a:p>
          <a:p>
            <a:r>
              <a:rPr lang="en-US" sz="3700">
                <a:solidFill>
                  <a:srgbClr val="252525"/>
                </a:solidFill>
              </a:rPr>
              <a:t>          "description": "Transfer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p:txBody>
      </p:sp>
    </p:spTree>
  </p:cSld>
  <p:clrMapOvr>
    <a:masterClrMapping/>
  </p:clrMapOvr>
</p:sld>
</file>

<file path=ppt/slides/slide1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78" id="278"/>
          <p:cNvPicPr>
            <a:picLocks noChangeAspect="true"/>
          </p:cNvPicPr>
          <p:nvPr/>
        </p:nvPicPr>
        <p:blipFill>
          <a:blip r:embed="rId278"/>
          <a:stretch>
            <a:fillRect/>
          </a:stretch>
        </p:blipFill>
        <p:spPr>
          <a:xfrm>
            <a:off x="0" y="127000"/>
            <a:ext cx="23749000" cy="16548100"/>
          </a:xfrm>
          <a:prstGeom prst="rect">
            <a:avLst/>
          </a:prstGeom>
        </p:spPr>
      </p:pic>
      <p:sp>
        <p:nvSpPr>
          <p:cNvPr name="TextBox 278" id="27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a:t>
            </a:r>
          </a:p>
          <a:p>
            <a:r>
              <a:rPr lang="en-US" sz="3700">
                <a:solidFill>
                  <a:srgbClr val="252525"/>
                </a:solidFill>
              </a:rPr>
              <a:t>        "airportShuttle": {</a:t>
            </a:r>
          </a:p>
          <a:p>
            <a:r>
              <a:rPr lang="en-US" sz="3700">
                <a:solidFill>
                  <a:srgbClr val="252525"/>
                </a:solidFill>
              </a:rPr>
              <a:t>          "description": "Airport shuttle. The hotel provides guests with a chauffeured van or bus to and from the airport. Can be free or for a fee. Guests may share the vehicle with other guests unknown to them. Applies if the hotel has a third-party shuttle service (office/desk etc.) within the hotel. As long as hotel provides this service, it doesn't matter if it's directly with them or a third party they work with. Does not apply if guest has to coordinate with an entity outside/other than the hotel.",</a:t>
            </a:r>
          </a:p>
          <a:p>
            <a:r>
              <a:rPr lang="en-US" sz="3700">
                <a:solidFill>
                  <a:srgbClr val="252525"/>
                </a:solidFill>
              </a:rPr>
              <a:t>          "type": "boolean"</a:t>
            </a:r>
          </a:p>
          <a:p>
            <a:r>
              <a:rPr lang="en-US" sz="3700">
                <a:solidFill>
                  <a:srgbClr val="252525"/>
                </a:solidFill>
              </a:rPr>
              <a:t>        },</a:t>
            </a:r>
          </a:p>
          <a:p>
            <a:r>
              <a:rPr lang="en-US" sz="3700">
                <a:solidFill>
                  <a:srgbClr val="252525"/>
                </a:solidFill>
              </a:rPr>
              <a:t>        "airportShuttleException": {</a:t>
            </a:r>
          </a:p>
          <a:p>
            <a:r>
              <a:rPr lang="en-US" sz="3700">
                <a:solidFill>
                  <a:srgbClr val="252525"/>
                </a:solidFill>
              </a:rPr>
              <a:t>          "description": "Airport shuttle exception.",</a:t>
            </a:r>
          </a:p>
          <a:p>
            <a:r>
              <a:rPr lang="en-US" sz="3700">
                <a:solidFill>
                  <a:srgbClr val="252525"/>
                </a:solidFill>
              </a:rPr>
              <a:t>          "type": "string",</a:t>
            </a:r>
          </a:p>
        </p:txBody>
      </p:sp>
    </p:spTree>
  </p:cSld>
  <p:clrMapOvr>
    <a:masterClrMapping/>
  </p:clrMapOvr>
</p:sld>
</file>

<file path=ppt/slides/slide1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0" id="280"/>
          <p:cNvPicPr>
            <a:picLocks noChangeAspect="true"/>
          </p:cNvPicPr>
          <p:nvPr/>
        </p:nvPicPr>
        <p:blipFill>
          <a:blip r:embed="rId280"/>
          <a:stretch>
            <a:fillRect/>
          </a:stretch>
        </p:blipFill>
        <p:spPr>
          <a:xfrm>
            <a:off x="0" y="127000"/>
            <a:ext cx="23749000" cy="16548100"/>
          </a:xfrm>
          <a:prstGeom prst="rect">
            <a:avLst/>
          </a:prstGeom>
        </p:spPr>
      </p:pic>
      <p:sp>
        <p:nvSpPr>
          <p:cNvPr name="TextBox 280" id="28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"freeAirportShuttle": {</a:t>
            </a:r>
          </a:p>
          <a:p>
            <a:r>
              <a:rPr lang="en-US" sz="3700">
                <a:solidFill>
                  <a:srgbClr val="252525"/>
                </a:solidFill>
              </a:rPr>
              <a:t>          "description": "Free airport shuttle. Airport shuttle is free to guests. Must be </a:t>
            </a:r>
          </a:p>
        </p:txBody>
      </p:sp>
    </p:spTree>
  </p:cSld>
  <p:clrMapOvr>
    <a:masterClrMapping/>
  </p:clrMapOvr>
</p:sld>
</file>

<file path=ppt/slides/slide1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2" id="282"/>
          <p:cNvPicPr>
            <a:picLocks noChangeAspect="true"/>
          </p:cNvPicPr>
          <p:nvPr/>
        </p:nvPicPr>
        <p:blipFill>
          <a:blip r:embed="rId282"/>
          <a:stretch>
            <a:fillRect/>
          </a:stretch>
        </p:blipFill>
        <p:spPr>
          <a:xfrm>
            <a:off x="0" y="127000"/>
            <a:ext cx="23749000" cy="16548100"/>
          </a:xfrm>
          <a:prstGeom prst="rect">
            <a:avLst/>
          </a:prstGeom>
        </p:spPr>
      </p:pic>
      <p:sp>
        <p:nvSpPr>
          <p:cNvPr name="TextBox 282" id="28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free to all guests without any conditions.",</a:t>
            </a:r>
          </a:p>
          <a:p>
            <a:r>
              <a:rPr lang="en-US" sz="3700">
                <a:solidFill>
                  <a:srgbClr val="252525"/>
                </a:solidFill>
              </a:rPr>
              <a:t>          "type": "boolean"</a:t>
            </a:r>
          </a:p>
          <a:p>
            <a:r>
              <a:rPr lang="en-US" sz="3700">
                <a:solidFill>
                  <a:srgbClr val="252525"/>
                </a:solidFill>
              </a:rPr>
              <a:t>        },</a:t>
            </a:r>
          </a:p>
          <a:p>
            <a:r>
              <a:rPr lang="en-US" sz="3700">
                <a:solidFill>
                  <a:srgbClr val="252525"/>
                </a:solidFill>
              </a:rPr>
              <a:t>        "freeAirportShuttleException": {</a:t>
            </a:r>
          </a:p>
          <a:p>
            <a:r>
              <a:rPr lang="en-US" sz="3700">
                <a:solidFill>
                  <a:srgbClr val="252525"/>
                </a:solidFill>
              </a:rPr>
              <a:t>          "description": "Free airport shuttle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p:txBody>
      </p:sp>
    </p:spTree>
  </p:cSld>
  <p:clrMapOvr>
    <a:masterClrMapping/>
  </p:clrMapOvr>
</p:sld>
</file>

<file path=ppt/slides/slide1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4" id="284"/>
          <p:cNvPicPr>
            <a:picLocks noChangeAspect="true"/>
          </p:cNvPicPr>
          <p:nvPr/>
        </p:nvPicPr>
        <p:blipFill>
          <a:blip r:embed="rId284"/>
          <a:stretch>
            <a:fillRect/>
          </a:stretch>
        </p:blipFill>
        <p:spPr>
          <a:xfrm>
            <a:off x="0" y="127000"/>
            <a:ext cx="23749000" cy="16548100"/>
          </a:xfrm>
          <a:prstGeom prst="rect">
            <a:avLst/>
          </a:prstGeom>
        </p:spPr>
      </p:pic>
      <p:sp>
        <p:nvSpPr>
          <p:cNvPr name="TextBox 284" id="28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"localShuttle": {</a:t>
            </a:r>
          </a:p>
          <a:p>
            <a:r>
              <a:rPr lang="en-US" sz="3700">
                <a:solidFill>
                  <a:srgbClr val="252525"/>
                </a:solidFill>
              </a:rPr>
              <a:t>          "description": "Local shuttle. A car, van or bus provided by the hotel to transport guests to destinations within a specified range of distance around the hotel. Usually shopping and/or convention centers, downtown districts, or beaches. Can be free or for a fee.",</a:t>
            </a:r>
          </a:p>
          <a:p>
            <a:r>
              <a:rPr lang="en-US" sz="3700">
                <a:solidFill>
                  <a:srgbClr val="252525"/>
                </a:solidFill>
              </a:rPr>
              <a:t>          "type": "boolean"</a:t>
            </a:r>
          </a:p>
          <a:p>
            <a:r>
              <a:rPr lang="en-US" sz="3700">
                <a:solidFill>
                  <a:srgbClr val="252525"/>
                </a:solidFill>
              </a:rPr>
              <a:t>        },</a:t>
            </a:r>
          </a:p>
          <a:p>
            <a:r>
              <a:rPr lang="en-US" sz="3700">
                <a:solidFill>
                  <a:srgbClr val="252525"/>
                </a:solidFill>
              </a:rPr>
              <a:t>        "localShuttleException": {</a:t>
            </a:r>
          </a:p>
          <a:p>
            <a:r>
              <a:rPr lang="en-US" sz="3700">
                <a:solidFill>
                  <a:srgbClr val="252525"/>
                </a:solidFill>
              </a:rPr>
              <a:t>          "description": "Local shuttle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a:t>
            </a:r>
          </a:p>
        </p:txBody>
      </p:sp>
    </p:spTree>
  </p:cSld>
  <p:clrMapOvr>
    <a:masterClrMapping/>
  </p:clrMapOvr>
</p:sld>
</file>

<file path=ppt/slides/slide1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6" id="286"/>
          <p:cNvPicPr>
            <a:picLocks noChangeAspect="true"/>
          </p:cNvPicPr>
          <p:nvPr/>
        </p:nvPicPr>
        <p:blipFill>
          <a:blip r:embed="rId286"/>
          <a:stretch>
            <a:fillRect/>
          </a:stretch>
        </p:blipFill>
        <p:spPr>
          <a:xfrm>
            <a:off x="0" y="127000"/>
            <a:ext cx="23749000" cy="16548100"/>
          </a:xfrm>
          <a:prstGeom prst="rect">
            <a:avLst/>
          </a:prstGeom>
        </p:spPr>
      </p:pic>
      <p:sp>
        <p:nvSpPr>
          <p:cNvPr name="TextBox 286" id="28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"carRentalOnProperty": {</a:t>
            </a:r>
          </a:p>
          <a:p>
            <a:r>
              <a:rPr lang="en-US" sz="3700">
                <a:solidFill>
                  <a:srgbClr val="252525"/>
                </a:solidFill>
              </a:rPr>
              <a:t>          "description": "Car rental on property. A branch of a rental car company with a processing desk in the hotel. Available cars for rent may be awaiting at the hotel or in a nearby lot.",</a:t>
            </a:r>
          </a:p>
        </p:txBody>
      </p:sp>
    </p:spTree>
  </p:cSld>
  <p:clrMapOvr>
    <a:masterClrMapping/>
  </p:clrMapOvr>
</p:sld>
</file>

<file path=ppt/slides/slide1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88" id="288"/>
          <p:cNvPicPr>
            <a:picLocks noChangeAspect="true"/>
          </p:cNvPicPr>
          <p:nvPr/>
        </p:nvPicPr>
        <p:blipFill>
          <a:blip r:embed="rId288"/>
          <a:stretch>
            <a:fillRect/>
          </a:stretch>
        </p:blipFill>
        <p:spPr>
          <a:xfrm>
            <a:off x="0" y="127000"/>
            <a:ext cx="23749000" cy="16548100"/>
          </a:xfrm>
          <a:prstGeom prst="rect">
            <a:avLst/>
          </a:prstGeom>
        </p:spPr>
      </p:pic>
      <p:sp>
        <p:nvSpPr>
          <p:cNvPr name="TextBox 288" id="28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"type": "boolean"</a:t>
            </a:r>
          </a:p>
          <a:p>
            <a:r>
              <a:rPr lang="en-US" sz="3700">
                <a:solidFill>
                  <a:srgbClr val="252525"/>
                </a:solidFill>
              </a:rPr>
              <a:t>        },</a:t>
            </a:r>
          </a:p>
          <a:p>
            <a:r>
              <a:rPr lang="en-US" sz="3700">
                <a:solidFill>
                  <a:srgbClr val="252525"/>
                </a:solidFill>
              </a:rPr>
              <a:t>        "carRentalOnPropertyException": {</a:t>
            </a:r>
          </a:p>
          <a:p>
            <a:r>
              <a:rPr lang="en-US" sz="3700">
                <a:solidFill>
                  <a:srgbClr val="252525"/>
                </a:solidFill>
              </a:rPr>
              <a:t>          "description": "Car rental on property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p:txBody>
      </p:sp>
    </p:spTree>
  </p:cSld>
  <p:clrMapOvr>
    <a:masterClrMapping/>
  </p:clrMapOvr>
</p:sld>
</file>

<file path=ppt/slides/slide1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90" id="290"/>
          <p:cNvPicPr>
            <a:picLocks noChangeAspect="true"/>
          </p:cNvPicPr>
          <p:nvPr/>
        </p:nvPicPr>
        <p:blipFill>
          <a:blip r:embed="rId290"/>
          <a:stretch>
            <a:fillRect/>
          </a:stretch>
        </p:blipFill>
        <p:spPr>
          <a:xfrm>
            <a:off x="0" y="127000"/>
            <a:ext cx="23749000" cy="16548100"/>
          </a:xfrm>
          <a:prstGeom prst="rect">
            <a:avLst/>
          </a:prstGeom>
        </p:spPr>
      </p:pic>
      <p:sp>
        <p:nvSpPr>
          <p:cNvPr name="TextBox 290" id="29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"privateCarService": {</a:t>
            </a:r>
          </a:p>
          <a:p>
            <a:r>
              <a:rPr lang="en-US" sz="3700">
                <a:solidFill>
                  <a:srgbClr val="252525"/>
                </a:solidFill>
              </a:rPr>
              <a:t>          "description": "Private car service. Hotel provides a private chauffeured car to transport guests to destinations. Passengers in the car are either alone or are known to one another and have requested the car together. Service can be free or for a fee and travel distance is usually limited to a specific range. Not a taxi.",</a:t>
            </a:r>
          </a:p>
          <a:p>
            <a:r>
              <a:rPr lang="en-US" sz="3700">
                <a:solidFill>
                  <a:srgbClr val="252525"/>
                </a:solidFill>
              </a:rPr>
              <a:t>          "type": "boolean"</a:t>
            </a:r>
          </a:p>
          <a:p>
            <a:r>
              <a:rPr lang="en-US" sz="3700">
                <a:solidFill>
                  <a:srgbClr val="252525"/>
                </a:solidFill>
              </a:rPr>
              <a:t>        },</a:t>
            </a:r>
          </a:p>
          <a:p>
            <a:r>
              <a:rPr lang="en-US" sz="3700">
                <a:solidFill>
                  <a:srgbClr val="252525"/>
                </a:solidFill>
              </a:rPr>
              <a:t>        "privateCarServiceException": {</a:t>
            </a:r>
          </a:p>
          <a:p>
            <a:r>
              <a:rPr lang="en-US" sz="3700">
                <a:solidFill>
                  <a:srgbClr val="252525"/>
                </a:solidFill>
              </a:rPr>
              <a:t>          "description": "Private car service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a:t>
            </a:r>
          </a:p>
        </p:txBody>
      </p:sp>
    </p:spTree>
  </p:cSld>
  <p:clrMapOvr>
    <a:masterClrMapping/>
  </p:clrMapOvr>
</p:sld>
</file>

<file path=ppt/slides/slide1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92" id="292"/>
          <p:cNvPicPr>
            <a:picLocks noChangeAspect="true"/>
          </p:cNvPicPr>
          <p:nvPr/>
        </p:nvPicPr>
        <p:blipFill>
          <a:blip r:embed="rId292"/>
          <a:stretch>
            <a:fillRect/>
          </a:stretch>
        </p:blipFill>
        <p:spPr>
          <a:xfrm>
            <a:off x="0" y="127000"/>
            <a:ext cx="23749000" cy="16548100"/>
          </a:xfrm>
          <a:prstGeom prst="rect">
            <a:avLst/>
          </a:prstGeom>
        </p:spPr>
      </p:pic>
      <p:sp>
        <p:nvSpPr>
          <p:cNvPr name="TextBox 292" id="29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"freePrivateCarService": {</a:t>
            </a:r>
          </a:p>
          <a:p>
            <a:r>
              <a:rPr lang="en-US" sz="3700">
                <a:solidFill>
                  <a:srgbClr val="252525"/>
                </a:solidFill>
              </a:rPr>
              <a:t>          "description": "Free private car service. Private chauffeured car service is free to guests.",</a:t>
            </a:r>
          </a:p>
          <a:p>
            <a:r>
              <a:rPr lang="en-US" sz="3700">
                <a:solidFill>
                  <a:srgbClr val="252525"/>
                </a:solidFill>
              </a:rPr>
              <a:t>          "type": "boolean"</a:t>
            </a:r>
          </a:p>
        </p:txBody>
      </p:sp>
    </p:spTree>
  </p:cSld>
  <p:clrMapOvr>
    <a:masterClrMapping/>
  </p:clrMapOvr>
</p:sld>
</file>

<file path=ppt/slides/slide1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94" id="294"/>
          <p:cNvPicPr>
            <a:picLocks noChangeAspect="true"/>
          </p:cNvPicPr>
          <p:nvPr/>
        </p:nvPicPr>
        <p:blipFill>
          <a:blip r:embed="rId294"/>
          <a:stretch>
            <a:fillRect/>
          </a:stretch>
        </p:blipFill>
        <p:spPr>
          <a:xfrm>
            <a:off x="0" y="127000"/>
            <a:ext cx="23749000" cy="16548100"/>
          </a:xfrm>
          <a:prstGeom prst="rect">
            <a:avLst/>
          </a:prstGeom>
        </p:spPr>
      </p:pic>
      <p:sp>
        <p:nvSpPr>
          <p:cNvPr name="TextBox 294" id="29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"freePrivateCarServiceException": {</a:t>
            </a:r>
          </a:p>
          <a:p>
            <a:r>
              <a:rPr lang="en-US" sz="3700">
                <a:solidFill>
                  <a:srgbClr val="252525"/>
                </a:solidFill>
              </a:rPr>
              <a:t>          "description": "Free private car service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p:txBody>
      </p:sp>
    </p:spTree>
  </p:cSld>
  <p:clrMapOvr>
    <a:masterClrMapping/>
  </p:clrMapOvr>
</p:sld>
</file>

<file path=ppt/slides/slide1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96" id="296"/>
          <p:cNvPicPr>
            <a:picLocks noChangeAspect="true"/>
          </p:cNvPicPr>
          <p:nvPr/>
        </p:nvPicPr>
        <p:blipFill>
          <a:blip r:embed="rId296"/>
          <a:stretch>
            <a:fillRect/>
          </a:stretch>
        </p:blipFill>
        <p:spPr>
          <a:xfrm>
            <a:off x="0" y="127000"/>
            <a:ext cx="23749000" cy="16548100"/>
          </a:xfrm>
          <a:prstGeom prst="rect">
            <a:avLst/>
          </a:prstGeom>
        </p:spPr>
      </p:pic>
      <p:sp>
        <p:nvSpPr>
          <p:cNvPr name="TextBox 296" id="29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a:t>
            </a:r>
          </a:p>
          <a:p>
            <a:r>
              <a:rPr lang="en-US" sz="3700">
                <a:solidFill>
                  <a:srgbClr val="252525"/>
                </a:solidFill>
              </a:rPr>
              <a:t>    "Families": {</a:t>
            </a:r>
          </a:p>
          <a:p>
            <a:r>
              <a:rPr lang="en-US" sz="3700">
                <a:solidFill>
                  <a:srgbClr val="252525"/>
                </a:solidFill>
              </a:rPr>
              <a:t>      "id": "Families",</a:t>
            </a:r>
          </a:p>
          <a:p>
            <a:r>
              <a:rPr lang="en-US" sz="3700">
                <a:solidFill>
                  <a:srgbClr val="252525"/>
                </a:solidFill>
              </a:rPr>
              <a:t>      "description": "Services and amenities for families and young guests.",</a:t>
            </a:r>
          </a:p>
          <a:p>
            <a:r>
              <a:rPr lang="en-US" sz="3700">
                <a:solidFill>
                  <a:srgbClr val="252525"/>
                </a:solidFill>
              </a:rPr>
              <a:t>      "type": "object",</a:t>
            </a:r>
          </a:p>
          <a:p>
            <a:r>
              <a:rPr lang="en-US" sz="3700">
                <a:solidFill>
                  <a:srgbClr val="252525"/>
                </a:solidFill>
              </a:rPr>
              <a:t>      "properties": {</a:t>
            </a:r>
          </a:p>
          <a:p>
            <a:r>
              <a:rPr lang="en-US" sz="3700">
                <a:solidFill>
                  <a:srgbClr val="252525"/>
                </a:solidFill>
              </a:rPr>
              <a:t>        "babysitting": {</a:t>
            </a:r>
          </a:p>
          <a:p>
            <a:r>
              <a:rPr lang="en-US" sz="3700">
                <a:solidFill>
                  <a:srgbClr val="252525"/>
                </a:solidFill>
              </a:rPr>
              <a:t>          "description": "Babysitting. Child care that is offered by hotel staffers or coordinated by hotel staffers with local child care professionals. Can be free or for a fee.",</a:t>
            </a:r>
          </a:p>
          <a:p>
            <a:r>
              <a:rPr lang="en-US" sz="3700">
                <a:solidFill>
                  <a:srgbClr val="252525"/>
                </a:solidFill>
              </a:rPr>
              <a:t>          "type": "boolean"</a:t>
            </a:r>
          </a:p>
          <a:p>
            <a:r>
              <a:rPr lang="en-US" sz="3700">
                <a:solidFill>
                  <a:srgbClr val="252525"/>
                </a:solidFill>
              </a:rPr>
              <a:t>        },</a:t>
            </a:r>
          </a:p>
          <a:p>
            <a:r>
              <a:rPr lang="en-US" sz="3700">
                <a:solidFill>
                  <a:srgbClr val="252525"/>
                </a:solidFill>
              </a:rPr>
              <a:t>        "babysittingException": {</a:t>
            </a:r>
          </a:p>
          <a:p>
            <a:r>
              <a:rPr lang="en-US" sz="3700">
                <a:solidFill>
                  <a:srgbClr val="252525"/>
                </a:solidFill>
              </a:rPr>
              <a:t>          "description": "Babysitting exception.",</a:t>
            </a:r>
          </a:p>
          <a:p>
            <a:r>
              <a:rPr lang="en-US" sz="3700">
                <a:solidFill>
                  <a:srgbClr val="252525"/>
                </a:solidFill>
              </a:rPr>
              <a:t>          "type": "string",</a:t>
            </a:r>
          </a:p>
        </p:txBody>
      </p:sp>
    </p:spTree>
  </p:cSld>
  <p:clrMapOvr>
    <a:masterClrMapping/>
  </p:clrMapOvr>
</p:sld>
</file>

<file path=ppt/slides/slide1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98" id="298"/>
          <p:cNvPicPr>
            <a:picLocks noChangeAspect="true"/>
          </p:cNvPicPr>
          <p:nvPr/>
        </p:nvPicPr>
        <p:blipFill>
          <a:blip r:embed="rId298"/>
          <a:stretch>
            <a:fillRect/>
          </a:stretch>
        </p:blipFill>
        <p:spPr>
          <a:xfrm>
            <a:off x="0" y="127000"/>
            <a:ext cx="23749000" cy="16548100"/>
          </a:xfrm>
          <a:prstGeom prst="rect">
            <a:avLst/>
          </a:prstGeom>
        </p:spPr>
      </p:pic>
      <p:sp>
        <p:nvSpPr>
          <p:cNvPr name="TextBox 298" id="299"/>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"kidsActivities": {</a:t>
            </a:r>
          </a:p>
          <a:p>
            <a:r>
              <a:rPr lang="en-US" sz="3700">
                <a:solidFill>
                  <a:srgbClr val="252525"/>
                </a:solidFill>
              </a:rPr>
              <a:t>          "description": "Kids activities. Recreational options such as sports, films, </a:t>
            </a:r>
          </a:p>
        </p:txBody>
      </p:sp>
    </p:spTree>
  </p:cSld>
  <p:clrMapOvr>
    <a:masterClrMapping/>
  </p:clrMapOvr>
</p:sld>
</file>

<file path=ppt/slides/slide1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0" id="300"/>
          <p:cNvPicPr>
            <a:picLocks noChangeAspect="true"/>
          </p:cNvPicPr>
          <p:nvPr/>
        </p:nvPicPr>
        <p:blipFill>
          <a:blip r:embed="rId300"/>
          <a:stretch>
            <a:fillRect/>
          </a:stretch>
        </p:blipFill>
        <p:spPr>
          <a:xfrm>
            <a:off x="0" y="127000"/>
            <a:ext cx="23749000" cy="16548100"/>
          </a:xfrm>
          <a:prstGeom prst="rect">
            <a:avLst/>
          </a:prstGeom>
        </p:spPr>
      </p:pic>
      <p:sp>
        <p:nvSpPr>
          <p:cNvPr name="TextBox 300" id="301"/>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crafts and games designed for the enjoyment of children and offered at the hotel. May or may not be supervised. May or may not be at a designated time or place. Cab be free or for a fee.",</a:t>
            </a:r>
          </a:p>
          <a:p>
            <a:r>
              <a:rPr lang="en-US" sz="3700">
                <a:solidFill>
                  <a:srgbClr val="252525"/>
                </a:solidFill>
              </a:rPr>
              <a:t>          "type": "boolean"</a:t>
            </a:r>
          </a:p>
          <a:p>
            <a:r>
              <a:rPr lang="en-US" sz="3700">
                <a:solidFill>
                  <a:srgbClr val="252525"/>
                </a:solidFill>
              </a:rPr>
              <a:t>        },</a:t>
            </a:r>
          </a:p>
          <a:p>
            <a:r>
              <a:rPr lang="en-US" sz="3700">
                <a:solidFill>
                  <a:srgbClr val="252525"/>
                </a:solidFill>
              </a:rPr>
              <a:t>        "kidsActivitiesException": {</a:t>
            </a:r>
          </a:p>
          <a:p>
            <a:r>
              <a:rPr lang="en-US" sz="3700">
                <a:solidFill>
                  <a:srgbClr val="252525"/>
                </a:solidFill>
              </a:rPr>
              <a:t>          "description": "Kids activities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p:txBody>
      </p:sp>
    </p:spTree>
  </p:cSld>
  <p:clrMapOvr>
    <a:masterClrMapping/>
  </p:clrMapOvr>
</p:sld>
</file>

<file path=ppt/slides/slide1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2" id="302"/>
          <p:cNvPicPr>
            <a:picLocks noChangeAspect="true"/>
          </p:cNvPicPr>
          <p:nvPr/>
        </p:nvPicPr>
        <p:blipFill>
          <a:blip r:embed="rId302"/>
          <a:stretch>
            <a:fillRect/>
          </a:stretch>
        </p:blipFill>
        <p:spPr>
          <a:xfrm>
            <a:off x="0" y="127000"/>
            <a:ext cx="23749000" cy="16548100"/>
          </a:xfrm>
          <a:prstGeom prst="rect">
            <a:avLst/>
          </a:prstGeom>
        </p:spPr>
      </p:pic>
      <p:sp>
        <p:nvSpPr>
          <p:cNvPr name="TextBox 302" id="303"/>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a:p>
            <a:r>
              <a:rPr lang="en-US" sz="3700">
                <a:solidFill>
                  <a:srgbClr val="252525"/>
                </a:solidFill>
              </a:rPr>
              <a:t>        },</a:t>
            </a:r>
          </a:p>
          <a:p>
            <a:r>
              <a:rPr lang="en-US" sz="3700">
                <a:solidFill>
                  <a:srgbClr val="252525"/>
                </a:solidFill>
              </a:rPr>
              <a:t>        "kidsClub": {</a:t>
            </a:r>
          </a:p>
          <a:p>
            <a:r>
              <a:rPr lang="en-US" sz="3700">
                <a:solidFill>
                  <a:srgbClr val="252525"/>
                </a:solidFill>
              </a:rPr>
              <a:t>          "description": "Kids club. An organized program of group activities held at the hotel and designed for the enjoyment of children. Facilitated by hotel staff (or staff procured by the hotel) in an area(s) designated for the purpose of entertaining children without their parents. May include games, outings, water sports, team sports, arts and crafts, and films. Usually has set hours. Can be free or for a fee. Also known as Kids Camp or Kids program.",</a:t>
            </a:r>
          </a:p>
          <a:p>
            <a:r>
              <a:rPr lang="en-US" sz="3700">
                <a:solidFill>
                  <a:srgbClr val="252525"/>
                </a:solidFill>
              </a:rPr>
              <a:t>          "type": "boolean"</a:t>
            </a:r>
          </a:p>
        </p:txBody>
      </p:sp>
    </p:spTree>
  </p:cSld>
  <p:clrMapOvr>
    <a:masterClrMapping/>
  </p:clrMapOvr>
</p:sld>
</file>

<file path=ppt/slides/slide1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4" id="304"/>
          <p:cNvPicPr>
            <a:picLocks noChangeAspect="true"/>
          </p:cNvPicPr>
          <p:nvPr/>
        </p:nvPicPr>
        <p:blipFill>
          <a:blip r:embed="rId304"/>
          <a:stretch>
            <a:fillRect/>
          </a:stretch>
        </p:blipFill>
        <p:spPr>
          <a:xfrm>
            <a:off x="0" y="127000"/>
            <a:ext cx="23749000" cy="16548100"/>
          </a:xfrm>
          <a:prstGeom prst="rect">
            <a:avLst/>
          </a:prstGeom>
        </p:spPr>
      </p:pic>
      <p:sp>
        <p:nvSpPr>
          <p:cNvPr name="TextBox 304" id="305"/>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"kidsClubException": {</a:t>
            </a:r>
          </a:p>
          <a:p>
            <a:r>
              <a:rPr lang="en-US" sz="3700">
                <a:solidFill>
                  <a:srgbClr val="252525"/>
                </a:solidFill>
              </a:rPr>
              <a:t>          "description": "Kids club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unavailable due to ongoing work orders.",</a:t>
            </a:r>
          </a:p>
          <a:p>
            <a:r>
              <a:rPr lang="en-US" sz="3700">
                <a:solidFill>
                  <a:srgbClr val="252525"/>
                </a:solidFill>
              </a:rPr>
              <a:t>            "Amenity or service availability is seasonal.",</a:t>
            </a:r>
          </a:p>
          <a:p>
            <a:r>
              <a:rPr lang="en-US" sz="3700">
                <a:solidFill>
                  <a:srgbClr val="252525"/>
                </a:solidFill>
              </a:rPr>
              <a:t>            "Amenity or service availability depends on the day of the week."</a:t>
            </a:r>
          </a:p>
          <a:p>
            <a:r>
              <a:rPr lang="en-US" sz="3700">
                <a:solidFill>
                  <a:srgbClr val="252525"/>
                </a:solidFill>
              </a:rPr>
              <a:t>          ],</a:t>
            </a:r>
          </a:p>
          <a:p>
            <a:r>
              <a:rPr lang="en-US" sz="3700">
                <a:solidFill>
                  <a:srgbClr val="252525"/>
                </a:solidFill>
              </a:rPr>
              <a:t>          "enum": [</a:t>
            </a:r>
          </a:p>
          <a:p>
            <a:r>
              <a:rPr lang="en-US" sz="3700">
                <a:solidFill>
                  <a:srgbClr val="252525"/>
                </a:solidFill>
              </a:rPr>
              <a:t>            "EXCEPTION_UNSPECIFIED",</a:t>
            </a:r>
          </a:p>
          <a:p>
            <a:r>
              <a:rPr lang="en-US" sz="3700">
                <a:solidFill>
                  <a:srgbClr val="252525"/>
                </a:solidFill>
              </a:rPr>
              <a:t>            "UNDER_CONSTRUCTION",</a:t>
            </a:r>
          </a:p>
          <a:p>
            <a:r>
              <a:rPr lang="en-US" sz="3700">
                <a:solidFill>
                  <a:srgbClr val="252525"/>
                </a:solidFill>
              </a:rPr>
              <a:t>            "DEPENDENT_ON_SEASON",</a:t>
            </a:r>
          </a:p>
          <a:p>
            <a:r>
              <a:rPr lang="en-US" sz="3700">
                <a:solidFill>
                  <a:srgbClr val="252525"/>
                </a:solidFill>
              </a:rPr>
              <a:t>            "DEPENDENT_ON_DAY_OF_WEEK"</a:t>
            </a:r>
          </a:p>
          <a:p>
            <a:r>
              <a:rPr lang="en-US" sz="3700">
                <a:solidFill>
                  <a:srgbClr val="252525"/>
                </a:solidFill>
              </a:rPr>
              <a:t>          ]</a:t>
            </a:r>
          </a:p>
        </p:txBody>
      </p:sp>
    </p:spTree>
  </p:cSld>
  <p:clrMapOvr>
    <a:masterClrMapping/>
  </p:clrMapOvr>
</p:sld>
</file>

<file path=ppt/slides/slide1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306" id="306"/>
          <p:cNvPicPr>
            <a:picLocks noChangeAspect="true"/>
          </p:cNvPicPr>
          <p:nvPr/>
        </p:nvPicPr>
        <p:blipFill>
          <a:blip r:embed="rId306"/>
          <a:stretch>
            <a:fillRect/>
          </a:stretch>
        </p:blipFill>
        <p:spPr>
          <a:xfrm>
            <a:off x="0" y="127000"/>
            <a:ext cx="23749000" cy="16548100"/>
          </a:xfrm>
          <a:prstGeom prst="rect">
            <a:avLst/>
          </a:prstGeom>
        </p:spPr>
      </p:pic>
      <p:sp>
        <p:nvSpPr>
          <p:cNvPr name="TextBox 306" id="307"/>
          <p:cNvSpPr txBox="true"/>
          <p:nvPr/>
        </p:nvSpPr>
        <p:spPr>
          <a:xfrm>
            <a:off x="5930900" y="571500"/>
            <a:ext cx="11887200" cy="16484600"/>
          </a:xfrm>
          <a:prstGeom prst="rect">
            <a:avLst/>
          </a:prstGeom>
        </p:spPr>
        <p:txBody>
          <a:bodyPr anchor="t" rtlCol="false"/>
          <a:lstStyle/>
          <a:p>
            <a:pPr algn="l"/>
            <a:r>
              <a:t/>
            </a:r>
            <a:endParaRPr lang="en-US" sz="1100"/>
          </a:p>
          <a:p>
            <a:r>
              <a:rPr lang="en-US" sz="3700">
                <a:solidFill>
                  <a:srgbClr val="252525"/>
                </a:solidFill>
              </a:rPr>
              <a:t>        },</a:t>
            </a:r>
          </a:p>
          <a:p>
            <a:r>
              <a:rPr lang="en-US" sz="3700">
                <a:solidFill>
                  <a:srgbClr val="252525"/>
                </a:solidFill>
              </a:rPr>
              <a:t>        "kidsFriendly": {</a:t>
            </a:r>
          </a:p>
          <a:p>
            <a:r>
              <a:rPr lang="en-US" sz="3700">
                <a:solidFill>
                  <a:srgbClr val="252525"/>
                </a:solidFill>
              </a:rPr>
              <a:t>          "description": "Kids friendly. The hotel has one or more special features for families with children, such as reduced rates, child-sized beds, kids' club, babysitting service, or suitable place to play on premises.",</a:t>
            </a:r>
          </a:p>
          <a:p>
            <a:r>
              <a:rPr lang="en-US" sz="3700">
                <a:solidFill>
                  <a:srgbClr val="252525"/>
                </a:solidFill>
              </a:rPr>
              <a:t>          "type": "boolean"</a:t>
            </a:r>
          </a:p>
          <a:p>
            <a:r>
              <a:rPr lang="en-US" sz="3700">
                <a:solidFill>
                  <a:srgbClr val="252525"/>
                </a:solidFill>
              </a:rPr>
              <a:t>        },</a:t>
            </a:r>
          </a:p>
          <a:p>
            <a:r>
              <a:rPr lang="en-US" sz="3700">
                <a:solidFill>
                  <a:srgbClr val="252525"/>
                </a:solidFill>
              </a:rPr>
              <a:t>        "kidsFriendlyException": {</a:t>
            </a:r>
          </a:p>
          <a:p>
            <a:r>
              <a:rPr lang="en-US" sz="3700">
                <a:solidFill>
                  <a:srgbClr val="252525"/>
                </a:solidFill>
              </a:rPr>
              <a:t>          "description": "Kids friendly exception.",</a:t>
            </a:r>
          </a:p>
          <a:p>
            <a:r>
              <a:rPr lang="en-US" sz="3700">
                <a:solidFill>
                  <a:srgbClr val="252525"/>
                </a:solidFill>
              </a:rPr>
              <a:t>          "type": "string",</a:t>
            </a:r>
          </a:p>
          <a:p>
            <a:r>
              <a:rPr lang="en-US" sz="3700">
                <a:solidFill>
                  <a:srgbClr val="252525"/>
                </a:solidFill>
              </a:rPr>
              <a:t>          "enumDescriptions": [</a:t>
            </a:r>
          </a:p>
          <a:p>
            <a:r>
              <a:rPr lang="en-US" sz="3700">
                <a:solidFill>
                  <a:srgbClr val="252525"/>
                </a:solidFill>
              </a:rPr>
              <a:t>            "Default unspecified exception. Use this only if a more specific exception does not match.",</a:t>
            </a:r>
          </a:p>
          <a:p>
            <a:r>
              <a:rPr lang="en-US" sz="3700">
                <a:solidFill>
                  <a:srgbClr val="252525"/>
                </a:solidFill>
              </a:rPr>
              <a:t>            "Amenity or service is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